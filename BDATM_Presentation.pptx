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4"/>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2.xml"/><Relationship Id="rId19" Type="http://schemas.openxmlformats.org/officeDocument/2006/relationships/slide" Target="slides/slide12.xml"/><Relationship Id="rId6" Type="http://schemas.openxmlformats.org/officeDocument/2006/relationships/slideMaster" Target="slideMasters/slideMaster3.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44df9ce5d44dca87_2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h44df9ce5d44dca87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h44df9ce5d44dca87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542083b2ab4c2d38_2_1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h542083b2ab4c2d38_2_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16" name="Google Shape;216;h542083b2ab4c2d38_2_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542083b2ab4c2d38_2_28: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h542083b2ab4c2d38_2_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32" name="Google Shape;232;h542083b2ab4c2d38_2_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542083b2ab4c2d38_2_8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h542083b2ab4c2d38_2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6" name="Google Shape;286;h542083b2ab4c2d38_2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542083b2ab4c2d38_2_10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h542083b2ab4c2d38_2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3" name="Google Shape;313;h542083b2ab4c2d38_2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h542083b2ab4c2d38_2_46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7" name="Google Shape;667;h542083b2ab4c2d38_2_4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68" name="Google Shape;668;h542083b2ab4c2d38_2_46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h542083b2ab4c2d38_2_49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h542083b2ab4c2d38_2_4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02" name="Google Shape;702;h542083b2ab4c2d38_2_4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h542083b2ab4c2d38_2_537: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5" name="Google Shape;745;h542083b2ab4c2d38_2_5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46" name="Google Shape;746;h542083b2ab4c2d38_2_5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h542083b2ab4c2d38_2_75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6" name="Google Shape;966;h542083b2ab4c2d38_2_7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67" name="Google Shape;967;h542083b2ab4c2d38_2_7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542083b2ab4c2d38_2_7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h542083b2ab4c2d38_2_7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86" name="Google Shape;986;h542083b2ab4c2d38_2_7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h542083b2ab4c2d38_2_79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5" name="Google Shape;1005;h542083b2ab4c2d38_2_7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06" name="Google Shape;1006;h542083b2ab4c2d38_2_7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h542083b2ab4c2d38_2_801: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3" name="Google Shape;1013;h542083b2ab4c2d38_2_8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14" name="Google Shape;1014;h542083b2ab4c2d38_2_8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h542083b2ab4c2d38_2_82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7" name="Google Shape;1037;h542083b2ab4c2d38_2_8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38" name="Google Shape;1038;h542083b2ab4c2d38_2_8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h542083b2ab4c2d38_2_83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7" name="Google Shape;1047;h542083b2ab4c2d38_2_8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48" name="Google Shape;1048;h542083b2ab4c2d38_2_8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542083b2ab4c2d38_2_87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1" name="Google Shape;1091;h542083b2ab4c2d38_2_8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92" name="Google Shape;1092;h542083b2ab4c2d38_2_87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2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2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5" name="Shape 135"/>
        <p:cNvGrpSpPr/>
        <p:nvPr/>
      </p:nvGrpSpPr>
      <p:grpSpPr>
        <a:xfrm>
          <a:off x="0" y="0"/>
          <a:ext cx="0" cy="0"/>
          <a:chOff x="0" y="0"/>
          <a:chExt cx="0" cy="0"/>
        </a:xfrm>
      </p:grpSpPr>
      <p:sp>
        <p:nvSpPr>
          <p:cNvPr id="136" name="Google Shape;136;p27"/>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7"/>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50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100"/>
              <a:buNone/>
              <a:defRPr>
                <a:solidFill>
                  <a:srgbClr val="888888"/>
                </a:solidFill>
              </a:defRPr>
            </a:lvl2pPr>
            <a:lvl3pPr lvl="2" algn="ctr">
              <a:lnSpc>
                <a:spcPct val="100000"/>
              </a:lnSpc>
              <a:spcBef>
                <a:spcPts val="400"/>
              </a:spcBef>
              <a:spcAft>
                <a:spcPts val="0"/>
              </a:spcAft>
              <a:buClr>
                <a:srgbClr val="888888"/>
              </a:buClr>
              <a:buSzPts val="1800"/>
              <a:buNone/>
              <a:defRPr>
                <a:solidFill>
                  <a:srgbClr val="888888"/>
                </a:solidFill>
              </a:defRPr>
            </a:lvl3pPr>
            <a:lvl4pPr lvl="3" algn="ctr">
              <a:lnSpc>
                <a:spcPct val="100000"/>
              </a:lnSpc>
              <a:spcBef>
                <a:spcPts val="300"/>
              </a:spcBef>
              <a:spcAft>
                <a:spcPts val="0"/>
              </a:spcAft>
              <a:buClr>
                <a:srgbClr val="888888"/>
              </a:buClr>
              <a:buSzPts val="1500"/>
              <a:buNone/>
              <a:defRPr>
                <a:solidFill>
                  <a:srgbClr val="888888"/>
                </a:solidFill>
              </a:defRPr>
            </a:lvl4pPr>
            <a:lvl5pPr lvl="4" algn="ctr">
              <a:lnSpc>
                <a:spcPct val="100000"/>
              </a:lnSpc>
              <a:spcBef>
                <a:spcPts val="300"/>
              </a:spcBef>
              <a:spcAft>
                <a:spcPts val="0"/>
              </a:spcAft>
              <a:buClr>
                <a:srgbClr val="888888"/>
              </a:buClr>
              <a:buSzPts val="15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p:txBody>
      </p:sp>
      <p:sp>
        <p:nvSpPr>
          <p:cNvPr id="138" name="Google Shape;138;p2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9" name="Google Shape;139;p2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2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1" name="Shape 141"/>
        <p:cNvGrpSpPr/>
        <p:nvPr/>
      </p:nvGrpSpPr>
      <p:grpSpPr>
        <a:xfrm>
          <a:off x="0" y="0"/>
          <a:ext cx="0" cy="0"/>
          <a:chOff x="0" y="0"/>
          <a:chExt cx="0" cy="0"/>
        </a:xfrm>
      </p:grpSpPr>
      <p:sp>
        <p:nvSpPr>
          <p:cNvPr id="142" name="Google Shape;142;p2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3" name="Google Shape;143;p28"/>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44" name="Google Shape;144;p2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2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6" name="Google Shape;146;p2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7" name="Shape 147"/>
        <p:cNvGrpSpPr/>
        <p:nvPr/>
      </p:nvGrpSpPr>
      <p:grpSpPr>
        <a:xfrm>
          <a:off x="0" y="0"/>
          <a:ext cx="0" cy="0"/>
          <a:chOff x="0" y="0"/>
          <a:chExt cx="0" cy="0"/>
        </a:xfrm>
      </p:grpSpPr>
      <p:sp>
        <p:nvSpPr>
          <p:cNvPr id="148" name="Google Shape;148;p29"/>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000"/>
              <a:buFont typeface="Calibri"/>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9" name="Google Shape;149;p29"/>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300"/>
              </a:spcBef>
              <a:spcAft>
                <a:spcPts val="0"/>
              </a:spcAft>
              <a:buClr>
                <a:srgbClr val="888888"/>
              </a:buClr>
              <a:buSzPts val="1500"/>
              <a:buNone/>
              <a:defRPr sz="1500">
                <a:solidFill>
                  <a:srgbClr val="888888"/>
                </a:solidFill>
              </a:defRPr>
            </a:lvl1pPr>
            <a:lvl2pPr indent="-228600" lvl="1" marL="914400" algn="l">
              <a:lnSpc>
                <a:spcPct val="100000"/>
              </a:lnSpc>
              <a:spcBef>
                <a:spcPts val="300"/>
              </a:spcBef>
              <a:spcAft>
                <a:spcPts val="0"/>
              </a:spcAft>
              <a:buClr>
                <a:srgbClr val="888888"/>
              </a:buClr>
              <a:buSzPts val="1400"/>
              <a:buNone/>
              <a:defRPr sz="1400">
                <a:solidFill>
                  <a:srgbClr val="888888"/>
                </a:solidFill>
              </a:defRPr>
            </a:lvl2pPr>
            <a:lvl3pPr indent="-228600" lvl="2" marL="1371600" algn="l">
              <a:lnSpc>
                <a:spcPct val="100000"/>
              </a:lnSpc>
              <a:spcBef>
                <a:spcPts val="200"/>
              </a:spcBef>
              <a:spcAft>
                <a:spcPts val="0"/>
              </a:spcAft>
              <a:buClr>
                <a:srgbClr val="888888"/>
              </a:buClr>
              <a:buSzPts val="1200"/>
              <a:buNone/>
              <a:defRPr sz="1200">
                <a:solidFill>
                  <a:srgbClr val="888888"/>
                </a:solidFill>
              </a:defRPr>
            </a:lvl3pPr>
            <a:lvl4pPr indent="-228600" lvl="3" marL="1828800" algn="l">
              <a:lnSpc>
                <a:spcPct val="100000"/>
              </a:lnSpc>
              <a:spcBef>
                <a:spcPts val="200"/>
              </a:spcBef>
              <a:spcAft>
                <a:spcPts val="0"/>
              </a:spcAft>
              <a:buClr>
                <a:srgbClr val="888888"/>
              </a:buClr>
              <a:buSzPts val="1100"/>
              <a:buNone/>
              <a:defRPr sz="1100">
                <a:solidFill>
                  <a:srgbClr val="888888"/>
                </a:solidFill>
              </a:defRPr>
            </a:lvl4pPr>
            <a:lvl5pPr indent="-228600" lvl="4" marL="2286000" algn="l">
              <a:lnSpc>
                <a:spcPct val="100000"/>
              </a:lnSpc>
              <a:spcBef>
                <a:spcPts val="200"/>
              </a:spcBef>
              <a:spcAft>
                <a:spcPts val="0"/>
              </a:spcAft>
              <a:buClr>
                <a:srgbClr val="888888"/>
              </a:buClr>
              <a:buSzPts val="1100"/>
              <a:buNone/>
              <a:defRPr sz="1100">
                <a:solidFill>
                  <a:srgbClr val="888888"/>
                </a:solidFill>
              </a:defRPr>
            </a:lvl5pPr>
            <a:lvl6pPr indent="-228600" lvl="5" marL="2743200" algn="l">
              <a:lnSpc>
                <a:spcPct val="100000"/>
              </a:lnSpc>
              <a:spcBef>
                <a:spcPts val="200"/>
              </a:spcBef>
              <a:spcAft>
                <a:spcPts val="0"/>
              </a:spcAft>
              <a:buClr>
                <a:srgbClr val="888888"/>
              </a:buClr>
              <a:buSzPts val="1100"/>
              <a:buNone/>
              <a:defRPr sz="1100">
                <a:solidFill>
                  <a:srgbClr val="888888"/>
                </a:solidFill>
              </a:defRPr>
            </a:lvl6pPr>
            <a:lvl7pPr indent="-228600" lvl="6" marL="3200400" algn="l">
              <a:lnSpc>
                <a:spcPct val="100000"/>
              </a:lnSpc>
              <a:spcBef>
                <a:spcPts val="200"/>
              </a:spcBef>
              <a:spcAft>
                <a:spcPts val="0"/>
              </a:spcAft>
              <a:buClr>
                <a:srgbClr val="888888"/>
              </a:buClr>
              <a:buSzPts val="1100"/>
              <a:buNone/>
              <a:defRPr sz="1100">
                <a:solidFill>
                  <a:srgbClr val="888888"/>
                </a:solidFill>
              </a:defRPr>
            </a:lvl7pPr>
            <a:lvl8pPr indent="-228600" lvl="7" marL="3657600" algn="l">
              <a:lnSpc>
                <a:spcPct val="100000"/>
              </a:lnSpc>
              <a:spcBef>
                <a:spcPts val="200"/>
              </a:spcBef>
              <a:spcAft>
                <a:spcPts val="0"/>
              </a:spcAft>
              <a:buClr>
                <a:srgbClr val="888888"/>
              </a:buClr>
              <a:buSzPts val="1100"/>
              <a:buNone/>
              <a:defRPr sz="1100">
                <a:solidFill>
                  <a:srgbClr val="888888"/>
                </a:solidFill>
              </a:defRPr>
            </a:lvl8pPr>
            <a:lvl9pPr indent="-228600" lvl="8" marL="4114800" algn="l">
              <a:lnSpc>
                <a:spcPct val="100000"/>
              </a:lnSpc>
              <a:spcBef>
                <a:spcPts val="200"/>
              </a:spcBef>
              <a:spcAft>
                <a:spcPts val="0"/>
              </a:spcAft>
              <a:buClr>
                <a:srgbClr val="888888"/>
              </a:buClr>
              <a:buSzPts val="1100"/>
              <a:buNone/>
              <a:defRPr sz="1100">
                <a:solidFill>
                  <a:srgbClr val="888888"/>
                </a:solidFill>
              </a:defRPr>
            </a:lvl9pPr>
          </a:lstStyle>
          <a:p/>
        </p:txBody>
      </p:sp>
      <p:sp>
        <p:nvSpPr>
          <p:cNvPr id="150" name="Google Shape;150;p2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2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2" name="Google Shape;152;p2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3" name="Shape 153"/>
        <p:cNvGrpSpPr/>
        <p:nvPr/>
      </p:nvGrpSpPr>
      <p:grpSpPr>
        <a:xfrm>
          <a:off x="0" y="0"/>
          <a:ext cx="0" cy="0"/>
          <a:chOff x="0" y="0"/>
          <a:chExt cx="0" cy="0"/>
        </a:xfrm>
      </p:grpSpPr>
      <p:sp>
        <p:nvSpPr>
          <p:cNvPr id="154" name="Google Shape;154;p3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5" name="Google Shape;155;p30"/>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6" name="Google Shape;156;p30"/>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lnSpc>
                <a:spcPct val="100000"/>
              </a:lnSpc>
              <a:spcBef>
                <a:spcPts val="400"/>
              </a:spcBef>
              <a:spcAft>
                <a:spcPts val="0"/>
              </a:spcAft>
              <a:buClr>
                <a:schemeClr val="dk1"/>
              </a:buClr>
              <a:buSzPts val="2100"/>
              <a:buChar char="•"/>
              <a:defRPr sz="2100"/>
            </a:lvl1pPr>
            <a:lvl2pPr indent="-342900" lvl="1" marL="914400" algn="l">
              <a:lnSpc>
                <a:spcPct val="100000"/>
              </a:lnSpc>
              <a:spcBef>
                <a:spcPts val="400"/>
              </a:spcBef>
              <a:spcAft>
                <a:spcPts val="0"/>
              </a:spcAft>
              <a:buClr>
                <a:schemeClr val="dk1"/>
              </a:buClr>
              <a:buSzPts val="1800"/>
              <a:buChar char="–"/>
              <a:defRPr sz="1800"/>
            </a:lvl2pPr>
            <a:lvl3pPr indent="-323850" lvl="2" marL="1371600" algn="l">
              <a:lnSpc>
                <a:spcPct val="100000"/>
              </a:lnSpc>
              <a:spcBef>
                <a:spcPts val="300"/>
              </a:spcBef>
              <a:spcAft>
                <a:spcPts val="0"/>
              </a:spcAft>
              <a:buClr>
                <a:schemeClr val="dk1"/>
              </a:buClr>
              <a:buSzPts val="1500"/>
              <a:buChar char="•"/>
              <a:defRPr sz="1500"/>
            </a:lvl3pPr>
            <a:lvl4pPr indent="-317500" lvl="3" marL="1828800" algn="l">
              <a:lnSpc>
                <a:spcPct val="100000"/>
              </a:lnSpc>
              <a:spcBef>
                <a:spcPts val="300"/>
              </a:spcBef>
              <a:spcAft>
                <a:spcPts val="0"/>
              </a:spcAft>
              <a:buClr>
                <a:schemeClr val="dk1"/>
              </a:buClr>
              <a:buSzPts val="1400"/>
              <a:buChar char="–"/>
              <a:defRPr sz="1400"/>
            </a:lvl4pPr>
            <a:lvl5pPr indent="-317500" lvl="4" marL="2286000" algn="l">
              <a:lnSpc>
                <a:spcPct val="100000"/>
              </a:lnSpc>
              <a:spcBef>
                <a:spcPts val="300"/>
              </a:spcBef>
              <a:spcAft>
                <a:spcPts val="0"/>
              </a:spcAft>
              <a:buClr>
                <a:schemeClr val="dk1"/>
              </a:buClr>
              <a:buSzPts val="1400"/>
              <a:buChar char="»"/>
              <a:defRPr sz="1400"/>
            </a:lvl5pPr>
            <a:lvl6pPr indent="-317500" lvl="5" marL="2743200" algn="l">
              <a:lnSpc>
                <a:spcPct val="100000"/>
              </a:lnSpc>
              <a:spcBef>
                <a:spcPts val="300"/>
              </a:spcBef>
              <a:spcAft>
                <a:spcPts val="0"/>
              </a:spcAft>
              <a:buClr>
                <a:schemeClr val="dk1"/>
              </a:buClr>
              <a:buSzPts val="1400"/>
              <a:buChar char="•"/>
              <a:defRPr sz="1400"/>
            </a:lvl6pPr>
            <a:lvl7pPr indent="-317500" lvl="6" marL="3200400" algn="l">
              <a:lnSpc>
                <a:spcPct val="100000"/>
              </a:lnSpc>
              <a:spcBef>
                <a:spcPts val="300"/>
              </a:spcBef>
              <a:spcAft>
                <a:spcPts val="0"/>
              </a:spcAft>
              <a:buClr>
                <a:schemeClr val="dk1"/>
              </a:buClr>
              <a:buSzPts val="1400"/>
              <a:buChar char="•"/>
              <a:defRPr sz="1400"/>
            </a:lvl7pPr>
            <a:lvl8pPr indent="-317500" lvl="7" marL="3657600" algn="l">
              <a:lnSpc>
                <a:spcPct val="100000"/>
              </a:lnSpc>
              <a:spcBef>
                <a:spcPts val="300"/>
              </a:spcBef>
              <a:spcAft>
                <a:spcPts val="0"/>
              </a:spcAft>
              <a:buClr>
                <a:schemeClr val="dk1"/>
              </a:buClr>
              <a:buSzPts val="1400"/>
              <a:buChar char="•"/>
              <a:defRPr sz="1400"/>
            </a:lvl8pPr>
            <a:lvl9pPr indent="-317500" lvl="8" marL="4114800" algn="l">
              <a:lnSpc>
                <a:spcPct val="100000"/>
              </a:lnSpc>
              <a:spcBef>
                <a:spcPts val="300"/>
              </a:spcBef>
              <a:spcAft>
                <a:spcPts val="0"/>
              </a:spcAft>
              <a:buClr>
                <a:schemeClr val="dk1"/>
              </a:buClr>
              <a:buSzPts val="1400"/>
              <a:buChar char="•"/>
              <a:defRPr sz="1400"/>
            </a:lvl9pPr>
          </a:lstStyle>
          <a:p/>
        </p:txBody>
      </p:sp>
      <p:sp>
        <p:nvSpPr>
          <p:cNvPr id="157" name="Google Shape;157;p3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8" name="Google Shape;158;p3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9" name="Google Shape;159;p3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0" name="Shape 160"/>
        <p:cNvGrpSpPr/>
        <p:nvPr/>
      </p:nvGrpSpPr>
      <p:grpSpPr>
        <a:xfrm>
          <a:off x="0" y="0"/>
          <a:ext cx="0" cy="0"/>
          <a:chOff x="0" y="0"/>
          <a:chExt cx="0" cy="0"/>
        </a:xfrm>
      </p:grpSpPr>
      <p:sp>
        <p:nvSpPr>
          <p:cNvPr id="161" name="Google Shape;161;p31"/>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3300"/>
              <a:buFont typeface="Calibri"/>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2" name="Google Shape;162;p31"/>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3" name="Google Shape;163;p31"/>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4" name="Google Shape;164;p31"/>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400"/>
              </a:spcBef>
              <a:spcAft>
                <a:spcPts val="0"/>
              </a:spcAft>
              <a:buClr>
                <a:schemeClr val="dk1"/>
              </a:buClr>
              <a:buSzPts val="1800"/>
              <a:buNone/>
              <a:defRPr b="1" sz="1800"/>
            </a:lvl1pPr>
            <a:lvl2pPr indent="-228600" lvl="1" marL="914400" algn="l">
              <a:lnSpc>
                <a:spcPct val="100000"/>
              </a:lnSpc>
              <a:spcBef>
                <a:spcPts val="300"/>
              </a:spcBef>
              <a:spcAft>
                <a:spcPts val="0"/>
              </a:spcAft>
              <a:buClr>
                <a:schemeClr val="dk1"/>
              </a:buClr>
              <a:buSzPts val="1500"/>
              <a:buNone/>
              <a:defRPr b="1" sz="1500"/>
            </a:lvl2pPr>
            <a:lvl3pPr indent="-228600" lvl="2" marL="1371600" algn="l">
              <a:lnSpc>
                <a:spcPct val="100000"/>
              </a:lnSpc>
              <a:spcBef>
                <a:spcPts val="300"/>
              </a:spcBef>
              <a:spcAft>
                <a:spcPts val="0"/>
              </a:spcAft>
              <a:buClr>
                <a:schemeClr val="dk1"/>
              </a:buClr>
              <a:buSzPts val="1400"/>
              <a:buNone/>
              <a:defRPr b="1" sz="1400"/>
            </a:lvl3pPr>
            <a:lvl4pPr indent="-228600" lvl="3" marL="1828800" algn="l">
              <a:lnSpc>
                <a:spcPct val="100000"/>
              </a:lnSpc>
              <a:spcBef>
                <a:spcPts val="200"/>
              </a:spcBef>
              <a:spcAft>
                <a:spcPts val="0"/>
              </a:spcAft>
              <a:buClr>
                <a:schemeClr val="dk1"/>
              </a:buClr>
              <a:buSzPts val="1200"/>
              <a:buNone/>
              <a:defRPr b="1" sz="1200"/>
            </a:lvl4pPr>
            <a:lvl5pPr indent="-228600" lvl="4" marL="2286000" algn="l">
              <a:lnSpc>
                <a:spcPct val="100000"/>
              </a:lnSpc>
              <a:spcBef>
                <a:spcPts val="200"/>
              </a:spcBef>
              <a:spcAft>
                <a:spcPts val="0"/>
              </a:spcAft>
              <a:buClr>
                <a:schemeClr val="dk1"/>
              </a:buClr>
              <a:buSzPts val="1200"/>
              <a:buNone/>
              <a:defRPr b="1" sz="1200"/>
            </a:lvl5pPr>
            <a:lvl6pPr indent="-228600" lvl="5" marL="2743200" algn="l">
              <a:lnSpc>
                <a:spcPct val="100000"/>
              </a:lnSpc>
              <a:spcBef>
                <a:spcPts val="200"/>
              </a:spcBef>
              <a:spcAft>
                <a:spcPts val="0"/>
              </a:spcAft>
              <a:buClr>
                <a:schemeClr val="dk1"/>
              </a:buClr>
              <a:buSzPts val="1200"/>
              <a:buNone/>
              <a:defRPr b="1" sz="1200"/>
            </a:lvl6pPr>
            <a:lvl7pPr indent="-228600" lvl="6" marL="3200400" algn="l">
              <a:lnSpc>
                <a:spcPct val="100000"/>
              </a:lnSpc>
              <a:spcBef>
                <a:spcPts val="200"/>
              </a:spcBef>
              <a:spcAft>
                <a:spcPts val="0"/>
              </a:spcAft>
              <a:buClr>
                <a:schemeClr val="dk1"/>
              </a:buClr>
              <a:buSzPts val="1200"/>
              <a:buNone/>
              <a:defRPr b="1" sz="1200"/>
            </a:lvl7pPr>
            <a:lvl8pPr indent="-228600" lvl="7" marL="3657600" algn="l">
              <a:lnSpc>
                <a:spcPct val="100000"/>
              </a:lnSpc>
              <a:spcBef>
                <a:spcPts val="200"/>
              </a:spcBef>
              <a:spcAft>
                <a:spcPts val="0"/>
              </a:spcAft>
              <a:buClr>
                <a:schemeClr val="dk1"/>
              </a:buClr>
              <a:buSzPts val="1200"/>
              <a:buNone/>
              <a:defRPr b="1" sz="1200"/>
            </a:lvl8pPr>
            <a:lvl9pPr indent="-228600" lvl="8" marL="4114800" algn="l">
              <a:lnSpc>
                <a:spcPct val="100000"/>
              </a:lnSpc>
              <a:spcBef>
                <a:spcPts val="200"/>
              </a:spcBef>
              <a:spcAft>
                <a:spcPts val="0"/>
              </a:spcAft>
              <a:buClr>
                <a:schemeClr val="dk1"/>
              </a:buClr>
              <a:buSzPts val="1200"/>
              <a:buNone/>
              <a:defRPr b="1" sz="1200"/>
            </a:lvl9pPr>
          </a:lstStyle>
          <a:p/>
        </p:txBody>
      </p:sp>
      <p:sp>
        <p:nvSpPr>
          <p:cNvPr id="165" name="Google Shape;165;p31"/>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lnSpc>
                <a:spcPct val="100000"/>
              </a:lnSpc>
              <a:spcBef>
                <a:spcPts val="400"/>
              </a:spcBef>
              <a:spcAft>
                <a:spcPts val="0"/>
              </a:spcAft>
              <a:buClr>
                <a:schemeClr val="dk1"/>
              </a:buClr>
              <a:buSzPts val="1800"/>
              <a:buChar char="•"/>
              <a:defRPr sz="1800"/>
            </a:lvl1pPr>
            <a:lvl2pPr indent="-323850" lvl="1" marL="914400" algn="l">
              <a:lnSpc>
                <a:spcPct val="100000"/>
              </a:lnSpc>
              <a:spcBef>
                <a:spcPts val="300"/>
              </a:spcBef>
              <a:spcAft>
                <a:spcPts val="0"/>
              </a:spcAft>
              <a:buClr>
                <a:schemeClr val="dk1"/>
              </a:buClr>
              <a:buSzPts val="1500"/>
              <a:buChar char="–"/>
              <a:defRPr sz="1500"/>
            </a:lvl2pPr>
            <a:lvl3pPr indent="-317500" lvl="2" marL="1371600" algn="l">
              <a:lnSpc>
                <a:spcPct val="100000"/>
              </a:lnSpc>
              <a:spcBef>
                <a:spcPts val="300"/>
              </a:spcBef>
              <a:spcAft>
                <a:spcPts val="0"/>
              </a:spcAft>
              <a:buClr>
                <a:schemeClr val="dk1"/>
              </a:buClr>
              <a:buSzPts val="1400"/>
              <a:buChar char="•"/>
              <a:defRPr sz="14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166" name="Google Shape;166;p3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 name="Google Shape;167;p3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8" name="Google Shape;168;p3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9" name="Shape 169"/>
        <p:cNvGrpSpPr/>
        <p:nvPr/>
      </p:nvGrpSpPr>
      <p:grpSpPr>
        <a:xfrm>
          <a:off x="0" y="0"/>
          <a:ext cx="0" cy="0"/>
          <a:chOff x="0" y="0"/>
          <a:chExt cx="0" cy="0"/>
        </a:xfrm>
      </p:grpSpPr>
      <p:sp>
        <p:nvSpPr>
          <p:cNvPr id="170" name="Google Shape;170;p32"/>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1" name="Google Shape;171;p3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2" name="Google Shape;172;p3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3" name="Google Shape;173;p3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4" name="Shape 174"/>
        <p:cNvGrpSpPr/>
        <p:nvPr/>
      </p:nvGrpSpPr>
      <p:grpSpPr>
        <a:xfrm>
          <a:off x="0" y="0"/>
          <a:ext cx="0" cy="0"/>
          <a:chOff x="0" y="0"/>
          <a:chExt cx="0" cy="0"/>
        </a:xfrm>
      </p:grpSpPr>
      <p:sp>
        <p:nvSpPr>
          <p:cNvPr id="175" name="Google Shape;175;p33"/>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6" name="Google Shape;176;p33"/>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lnSpc>
                <a:spcPct val="100000"/>
              </a:lnSpc>
              <a:spcBef>
                <a:spcPts val="500"/>
              </a:spcBef>
              <a:spcAft>
                <a:spcPts val="0"/>
              </a:spcAft>
              <a:buClr>
                <a:schemeClr val="dk1"/>
              </a:buClr>
              <a:buSzPts val="2400"/>
              <a:buChar char="•"/>
              <a:defRPr sz="2400"/>
            </a:lvl1pPr>
            <a:lvl2pPr indent="-361950" lvl="1" marL="914400" algn="l">
              <a:lnSpc>
                <a:spcPct val="100000"/>
              </a:lnSpc>
              <a:spcBef>
                <a:spcPts val="400"/>
              </a:spcBef>
              <a:spcAft>
                <a:spcPts val="0"/>
              </a:spcAft>
              <a:buClr>
                <a:schemeClr val="dk1"/>
              </a:buClr>
              <a:buSzPts val="2100"/>
              <a:buChar char="–"/>
              <a:defRPr sz="2100"/>
            </a:lvl2pPr>
            <a:lvl3pPr indent="-342900" lvl="2" marL="1371600" algn="l">
              <a:lnSpc>
                <a:spcPct val="100000"/>
              </a:lnSpc>
              <a:spcBef>
                <a:spcPts val="400"/>
              </a:spcBef>
              <a:spcAft>
                <a:spcPts val="0"/>
              </a:spcAft>
              <a:buClr>
                <a:schemeClr val="dk1"/>
              </a:buClr>
              <a:buSzPts val="1800"/>
              <a:buChar char="•"/>
              <a:defRPr sz="18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77" name="Google Shape;177;p33"/>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78" name="Google Shape;178;p3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9" name="Google Shape;179;p3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0" name="Google Shape;180;p3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1" name="Shape 181"/>
        <p:cNvGrpSpPr/>
        <p:nvPr/>
      </p:nvGrpSpPr>
      <p:grpSpPr>
        <a:xfrm>
          <a:off x="0" y="0"/>
          <a:ext cx="0" cy="0"/>
          <a:chOff x="0" y="0"/>
          <a:chExt cx="0" cy="0"/>
        </a:xfrm>
      </p:grpSpPr>
      <p:sp>
        <p:nvSpPr>
          <p:cNvPr id="182" name="Google Shape;182;p34"/>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1500"/>
              <a:buFont typeface="Calibri"/>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3" name="Google Shape;183;p34"/>
          <p:cNvSpPr/>
          <p:nvPr>
            <p:ph idx="2" type="pic"/>
          </p:nvPr>
        </p:nvSpPr>
        <p:spPr>
          <a:xfrm>
            <a:off x="1344252" y="459581"/>
            <a:ext cx="4114910" cy="3086100"/>
          </a:xfrm>
          <a:prstGeom prst="rect">
            <a:avLst/>
          </a:prstGeom>
          <a:noFill/>
          <a:ln>
            <a:noFill/>
          </a:ln>
        </p:spPr>
      </p:sp>
      <p:sp>
        <p:nvSpPr>
          <p:cNvPr id="184" name="Google Shape;184;p34"/>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200"/>
              </a:spcBef>
              <a:spcAft>
                <a:spcPts val="0"/>
              </a:spcAft>
              <a:buClr>
                <a:schemeClr val="dk1"/>
              </a:buClr>
              <a:buSzPts val="1100"/>
              <a:buNone/>
              <a:defRPr sz="1100"/>
            </a:lvl1pPr>
            <a:lvl2pPr indent="-228600" lvl="1" marL="914400" algn="l">
              <a:lnSpc>
                <a:spcPct val="100000"/>
              </a:lnSpc>
              <a:spcBef>
                <a:spcPts val="200"/>
              </a:spcBef>
              <a:spcAft>
                <a:spcPts val="0"/>
              </a:spcAft>
              <a:buClr>
                <a:schemeClr val="dk1"/>
              </a:buClr>
              <a:buSzPts val="900"/>
              <a:buNone/>
              <a:defRPr sz="9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100"/>
              </a:spcBef>
              <a:spcAft>
                <a:spcPts val="0"/>
              </a:spcAft>
              <a:buClr>
                <a:schemeClr val="dk1"/>
              </a:buClr>
              <a:buSzPts val="700"/>
              <a:buNone/>
              <a:defRPr sz="700"/>
            </a:lvl4pPr>
            <a:lvl5pPr indent="-228600" lvl="4" marL="2286000" algn="l">
              <a:lnSpc>
                <a:spcPct val="100000"/>
              </a:lnSpc>
              <a:spcBef>
                <a:spcPts val="100"/>
              </a:spcBef>
              <a:spcAft>
                <a:spcPts val="0"/>
              </a:spcAft>
              <a:buClr>
                <a:schemeClr val="dk1"/>
              </a:buClr>
              <a:buSzPts val="700"/>
              <a:buNone/>
              <a:defRPr sz="700"/>
            </a:lvl5pPr>
            <a:lvl6pPr indent="-228600" lvl="5" marL="2743200" algn="l">
              <a:lnSpc>
                <a:spcPct val="100000"/>
              </a:lnSpc>
              <a:spcBef>
                <a:spcPts val="100"/>
              </a:spcBef>
              <a:spcAft>
                <a:spcPts val="0"/>
              </a:spcAft>
              <a:buClr>
                <a:schemeClr val="dk1"/>
              </a:buClr>
              <a:buSzPts val="700"/>
              <a:buNone/>
              <a:defRPr sz="700"/>
            </a:lvl6pPr>
            <a:lvl7pPr indent="-228600" lvl="6" marL="3200400" algn="l">
              <a:lnSpc>
                <a:spcPct val="100000"/>
              </a:lnSpc>
              <a:spcBef>
                <a:spcPts val="100"/>
              </a:spcBef>
              <a:spcAft>
                <a:spcPts val="0"/>
              </a:spcAft>
              <a:buClr>
                <a:schemeClr val="dk1"/>
              </a:buClr>
              <a:buSzPts val="700"/>
              <a:buNone/>
              <a:defRPr sz="700"/>
            </a:lvl7pPr>
            <a:lvl8pPr indent="-228600" lvl="7" marL="3657600" algn="l">
              <a:lnSpc>
                <a:spcPct val="100000"/>
              </a:lnSpc>
              <a:spcBef>
                <a:spcPts val="100"/>
              </a:spcBef>
              <a:spcAft>
                <a:spcPts val="0"/>
              </a:spcAft>
              <a:buClr>
                <a:schemeClr val="dk1"/>
              </a:buClr>
              <a:buSzPts val="700"/>
              <a:buNone/>
              <a:defRPr sz="700"/>
            </a:lvl8pPr>
            <a:lvl9pPr indent="-228600" lvl="8" marL="4114800" algn="l">
              <a:lnSpc>
                <a:spcPct val="100000"/>
              </a:lnSpc>
              <a:spcBef>
                <a:spcPts val="100"/>
              </a:spcBef>
              <a:spcAft>
                <a:spcPts val="0"/>
              </a:spcAft>
              <a:buClr>
                <a:schemeClr val="dk1"/>
              </a:buClr>
              <a:buSzPts val="700"/>
              <a:buNone/>
              <a:defRPr sz="700"/>
            </a:lvl9pPr>
          </a:lstStyle>
          <a:p/>
        </p:txBody>
      </p:sp>
      <p:sp>
        <p:nvSpPr>
          <p:cNvPr id="185" name="Google Shape;185;p3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6" name="Google Shape;186;p3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7" name="Google Shape;187;p3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8" name="Shape 188"/>
        <p:cNvGrpSpPr/>
        <p:nvPr/>
      </p:nvGrpSpPr>
      <p:grpSpPr>
        <a:xfrm>
          <a:off x="0" y="0"/>
          <a:ext cx="0" cy="0"/>
          <a:chOff x="0" y="0"/>
          <a:chExt cx="0" cy="0"/>
        </a:xfrm>
      </p:grpSpPr>
      <p:sp>
        <p:nvSpPr>
          <p:cNvPr id="189" name="Google Shape;189;p35"/>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0" name="Google Shape;190;p35"/>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1" name="Google Shape;191;p3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2" name="Google Shape;192;p3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3" name="Google Shape;193;p3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36"/>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6" name="Google Shape;196;p36"/>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lnSpc>
                <a:spcPct val="100000"/>
              </a:lnSpc>
              <a:spcBef>
                <a:spcPts val="300"/>
              </a:spcBef>
              <a:spcAft>
                <a:spcPts val="0"/>
              </a:spcAft>
              <a:buClr>
                <a:schemeClr val="dk1"/>
              </a:buClr>
              <a:buSzPts val="1400"/>
              <a:buChar char="•"/>
              <a:defRPr/>
            </a:lvl1pPr>
            <a:lvl2pPr indent="-317500" lvl="1" marL="914400" algn="l">
              <a:lnSpc>
                <a:spcPct val="100000"/>
              </a:lnSpc>
              <a:spcBef>
                <a:spcPts val="300"/>
              </a:spcBef>
              <a:spcAft>
                <a:spcPts val="0"/>
              </a:spcAft>
              <a:buClr>
                <a:schemeClr val="dk1"/>
              </a:buClr>
              <a:buSzPts val="1400"/>
              <a:buChar char="–"/>
              <a:defRPr/>
            </a:lvl2pPr>
            <a:lvl3pPr indent="-317500" lvl="2" marL="1371600" algn="l">
              <a:lnSpc>
                <a:spcPct val="100000"/>
              </a:lnSpc>
              <a:spcBef>
                <a:spcPts val="300"/>
              </a:spcBef>
              <a:spcAft>
                <a:spcPts val="0"/>
              </a:spcAft>
              <a:buClr>
                <a:schemeClr val="dk1"/>
              </a:buClr>
              <a:buSzPts val="1400"/>
              <a:buChar char="•"/>
              <a:defRPr/>
            </a:lvl3pPr>
            <a:lvl4pPr indent="-317500" lvl="3" marL="1828800" algn="l">
              <a:lnSpc>
                <a:spcPct val="100000"/>
              </a:lnSpc>
              <a:spcBef>
                <a:spcPts val="300"/>
              </a:spcBef>
              <a:spcAft>
                <a:spcPts val="0"/>
              </a:spcAft>
              <a:buClr>
                <a:schemeClr val="dk1"/>
              </a:buClr>
              <a:buSzPts val="1400"/>
              <a:buChar char="–"/>
              <a:defRPr/>
            </a:lvl4pPr>
            <a:lvl5pPr indent="-317500" lvl="4" marL="2286000" algn="l">
              <a:lnSpc>
                <a:spcPct val="100000"/>
              </a:lnSpc>
              <a:spcBef>
                <a:spcPts val="300"/>
              </a:spcBef>
              <a:spcAft>
                <a:spcPts val="0"/>
              </a:spcAft>
              <a:buClr>
                <a:schemeClr val="dk1"/>
              </a:buClr>
              <a:buSzPts val="1400"/>
              <a:buChar char="»"/>
              <a:defRPr/>
            </a:lvl5pPr>
            <a:lvl6pPr indent="-317500" lvl="5" marL="2743200" algn="l">
              <a:lnSpc>
                <a:spcPct val="100000"/>
              </a:lnSpc>
              <a:spcBef>
                <a:spcPts val="300"/>
              </a:spcBef>
              <a:spcAft>
                <a:spcPts val="0"/>
              </a:spcAft>
              <a:buClr>
                <a:schemeClr val="dk1"/>
              </a:buClr>
              <a:buSzPts val="1400"/>
              <a:buChar char="•"/>
              <a:defRPr/>
            </a:lvl6pPr>
            <a:lvl7pPr indent="-317500" lvl="6" marL="3200400" algn="l">
              <a:lnSpc>
                <a:spcPct val="100000"/>
              </a:lnSpc>
              <a:spcBef>
                <a:spcPts val="300"/>
              </a:spcBef>
              <a:spcAft>
                <a:spcPts val="0"/>
              </a:spcAft>
              <a:buClr>
                <a:schemeClr val="dk1"/>
              </a:buClr>
              <a:buSzPts val="1400"/>
              <a:buChar char="•"/>
              <a:defRPr/>
            </a:lvl7pPr>
            <a:lvl8pPr indent="-317500" lvl="7" marL="3657600" algn="l">
              <a:lnSpc>
                <a:spcPct val="100000"/>
              </a:lnSpc>
              <a:spcBef>
                <a:spcPts val="300"/>
              </a:spcBef>
              <a:spcAft>
                <a:spcPts val="0"/>
              </a:spcAft>
              <a:buClr>
                <a:schemeClr val="dk1"/>
              </a:buClr>
              <a:buSzPts val="1400"/>
              <a:buChar char="•"/>
              <a:defRPr/>
            </a:lvl8pPr>
            <a:lvl9pPr indent="-317500" lvl="8" marL="4114800" algn="l">
              <a:lnSpc>
                <a:spcPct val="100000"/>
              </a:lnSpc>
              <a:spcBef>
                <a:spcPts val="300"/>
              </a:spcBef>
              <a:spcAft>
                <a:spcPts val="0"/>
              </a:spcAft>
              <a:buClr>
                <a:schemeClr val="dk1"/>
              </a:buClr>
              <a:buSzPts val="1400"/>
              <a:buChar char="•"/>
              <a:defRPr/>
            </a:lvl9pPr>
          </a:lstStyle>
          <a:p/>
        </p:txBody>
      </p:sp>
      <p:sp>
        <p:nvSpPr>
          <p:cNvPr id="197" name="Google Shape;197;p3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8" name="Google Shape;198;p3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9" name="Google Shape;199;p3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1.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lnSpc>
                <a:spcPct val="10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27" name="Google Shape;127;p25"/>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8" name="Google Shape;128;p2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29" name="Google Shape;129;p2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0" name="Google Shape;130;p2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1C17"/>
        </a:solidFill>
      </p:bgPr>
    </p:bg>
    <p:spTree>
      <p:nvGrpSpPr>
        <p:cNvPr id="204" name="Shape 204"/>
        <p:cNvGrpSpPr/>
        <p:nvPr/>
      </p:nvGrpSpPr>
      <p:grpSpPr>
        <a:xfrm>
          <a:off x="0" y="0"/>
          <a:ext cx="0" cy="0"/>
          <a:chOff x="0" y="0"/>
          <a:chExt cx="0" cy="0"/>
        </a:xfrm>
      </p:grpSpPr>
      <p:sp>
        <p:nvSpPr>
          <p:cNvPr id="205" name="Google Shape;205;p37"/>
          <p:cNvSpPr/>
          <p:nvPr/>
        </p:nvSpPr>
        <p:spPr>
          <a:xfrm>
            <a:off x="7098219" y="617220"/>
            <a:ext cx="685818" cy="68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6" name="Google Shape;206;p37"/>
          <p:cNvSpPr/>
          <p:nvPr/>
        </p:nvSpPr>
        <p:spPr>
          <a:xfrm>
            <a:off x="7784037" y="617220"/>
            <a:ext cx="685818" cy="68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7" name="Google Shape;207;p37"/>
          <p:cNvSpPr/>
          <p:nvPr/>
        </p:nvSpPr>
        <p:spPr>
          <a:xfrm>
            <a:off x="7098219" y="1303020"/>
            <a:ext cx="685818" cy="68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8" name="Google Shape;208;p37"/>
          <p:cNvSpPr/>
          <p:nvPr/>
        </p:nvSpPr>
        <p:spPr>
          <a:xfrm>
            <a:off x="7784037" y="1303020"/>
            <a:ext cx="685818" cy="68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9" name="Google Shape;209;p37"/>
          <p:cNvSpPr txBox="1"/>
          <p:nvPr/>
        </p:nvSpPr>
        <p:spPr>
          <a:xfrm>
            <a:off x="548655" y="1611630"/>
            <a:ext cx="6515274" cy="1371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it" sz="3000" u="none" cap="none" strike="noStrike">
                <a:solidFill>
                  <a:srgbClr val="FFFFFF"/>
                </a:solidFill>
                <a:latin typeface="Cambria"/>
                <a:ea typeface="Cambria"/>
                <a:cs typeface="Cambria"/>
                <a:sym typeface="Cambria"/>
              </a:rPr>
              <a:t>Chessboard Understanding with Vision-Language Models and Patch Reordering</a:t>
            </a:r>
            <a:endParaRPr sz="1100"/>
          </a:p>
        </p:txBody>
      </p:sp>
      <p:sp>
        <p:nvSpPr>
          <p:cNvPr id="210" name="Google Shape;210;p37"/>
          <p:cNvSpPr txBox="1"/>
          <p:nvPr/>
        </p:nvSpPr>
        <p:spPr>
          <a:xfrm>
            <a:off x="548655" y="3051810"/>
            <a:ext cx="68583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it" sz="1500" u="none" cap="none" strike="noStrike">
                <a:solidFill>
                  <a:srgbClr val="FFCE9E"/>
                </a:solidFill>
                <a:latin typeface="Calibri"/>
                <a:ea typeface="Calibri"/>
                <a:cs typeface="Calibri"/>
                <a:sym typeface="Calibri"/>
              </a:rPr>
              <a:t>Reading boards with Qwen3.5-0.8B and the REOrder framework </a:t>
            </a:r>
            <a:endParaRPr sz="1100"/>
          </a:p>
        </p:txBody>
      </p:sp>
      <p:sp>
        <p:nvSpPr>
          <p:cNvPr id="211" name="Google Shape;211;p37"/>
          <p:cNvSpPr txBox="1"/>
          <p:nvPr/>
        </p:nvSpPr>
        <p:spPr>
          <a:xfrm>
            <a:off x="548655" y="3806190"/>
            <a:ext cx="6858183"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it" sz="1200" u="none" cap="none" strike="noStrike">
                <a:solidFill>
                  <a:srgbClr val="CFC4B8"/>
                </a:solidFill>
                <a:latin typeface="Calibri"/>
                <a:ea typeface="Calibri"/>
                <a:cs typeface="Calibri"/>
                <a:sym typeface="Calibri"/>
              </a:rPr>
              <a:t>Big Data Analytics and Text Mining</a:t>
            </a:r>
            <a:endParaRPr sz="1100"/>
          </a:p>
        </p:txBody>
      </p:sp>
      <p:sp>
        <p:nvSpPr>
          <p:cNvPr id="212" name="Google Shape;212;p37"/>
          <p:cNvSpPr txBox="1"/>
          <p:nvPr/>
        </p:nvSpPr>
        <p:spPr>
          <a:xfrm>
            <a:off x="548655" y="4080510"/>
            <a:ext cx="68583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 sz="1200">
                <a:solidFill>
                  <a:srgbClr val="FFFFFF"/>
                </a:solidFill>
                <a:latin typeface="Calibri"/>
                <a:ea typeface="Calibri"/>
                <a:cs typeface="Calibri"/>
                <a:sym typeface="Calibri"/>
              </a:rPr>
              <a:t>Bergonzoni Tommaso</a:t>
            </a:r>
            <a:r>
              <a:rPr b="1" i="0" lang="it" sz="1200" u="none" cap="none" strike="noStrike">
                <a:solidFill>
                  <a:srgbClr val="FFFFFF"/>
                </a:solidFill>
                <a:latin typeface="Calibri"/>
                <a:ea typeface="Calibri"/>
                <a:cs typeface="Calibri"/>
                <a:sym typeface="Calibri"/>
              </a:rPr>
              <a:t>  · </a:t>
            </a:r>
            <a:r>
              <a:rPr b="1" lang="it" sz="1200">
                <a:solidFill>
                  <a:srgbClr val="FFFFFF"/>
                </a:solidFill>
                <a:latin typeface="Calibri"/>
                <a:ea typeface="Calibri"/>
                <a:cs typeface="Calibri"/>
                <a:sym typeface="Calibri"/>
              </a:rPr>
              <a:t>Rambaldi Ivo</a:t>
            </a:r>
            <a:endParaRPr b="1" sz="1200">
              <a:solidFill>
                <a:srgbClr val="FFFFFF"/>
              </a:solidFill>
              <a:latin typeface="Calibri"/>
              <a:ea typeface="Calibri"/>
              <a:cs typeface="Calibri"/>
              <a:sym typeface="Calibri"/>
            </a:endParaRPr>
          </a:p>
          <a:p>
            <a:pPr indent="0" lvl="0" marL="0" marR="0" rtl="0" algn="l">
              <a:spcBef>
                <a:spcPts val="0"/>
              </a:spcBef>
              <a:spcAft>
                <a:spcPts val="0"/>
              </a:spcAft>
              <a:buNone/>
            </a:pPr>
            <a:r>
              <a:rPr b="1" lang="it" sz="1200">
                <a:solidFill>
                  <a:schemeClr val="lt1"/>
                </a:solidFill>
                <a:latin typeface="Calibri"/>
                <a:ea typeface="Calibri"/>
                <a:cs typeface="Calibri"/>
                <a:sym typeface="Calibri"/>
              </a:rPr>
              <a:t>ID: </a:t>
            </a:r>
            <a:r>
              <a:rPr b="1" lang="it" spc="20" sz="1000">
                <a:solidFill>
                  <a:schemeClr val="lt1"/>
                </a:solidFill>
              </a:rPr>
              <a:t>0001177759	    </a:t>
            </a:r>
            <a:r>
              <a:rPr b="1" lang="it" sz="1200">
                <a:solidFill>
                  <a:srgbClr val="FFFFFF"/>
                </a:solidFill>
                <a:latin typeface="Calibri"/>
                <a:ea typeface="Calibri"/>
                <a:cs typeface="Calibri"/>
                <a:sym typeface="Calibri"/>
              </a:rPr>
              <a:t>ID: </a:t>
            </a:r>
            <a:r>
              <a:rPr b="1" lang="it" spc="20" sz="1000">
                <a:solidFill>
                  <a:schemeClr val="lt1"/>
                </a:solidFill>
              </a:rPr>
              <a:t>0001169386</a:t>
            </a:r>
            <a:endParaRPr b="1" spc="20" sz="1000">
              <a:solidFill>
                <a:schemeClr val="lt1"/>
              </a:solidFill>
            </a:endParaRPr>
          </a:p>
          <a:p>
            <a:pPr indent="0" lvl="0" marL="0" marR="0" rtl="0" algn="l">
              <a:spcBef>
                <a:spcPts val="0"/>
              </a:spcBef>
              <a:spcAft>
                <a:spcPts val="0"/>
              </a:spcAft>
              <a:buNone/>
            </a:pPr>
            <a:r>
              <a:t/>
            </a:r>
            <a:endParaRPr b="1" sz="120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38"/>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VLMs describe scenes well but cannot read a board</a:t>
            </a:r>
            <a:endParaRPr b="0" i="0" sz="1100" u="none" cap="none" strike="noStrike">
              <a:solidFill>
                <a:srgbClr val="000000"/>
              </a:solidFill>
              <a:latin typeface="Arial"/>
              <a:ea typeface="Arial"/>
              <a:cs typeface="Arial"/>
              <a:sym typeface="Arial"/>
            </a:endParaRPr>
          </a:p>
        </p:txBody>
      </p:sp>
      <p:sp>
        <p:nvSpPr>
          <p:cNvPr id="219" name="Google Shape;219;p38"/>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Fine-grained spatial structure is where current multimodal models break down</a:t>
            </a:r>
            <a:endParaRPr b="0" i="0" sz="1100" u="none" cap="none" strike="noStrike">
              <a:solidFill>
                <a:srgbClr val="000000"/>
              </a:solidFill>
              <a:latin typeface="Arial"/>
              <a:ea typeface="Arial"/>
              <a:cs typeface="Arial"/>
              <a:sym typeface="Arial"/>
            </a:endParaRPr>
          </a:p>
        </p:txBody>
      </p:sp>
      <p:pic>
        <p:nvPicPr>
          <p:cNvPr descr="board.png" id="220" name="Google Shape;220;p38"/>
          <p:cNvPicPr preferRelativeResize="0"/>
          <p:nvPr/>
        </p:nvPicPr>
        <p:blipFill rotWithShape="1">
          <a:blip r:embed="rId3">
            <a:alphaModFix/>
          </a:blip>
          <a:srcRect b="0" l="0" r="0" t="0"/>
          <a:stretch/>
        </p:blipFill>
        <p:spPr>
          <a:xfrm>
            <a:off x="411491" y="1268730"/>
            <a:ext cx="3154680" cy="3154680"/>
          </a:xfrm>
          <a:prstGeom prst="rect">
            <a:avLst/>
          </a:prstGeom>
          <a:noFill/>
          <a:ln>
            <a:noFill/>
          </a:ln>
        </p:spPr>
      </p:pic>
      <p:sp>
        <p:nvSpPr>
          <p:cNvPr id="221" name="Google Shape;221;p38"/>
          <p:cNvSpPr/>
          <p:nvPr/>
        </p:nvSpPr>
        <p:spPr>
          <a:xfrm>
            <a:off x="3840582" y="1268730"/>
            <a:ext cx="4869310" cy="161163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2" name="Google Shape;222;p38"/>
          <p:cNvSpPr txBox="1"/>
          <p:nvPr/>
        </p:nvSpPr>
        <p:spPr>
          <a:xfrm>
            <a:off x="4046328" y="1371600"/>
            <a:ext cx="4526401"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6B625A"/>
                </a:solidFill>
                <a:latin typeface="Calibri"/>
                <a:ea typeface="Calibri"/>
                <a:cs typeface="Calibri"/>
                <a:sym typeface="Calibri"/>
              </a:rPr>
              <a:t>Ground truth (FEN)</a:t>
            </a:r>
            <a:endParaRPr b="0" i="0" sz="1100" u="none" cap="none" strike="noStrike">
              <a:solidFill>
                <a:srgbClr val="000000"/>
              </a:solidFill>
              <a:latin typeface="Arial"/>
              <a:ea typeface="Arial"/>
              <a:cs typeface="Arial"/>
              <a:sym typeface="Arial"/>
            </a:endParaRPr>
          </a:p>
        </p:txBody>
      </p:sp>
      <p:sp>
        <p:nvSpPr>
          <p:cNvPr id="223" name="Google Shape;223;p38"/>
          <p:cNvSpPr txBox="1"/>
          <p:nvPr/>
        </p:nvSpPr>
        <p:spPr>
          <a:xfrm>
            <a:off x="4046328" y="1611630"/>
            <a:ext cx="4526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ourier New"/>
                <a:ea typeface="Courier New"/>
                <a:cs typeface="Courier New"/>
                <a:sym typeface="Courier New"/>
              </a:rPr>
              <a:t>6R1/kbqn1p2/1p5p/1Pp5/4Pb2/7Q/1PPr3P/4K3</a:t>
            </a:r>
            <a:endParaRPr b="0" i="0" sz="1100" u="none" cap="none" strike="noStrike">
              <a:solidFill>
                <a:srgbClr val="000000"/>
              </a:solidFill>
              <a:latin typeface="Arial"/>
              <a:ea typeface="Arial"/>
              <a:cs typeface="Arial"/>
              <a:sym typeface="Arial"/>
            </a:endParaRPr>
          </a:p>
        </p:txBody>
      </p:sp>
      <p:sp>
        <p:nvSpPr>
          <p:cNvPr id="224" name="Google Shape;224;p38"/>
          <p:cNvSpPr txBox="1"/>
          <p:nvPr/>
        </p:nvSpPr>
        <p:spPr>
          <a:xfrm>
            <a:off x="4046328" y="2057400"/>
            <a:ext cx="4526401"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6B625A"/>
                </a:solidFill>
                <a:latin typeface="Calibri"/>
                <a:ea typeface="Calibri"/>
                <a:cs typeface="Calibri"/>
                <a:sym typeface="Calibri"/>
              </a:rPr>
              <a:t>Vanilla Qwen3.5-0.8B, zero-shot</a:t>
            </a:r>
            <a:endParaRPr b="0" i="0" sz="1100" u="none" cap="none" strike="noStrike">
              <a:solidFill>
                <a:srgbClr val="000000"/>
              </a:solidFill>
              <a:latin typeface="Arial"/>
              <a:ea typeface="Arial"/>
              <a:cs typeface="Arial"/>
              <a:sym typeface="Arial"/>
            </a:endParaRPr>
          </a:p>
        </p:txBody>
      </p:sp>
      <p:sp>
        <p:nvSpPr>
          <p:cNvPr id="225" name="Google Shape;225;p38"/>
          <p:cNvSpPr txBox="1"/>
          <p:nvPr/>
        </p:nvSpPr>
        <p:spPr>
          <a:xfrm>
            <a:off x="4046328" y="2297430"/>
            <a:ext cx="4526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B5652A"/>
                </a:solidFill>
                <a:latin typeface="Courier New"/>
                <a:ea typeface="Courier New"/>
                <a:cs typeface="Courier New"/>
                <a:sym typeface="Courier New"/>
              </a:rPr>
              <a:t>e2r1qppppppppppppppppppppppp…</a:t>
            </a:r>
            <a:endParaRPr b="0" i="0" sz="1100" u="none" cap="none" strike="noStrike">
              <a:solidFill>
                <a:srgbClr val="000000"/>
              </a:solidFill>
              <a:latin typeface="Arial"/>
              <a:ea typeface="Arial"/>
              <a:cs typeface="Arial"/>
              <a:sym typeface="Arial"/>
            </a:endParaRPr>
          </a:p>
        </p:txBody>
      </p:sp>
      <p:sp>
        <p:nvSpPr>
          <p:cNvPr id="226" name="Google Shape;226;p38"/>
          <p:cNvSpPr txBox="1"/>
          <p:nvPr/>
        </p:nvSpPr>
        <p:spPr>
          <a:xfrm>
            <a:off x="3840582" y="3086100"/>
            <a:ext cx="4869300" cy="1262100"/>
          </a:xfrm>
          <a:prstGeom prst="rect">
            <a:avLst/>
          </a:prstGeom>
          <a:noFill/>
          <a:ln>
            <a:noFill/>
          </a:ln>
        </p:spPr>
        <p:txBody>
          <a:bodyPr anchorCtr="0" anchor="t" bIns="0" lIns="0" spcFirstLastPara="1" rIns="0" wrap="square" tIns="0">
            <a:spAutoFit/>
          </a:bodyPr>
          <a:lstStyle/>
          <a:p>
            <a:pPr indent="-190500" lvl="0" marL="190500" marR="0" rtl="0" algn="l">
              <a:lnSpc>
                <a:spcPct val="100000"/>
              </a:lnSpc>
              <a:spcBef>
                <a:spcPts val="0"/>
              </a:spcBef>
              <a:spcAft>
                <a:spcPts val="0"/>
              </a:spcAft>
              <a:buClr>
                <a:srgbClr val="B5652A"/>
              </a:buClr>
              <a:buSzPts val="1200"/>
              <a:buFont typeface="Calibri"/>
              <a:buChar char="■"/>
            </a:pPr>
            <a:r>
              <a:rPr b="1" i="0" lang="it" sz="1200" u="none" cap="none" strike="noStrike">
                <a:solidFill>
                  <a:srgbClr val="221C17"/>
                </a:solidFill>
                <a:latin typeface="Calibri"/>
                <a:ea typeface="Calibri"/>
                <a:cs typeface="Calibri"/>
                <a:sym typeface="Calibri"/>
              </a:rPr>
              <a:t>Known failure modes: </a:t>
            </a:r>
            <a:r>
              <a:rPr b="0" i="0" lang="it" sz="1200" u="none" cap="none" strike="noStrike">
                <a:solidFill>
                  <a:srgbClr val="221C17"/>
                </a:solidFill>
                <a:latin typeface="Calibri"/>
                <a:ea typeface="Calibri"/>
                <a:cs typeface="Calibri"/>
                <a:sym typeface="Calibri"/>
              </a:rPr>
              <a:t>left/right and above/below relations, reading clocks and grids, transcribing a perfectly clean 2D board.</a:t>
            </a:r>
            <a:endParaRPr b="0" i="0" sz="1100" u="none" cap="none" strike="noStrike">
              <a:solidFill>
                <a:srgbClr val="000000"/>
              </a:solidFill>
              <a:latin typeface="Arial"/>
              <a:ea typeface="Arial"/>
              <a:cs typeface="Arial"/>
              <a:sym typeface="Arial"/>
            </a:endParaRPr>
          </a:p>
          <a:p>
            <a:pPr indent="-190500" lvl="0" marL="190500" marR="0" rtl="0" algn="l">
              <a:lnSpc>
                <a:spcPct val="100000"/>
              </a:lnSpc>
              <a:spcBef>
                <a:spcPts val="600"/>
              </a:spcBef>
              <a:spcAft>
                <a:spcPts val="0"/>
              </a:spcAft>
              <a:buClr>
                <a:srgbClr val="B5652A"/>
              </a:buClr>
              <a:buSzPts val="1200"/>
              <a:buFont typeface="Calibri"/>
              <a:buChar char="■"/>
            </a:pPr>
            <a:r>
              <a:rPr b="1" i="0" lang="it" sz="1200" u="none" cap="none" strike="noStrike">
                <a:solidFill>
                  <a:srgbClr val="221C17"/>
                </a:solidFill>
                <a:latin typeface="Calibri"/>
                <a:ea typeface="Calibri"/>
                <a:cs typeface="Calibri"/>
                <a:sym typeface="Calibri"/>
              </a:rPr>
              <a:t>Our goal: </a:t>
            </a:r>
            <a:r>
              <a:rPr b="0" i="0" lang="it" sz="1200" u="none" cap="none" strike="noStrike">
                <a:solidFill>
                  <a:srgbClr val="221C17"/>
                </a:solidFill>
                <a:latin typeface="Calibri"/>
                <a:ea typeface="Calibri"/>
                <a:cs typeface="Calibri"/>
                <a:sym typeface="Calibri"/>
              </a:rPr>
              <a:t>analyze the influence of patch reordering on a fine-tuned VLM and create an end-to-end system to solve specific tasks about chess boards.</a:t>
            </a:r>
            <a:endParaRPr b="0" i="0" sz="1100" u="none" cap="none" strike="noStrike">
              <a:solidFill>
                <a:srgbClr val="000000"/>
              </a:solidFill>
              <a:latin typeface="Arial"/>
              <a:ea typeface="Arial"/>
              <a:cs typeface="Arial"/>
              <a:sym typeface="Arial"/>
            </a:endParaRPr>
          </a:p>
        </p:txBody>
      </p:sp>
      <p:sp>
        <p:nvSpPr>
          <p:cNvPr id="227" name="Google Shape;227;p38"/>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8" name="Google Shape;228;p38"/>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39"/>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REOrder: the order of image patches changes accuracy</a:t>
            </a:r>
            <a:endParaRPr b="0" i="0" sz="1100" u="none" cap="none" strike="noStrike">
              <a:solidFill>
                <a:srgbClr val="000000"/>
              </a:solidFill>
              <a:latin typeface="Arial"/>
              <a:ea typeface="Arial"/>
              <a:cs typeface="Arial"/>
              <a:sym typeface="Arial"/>
            </a:endParaRPr>
          </a:p>
        </p:txBody>
      </p:sp>
      <p:sp>
        <p:nvSpPr>
          <p:cNvPr id="235" name="Google Shape;235;p39"/>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Kutscher, Chan, Bai, Darrell, Gupta — “REOrdering Patches Improves Vision Models”, NeurIPS 2025</a:t>
            </a:r>
            <a:endParaRPr b="0" i="0" sz="1100" u="none" cap="none" strike="noStrike">
              <a:solidFill>
                <a:srgbClr val="000000"/>
              </a:solidFill>
              <a:latin typeface="Arial"/>
              <a:ea typeface="Arial"/>
              <a:cs typeface="Arial"/>
              <a:sym typeface="Arial"/>
            </a:endParaRPr>
          </a:p>
        </p:txBody>
      </p:sp>
      <p:sp>
        <p:nvSpPr>
          <p:cNvPr id="236" name="Google Shape;236;p39"/>
          <p:cNvSpPr/>
          <p:nvPr/>
        </p:nvSpPr>
        <p:spPr>
          <a:xfrm>
            <a:off x="514364" y="1405889"/>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237" name="Google Shape;237;p39"/>
          <p:cNvSpPr/>
          <p:nvPr/>
        </p:nvSpPr>
        <p:spPr>
          <a:xfrm>
            <a:off x="857273" y="1405889"/>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a:t>
            </a:r>
            <a:endParaRPr b="0" i="0" sz="1100" u="none" cap="none" strike="noStrike">
              <a:solidFill>
                <a:srgbClr val="000000"/>
              </a:solidFill>
              <a:latin typeface="Arial"/>
              <a:ea typeface="Arial"/>
              <a:cs typeface="Arial"/>
              <a:sym typeface="Arial"/>
            </a:endParaRPr>
          </a:p>
        </p:txBody>
      </p:sp>
      <p:sp>
        <p:nvSpPr>
          <p:cNvPr id="238" name="Google Shape;238;p39"/>
          <p:cNvSpPr/>
          <p:nvPr/>
        </p:nvSpPr>
        <p:spPr>
          <a:xfrm>
            <a:off x="1200182" y="1405889"/>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239" name="Google Shape;239;p39"/>
          <p:cNvSpPr/>
          <p:nvPr/>
        </p:nvSpPr>
        <p:spPr>
          <a:xfrm>
            <a:off x="1543091" y="1405889"/>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240" name="Google Shape;240;p39"/>
          <p:cNvSpPr/>
          <p:nvPr/>
        </p:nvSpPr>
        <p:spPr>
          <a:xfrm>
            <a:off x="514364" y="17487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4</a:t>
            </a:r>
            <a:endParaRPr b="0" i="0" sz="1100" u="none" cap="none" strike="noStrike">
              <a:solidFill>
                <a:srgbClr val="000000"/>
              </a:solidFill>
              <a:latin typeface="Arial"/>
              <a:ea typeface="Arial"/>
              <a:cs typeface="Arial"/>
              <a:sym typeface="Arial"/>
            </a:endParaRPr>
          </a:p>
        </p:txBody>
      </p:sp>
      <p:sp>
        <p:nvSpPr>
          <p:cNvPr id="241" name="Google Shape;241;p39"/>
          <p:cNvSpPr/>
          <p:nvPr/>
        </p:nvSpPr>
        <p:spPr>
          <a:xfrm>
            <a:off x="857273" y="17487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5</a:t>
            </a:r>
            <a:endParaRPr b="0" i="0" sz="1100" u="none" cap="none" strike="noStrike">
              <a:solidFill>
                <a:srgbClr val="000000"/>
              </a:solidFill>
              <a:latin typeface="Arial"/>
              <a:ea typeface="Arial"/>
              <a:cs typeface="Arial"/>
              <a:sym typeface="Arial"/>
            </a:endParaRPr>
          </a:p>
        </p:txBody>
      </p:sp>
      <p:sp>
        <p:nvSpPr>
          <p:cNvPr id="242" name="Google Shape;242;p39"/>
          <p:cNvSpPr/>
          <p:nvPr/>
        </p:nvSpPr>
        <p:spPr>
          <a:xfrm>
            <a:off x="1200182" y="17487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6</a:t>
            </a:r>
            <a:endParaRPr b="0" i="0" sz="1100" u="none" cap="none" strike="noStrike">
              <a:solidFill>
                <a:srgbClr val="000000"/>
              </a:solidFill>
              <a:latin typeface="Arial"/>
              <a:ea typeface="Arial"/>
              <a:cs typeface="Arial"/>
              <a:sym typeface="Arial"/>
            </a:endParaRPr>
          </a:p>
        </p:txBody>
      </p:sp>
      <p:sp>
        <p:nvSpPr>
          <p:cNvPr id="243" name="Google Shape;243;p39"/>
          <p:cNvSpPr/>
          <p:nvPr/>
        </p:nvSpPr>
        <p:spPr>
          <a:xfrm>
            <a:off x="1543091" y="17487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7</a:t>
            </a:r>
            <a:endParaRPr b="0" i="0" sz="1100" u="none" cap="none" strike="noStrike">
              <a:solidFill>
                <a:srgbClr val="000000"/>
              </a:solidFill>
              <a:latin typeface="Arial"/>
              <a:ea typeface="Arial"/>
              <a:cs typeface="Arial"/>
              <a:sym typeface="Arial"/>
            </a:endParaRPr>
          </a:p>
        </p:txBody>
      </p:sp>
      <p:sp>
        <p:nvSpPr>
          <p:cNvPr id="244" name="Google Shape;244;p39"/>
          <p:cNvSpPr/>
          <p:nvPr/>
        </p:nvSpPr>
        <p:spPr>
          <a:xfrm>
            <a:off x="514364" y="20916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8</a:t>
            </a:r>
            <a:endParaRPr b="0" i="0" sz="1100" u="none" cap="none" strike="noStrike">
              <a:solidFill>
                <a:srgbClr val="000000"/>
              </a:solidFill>
              <a:latin typeface="Arial"/>
              <a:ea typeface="Arial"/>
              <a:cs typeface="Arial"/>
              <a:sym typeface="Arial"/>
            </a:endParaRPr>
          </a:p>
        </p:txBody>
      </p:sp>
      <p:sp>
        <p:nvSpPr>
          <p:cNvPr id="245" name="Google Shape;245;p39"/>
          <p:cNvSpPr/>
          <p:nvPr/>
        </p:nvSpPr>
        <p:spPr>
          <a:xfrm>
            <a:off x="857273" y="20916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9</a:t>
            </a:r>
            <a:endParaRPr b="0" i="0" sz="1100" u="none" cap="none" strike="noStrike">
              <a:solidFill>
                <a:srgbClr val="000000"/>
              </a:solidFill>
              <a:latin typeface="Arial"/>
              <a:ea typeface="Arial"/>
              <a:cs typeface="Arial"/>
              <a:sym typeface="Arial"/>
            </a:endParaRPr>
          </a:p>
        </p:txBody>
      </p:sp>
      <p:sp>
        <p:nvSpPr>
          <p:cNvPr id="246" name="Google Shape;246;p39"/>
          <p:cNvSpPr/>
          <p:nvPr/>
        </p:nvSpPr>
        <p:spPr>
          <a:xfrm>
            <a:off x="1200182" y="20916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10</a:t>
            </a:r>
            <a:endParaRPr b="0" i="0" sz="1100" u="none" cap="none" strike="noStrike">
              <a:solidFill>
                <a:srgbClr val="000000"/>
              </a:solidFill>
              <a:latin typeface="Arial"/>
              <a:ea typeface="Arial"/>
              <a:cs typeface="Arial"/>
              <a:sym typeface="Arial"/>
            </a:endParaRPr>
          </a:p>
        </p:txBody>
      </p:sp>
      <p:sp>
        <p:nvSpPr>
          <p:cNvPr id="247" name="Google Shape;247;p39"/>
          <p:cNvSpPr/>
          <p:nvPr/>
        </p:nvSpPr>
        <p:spPr>
          <a:xfrm>
            <a:off x="1543091" y="20916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11</a:t>
            </a:r>
            <a:endParaRPr b="0" i="0" sz="1100" u="none" cap="none" strike="noStrike">
              <a:solidFill>
                <a:srgbClr val="000000"/>
              </a:solidFill>
              <a:latin typeface="Arial"/>
              <a:ea typeface="Arial"/>
              <a:cs typeface="Arial"/>
              <a:sym typeface="Arial"/>
            </a:endParaRPr>
          </a:p>
        </p:txBody>
      </p:sp>
      <p:sp>
        <p:nvSpPr>
          <p:cNvPr id="248" name="Google Shape;248;p39"/>
          <p:cNvSpPr/>
          <p:nvPr/>
        </p:nvSpPr>
        <p:spPr>
          <a:xfrm>
            <a:off x="514364" y="24345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12</a:t>
            </a:r>
            <a:endParaRPr b="0" i="0" sz="1100" u="none" cap="none" strike="noStrike">
              <a:solidFill>
                <a:srgbClr val="000000"/>
              </a:solidFill>
              <a:latin typeface="Arial"/>
              <a:ea typeface="Arial"/>
              <a:cs typeface="Arial"/>
              <a:sym typeface="Arial"/>
            </a:endParaRPr>
          </a:p>
        </p:txBody>
      </p:sp>
      <p:sp>
        <p:nvSpPr>
          <p:cNvPr id="249" name="Google Shape;249;p39"/>
          <p:cNvSpPr/>
          <p:nvPr/>
        </p:nvSpPr>
        <p:spPr>
          <a:xfrm>
            <a:off x="857273" y="24345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13</a:t>
            </a:r>
            <a:endParaRPr b="0" i="0" sz="1100" u="none" cap="none" strike="noStrike">
              <a:solidFill>
                <a:srgbClr val="000000"/>
              </a:solidFill>
              <a:latin typeface="Arial"/>
              <a:ea typeface="Arial"/>
              <a:cs typeface="Arial"/>
              <a:sym typeface="Arial"/>
            </a:endParaRPr>
          </a:p>
        </p:txBody>
      </p:sp>
      <p:sp>
        <p:nvSpPr>
          <p:cNvPr id="250" name="Google Shape;250;p39"/>
          <p:cNvSpPr/>
          <p:nvPr/>
        </p:nvSpPr>
        <p:spPr>
          <a:xfrm>
            <a:off x="1200182" y="2434590"/>
            <a:ext cx="342909" cy="342900"/>
          </a:xfrm>
          <a:prstGeom prst="rect">
            <a:avLst/>
          </a:prstGeom>
          <a:solidFill>
            <a:srgbClr val="D18B47"/>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14</a:t>
            </a:r>
            <a:endParaRPr b="0" i="0" sz="1100" u="none" cap="none" strike="noStrike">
              <a:solidFill>
                <a:srgbClr val="000000"/>
              </a:solidFill>
              <a:latin typeface="Arial"/>
              <a:ea typeface="Arial"/>
              <a:cs typeface="Arial"/>
              <a:sym typeface="Arial"/>
            </a:endParaRPr>
          </a:p>
        </p:txBody>
      </p:sp>
      <p:sp>
        <p:nvSpPr>
          <p:cNvPr id="251" name="Google Shape;251;p39"/>
          <p:cNvSpPr/>
          <p:nvPr/>
        </p:nvSpPr>
        <p:spPr>
          <a:xfrm>
            <a:off x="1543091" y="2434590"/>
            <a:ext cx="342909" cy="342900"/>
          </a:xfrm>
          <a:prstGeom prst="rect">
            <a:avLst/>
          </a:prstGeom>
          <a:solidFill>
            <a:srgbClr val="FFCE9E"/>
          </a:solidFill>
          <a:ln cap="flat" cmpd="sng" w="9525">
            <a:solidFill>
              <a:srgbClr val="FFFFFF"/>
            </a:solidFill>
            <a:prstDash val="solid"/>
            <a:round/>
            <a:headEnd len="sm" w="sm" type="none"/>
            <a:tailEnd len="sm" w="sm" type="none"/>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221C17"/>
                </a:solidFill>
                <a:latin typeface="Calibri"/>
                <a:ea typeface="Calibri"/>
                <a:cs typeface="Calibri"/>
                <a:sym typeface="Calibri"/>
              </a:rPr>
              <a:t>15</a:t>
            </a:r>
            <a:endParaRPr b="0" i="0" sz="1100" u="none" cap="none" strike="noStrike">
              <a:solidFill>
                <a:srgbClr val="000000"/>
              </a:solidFill>
              <a:latin typeface="Arial"/>
              <a:ea typeface="Arial"/>
              <a:cs typeface="Arial"/>
              <a:sym typeface="Arial"/>
            </a:endParaRPr>
          </a:p>
        </p:txBody>
      </p:sp>
      <p:sp>
        <p:nvSpPr>
          <p:cNvPr id="252" name="Google Shape;252;p39"/>
          <p:cNvSpPr txBox="1"/>
          <p:nvPr/>
        </p:nvSpPr>
        <p:spPr>
          <a:xfrm>
            <a:off x="411491" y="2846070"/>
            <a:ext cx="1577382"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image patches</a:t>
            </a:r>
            <a:endParaRPr b="0" i="0" sz="1100" u="none" cap="none" strike="noStrike">
              <a:solidFill>
                <a:srgbClr val="000000"/>
              </a:solidFill>
              <a:latin typeface="Arial"/>
              <a:ea typeface="Arial"/>
              <a:cs typeface="Arial"/>
              <a:sym typeface="Arial"/>
            </a:endParaRPr>
          </a:p>
        </p:txBody>
      </p:sp>
      <p:sp>
        <p:nvSpPr>
          <p:cNvPr id="253" name="Google Shape;253;p39"/>
          <p:cNvSpPr/>
          <p:nvPr/>
        </p:nvSpPr>
        <p:spPr>
          <a:xfrm>
            <a:off x="2023164" y="1954530"/>
            <a:ext cx="411491" cy="274320"/>
          </a:xfrm>
          <a:prstGeom prst="rightArrow">
            <a:avLst>
              <a:gd fmla="val 50000" name="adj1"/>
              <a:gd fmla="val 50000" name="adj2"/>
            </a:avLst>
          </a:prstGeom>
          <a:solidFill>
            <a:srgbClr val="B5652A"/>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4" name="Google Shape;254;p39"/>
          <p:cNvSpPr/>
          <p:nvPr/>
        </p:nvSpPr>
        <p:spPr>
          <a:xfrm>
            <a:off x="2571819"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0</a:t>
            </a:r>
            <a:endParaRPr b="0" i="0" sz="1100" u="none" cap="none" strike="noStrike">
              <a:solidFill>
                <a:srgbClr val="000000"/>
              </a:solidFill>
              <a:latin typeface="Arial"/>
              <a:ea typeface="Arial"/>
              <a:cs typeface="Arial"/>
              <a:sym typeface="Arial"/>
            </a:endParaRPr>
          </a:p>
        </p:txBody>
      </p:sp>
      <p:sp>
        <p:nvSpPr>
          <p:cNvPr id="255" name="Google Shape;255;p39"/>
          <p:cNvSpPr/>
          <p:nvPr/>
        </p:nvSpPr>
        <p:spPr>
          <a:xfrm>
            <a:off x="2818713"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a:t>
            </a:r>
            <a:endParaRPr b="0" i="0" sz="1100" u="none" cap="none" strike="noStrike">
              <a:solidFill>
                <a:srgbClr val="000000"/>
              </a:solidFill>
              <a:latin typeface="Arial"/>
              <a:ea typeface="Arial"/>
              <a:cs typeface="Arial"/>
              <a:sym typeface="Arial"/>
            </a:endParaRPr>
          </a:p>
        </p:txBody>
      </p:sp>
      <p:sp>
        <p:nvSpPr>
          <p:cNvPr id="256" name="Google Shape;256;p39"/>
          <p:cNvSpPr/>
          <p:nvPr/>
        </p:nvSpPr>
        <p:spPr>
          <a:xfrm>
            <a:off x="3065608"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2</a:t>
            </a:r>
            <a:endParaRPr b="0" i="0" sz="1100" u="none" cap="none" strike="noStrike">
              <a:solidFill>
                <a:srgbClr val="000000"/>
              </a:solidFill>
              <a:latin typeface="Arial"/>
              <a:ea typeface="Arial"/>
              <a:cs typeface="Arial"/>
              <a:sym typeface="Arial"/>
            </a:endParaRPr>
          </a:p>
        </p:txBody>
      </p:sp>
      <p:sp>
        <p:nvSpPr>
          <p:cNvPr id="257" name="Google Shape;257;p39"/>
          <p:cNvSpPr/>
          <p:nvPr/>
        </p:nvSpPr>
        <p:spPr>
          <a:xfrm>
            <a:off x="3312502"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
        <p:nvSpPr>
          <p:cNvPr id="258" name="Google Shape;258;p39"/>
          <p:cNvSpPr/>
          <p:nvPr/>
        </p:nvSpPr>
        <p:spPr>
          <a:xfrm>
            <a:off x="3559397"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4</a:t>
            </a:r>
            <a:endParaRPr b="0" i="0" sz="1100" u="none" cap="none" strike="noStrike">
              <a:solidFill>
                <a:srgbClr val="000000"/>
              </a:solidFill>
              <a:latin typeface="Arial"/>
              <a:ea typeface="Arial"/>
              <a:cs typeface="Arial"/>
              <a:sym typeface="Arial"/>
            </a:endParaRPr>
          </a:p>
        </p:txBody>
      </p:sp>
      <p:sp>
        <p:nvSpPr>
          <p:cNvPr id="259" name="Google Shape;259;p39"/>
          <p:cNvSpPr/>
          <p:nvPr/>
        </p:nvSpPr>
        <p:spPr>
          <a:xfrm>
            <a:off x="3806291"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5</a:t>
            </a:r>
            <a:endParaRPr b="0" i="0" sz="1100" u="none" cap="none" strike="noStrike">
              <a:solidFill>
                <a:srgbClr val="000000"/>
              </a:solidFill>
              <a:latin typeface="Arial"/>
              <a:ea typeface="Arial"/>
              <a:cs typeface="Arial"/>
              <a:sym typeface="Arial"/>
            </a:endParaRPr>
          </a:p>
        </p:txBody>
      </p:sp>
      <p:sp>
        <p:nvSpPr>
          <p:cNvPr id="260" name="Google Shape;260;p39"/>
          <p:cNvSpPr/>
          <p:nvPr/>
        </p:nvSpPr>
        <p:spPr>
          <a:xfrm>
            <a:off x="4053186"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6</a:t>
            </a:r>
            <a:endParaRPr b="0" i="0" sz="1100" u="none" cap="none" strike="noStrike">
              <a:solidFill>
                <a:srgbClr val="000000"/>
              </a:solidFill>
              <a:latin typeface="Arial"/>
              <a:ea typeface="Arial"/>
              <a:cs typeface="Arial"/>
              <a:sym typeface="Arial"/>
            </a:endParaRPr>
          </a:p>
        </p:txBody>
      </p:sp>
      <p:sp>
        <p:nvSpPr>
          <p:cNvPr id="261" name="Google Shape;261;p39"/>
          <p:cNvSpPr/>
          <p:nvPr/>
        </p:nvSpPr>
        <p:spPr>
          <a:xfrm>
            <a:off x="4300081"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7</a:t>
            </a:r>
            <a:endParaRPr b="0" i="0" sz="1100" u="none" cap="none" strike="noStrike">
              <a:solidFill>
                <a:srgbClr val="000000"/>
              </a:solidFill>
              <a:latin typeface="Arial"/>
              <a:ea typeface="Arial"/>
              <a:cs typeface="Arial"/>
              <a:sym typeface="Arial"/>
            </a:endParaRPr>
          </a:p>
        </p:txBody>
      </p:sp>
      <p:sp>
        <p:nvSpPr>
          <p:cNvPr id="262" name="Google Shape;262;p39"/>
          <p:cNvSpPr/>
          <p:nvPr/>
        </p:nvSpPr>
        <p:spPr>
          <a:xfrm>
            <a:off x="4546975"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8</a:t>
            </a:r>
            <a:endParaRPr b="0" i="0" sz="1100" u="none" cap="none" strike="noStrike">
              <a:solidFill>
                <a:srgbClr val="000000"/>
              </a:solidFill>
              <a:latin typeface="Arial"/>
              <a:ea typeface="Arial"/>
              <a:cs typeface="Arial"/>
              <a:sym typeface="Arial"/>
            </a:endParaRPr>
          </a:p>
        </p:txBody>
      </p:sp>
      <p:sp>
        <p:nvSpPr>
          <p:cNvPr id="263" name="Google Shape;263;p39"/>
          <p:cNvSpPr/>
          <p:nvPr/>
        </p:nvSpPr>
        <p:spPr>
          <a:xfrm>
            <a:off x="4793870"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9</a:t>
            </a:r>
            <a:endParaRPr b="0" i="0" sz="1100" u="none" cap="none" strike="noStrike">
              <a:solidFill>
                <a:srgbClr val="000000"/>
              </a:solidFill>
              <a:latin typeface="Arial"/>
              <a:ea typeface="Arial"/>
              <a:cs typeface="Arial"/>
              <a:sym typeface="Arial"/>
            </a:endParaRPr>
          </a:p>
        </p:txBody>
      </p:sp>
      <p:sp>
        <p:nvSpPr>
          <p:cNvPr id="264" name="Google Shape;264;p39"/>
          <p:cNvSpPr/>
          <p:nvPr/>
        </p:nvSpPr>
        <p:spPr>
          <a:xfrm>
            <a:off x="5040764"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10</a:t>
            </a:r>
            <a:endParaRPr b="0" i="0" sz="1100" u="none" cap="none" strike="noStrike">
              <a:solidFill>
                <a:srgbClr val="000000"/>
              </a:solidFill>
              <a:latin typeface="Arial"/>
              <a:ea typeface="Arial"/>
              <a:cs typeface="Arial"/>
              <a:sym typeface="Arial"/>
            </a:endParaRPr>
          </a:p>
        </p:txBody>
      </p:sp>
      <p:sp>
        <p:nvSpPr>
          <p:cNvPr id="265" name="Google Shape;265;p39"/>
          <p:cNvSpPr/>
          <p:nvPr/>
        </p:nvSpPr>
        <p:spPr>
          <a:xfrm>
            <a:off x="5287659"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11</a:t>
            </a:r>
            <a:endParaRPr b="0" i="0" sz="1100" u="none" cap="none" strike="noStrike">
              <a:solidFill>
                <a:srgbClr val="000000"/>
              </a:solidFill>
              <a:latin typeface="Arial"/>
              <a:ea typeface="Arial"/>
              <a:cs typeface="Arial"/>
              <a:sym typeface="Arial"/>
            </a:endParaRPr>
          </a:p>
        </p:txBody>
      </p:sp>
      <p:sp>
        <p:nvSpPr>
          <p:cNvPr id="266" name="Google Shape;266;p39"/>
          <p:cNvSpPr/>
          <p:nvPr/>
        </p:nvSpPr>
        <p:spPr>
          <a:xfrm>
            <a:off x="5534554"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12</a:t>
            </a:r>
            <a:endParaRPr b="0" i="0" sz="1100" u="none" cap="none" strike="noStrike">
              <a:solidFill>
                <a:srgbClr val="000000"/>
              </a:solidFill>
              <a:latin typeface="Arial"/>
              <a:ea typeface="Arial"/>
              <a:cs typeface="Arial"/>
              <a:sym typeface="Arial"/>
            </a:endParaRPr>
          </a:p>
        </p:txBody>
      </p:sp>
      <p:sp>
        <p:nvSpPr>
          <p:cNvPr id="267" name="Google Shape;267;p39"/>
          <p:cNvSpPr/>
          <p:nvPr/>
        </p:nvSpPr>
        <p:spPr>
          <a:xfrm>
            <a:off x="5781448"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13</a:t>
            </a:r>
            <a:endParaRPr b="0" i="0" sz="1100" u="none" cap="none" strike="noStrike">
              <a:solidFill>
                <a:srgbClr val="000000"/>
              </a:solidFill>
              <a:latin typeface="Arial"/>
              <a:ea typeface="Arial"/>
              <a:cs typeface="Arial"/>
              <a:sym typeface="Arial"/>
            </a:endParaRPr>
          </a:p>
        </p:txBody>
      </p:sp>
      <p:sp>
        <p:nvSpPr>
          <p:cNvPr id="268" name="Google Shape;268;p39"/>
          <p:cNvSpPr/>
          <p:nvPr/>
        </p:nvSpPr>
        <p:spPr>
          <a:xfrm>
            <a:off x="6028342" y="1940814"/>
            <a:ext cx="226320" cy="308610"/>
          </a:xfrm>
          <a:prstGeom prst="rect">
            <a:avLst/>
          </a:prstGeom>
          <a:solidFill>
            <a:srgbClr val="D18B47"/>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14</a:t>
            </a:r>
            <a:endParaRPr b="0" i="0" sz="1100" u="none" cap="none" strike="noStrike">
              <a:solidFill>
                <a:srgbClr val="000000"/>
              </a:solidFill>
              <a:latin typeface="Arial"/>
              <a:ea typeface="Arial"/>
              <a:cs typeface="Arial"/>
              <a:sym typeface="Arial"/>
            </a:endParaRPr>
          </a:p>
        </p:txBody>
      </p:sp>
      <p:sp>
        <p:nvSpPr>
          <p:cNvPr id="269" name="Google Shape;269;p39"/>
          <p:cNvSpPr/>
          <p:nvPr/>
        </p:nvSpPr>
        <p:spPr>
          <a:xfrm>
            <a:off x="6275237" y="1940814"/>
            <a:ext cx="226320" cy="308610"/>
          </a:xfrm>
          <a:prstGeom prst="rect">
            <a:avLst/>
          </a:prstGeom>
          <a:solidFill>
            <a:srgbClr val="FFCE9E"/>
          </a:solidFill>
          <a:ln>
            <a:noFill/>
          </a:ln>
        </p:spPr>
        <p:txBody>
          <a:bodyPr anchorCtr="0" anchor="ctr" bIns="34275" lIns="0" spcFirstLastPara="1" rIns="0"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it" sz="800" u="none" cap="none" strike="noStrike">
                <a:solidFill>
                  <a:srgbClr val="221C17"/>
                </a:solidFill>
                <a:latin typeface="Calibri"/>
                <a:ea typeface="Calibri"/>
                <a:cs typeface="Calibri"/>
                <a:sym typeface="Calibri"/>
              </a:rPr>
              <a:t>15</a:t>
            </a:r>
            <a:endParaRPr b="0" i="0" sz="1100" u="none" cap="none" strike="noStrike">
              <a:solidFill>
                <a:srgbClr val="000000"/>
              </a:solidFill>
              <a:latin typeface="Arial"/>
              <a:ea typeface="Arial"/>
              <a:cs typeface="Arial"/>
              <a:sym typeface="Arial"/>
            </a:endParaRPr>
          </a:p>
        </p:txBody>
      </p:sp>
      <p:sp>
        <p:nvSpPr>
          <p:cNvPr id="270" name="Google Shape;270;p39"/>
          <p:cNvSpPr txBox="1"/>
          <p:nvPr/>
        </p:nvSpPr>
        <p:spPr>
          <a:xfrm>
            <a:off x="2571819" y="2297430"/>
            <a:ext cx="3977746"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1D sequence, raster scan (row-major)</a:t>
            </a:r>
            <a:endParaRPr b="0" i="0" sz="1100" u="none" cap="none" strike="noStrike">
              <a:solidFill>
                <a:srgbClr val="000000"/>
              </a:solidFill>
              <a:latin typeface="Arial"/>
              <a:ea typeface="Arial"/>
              <a:cs typeface="Arial"/>
              <a:sym typeface="Arial"/>
            </a:endParaRPr>
          </a:p>
        </p:txBody>
      </p:sp>
      <p:sp>
        <p:nvSpPr>
          <p:cNvPr id="271" name="Google Shape;271;p39"/>
          <p:cNvSpPr txBox="1"/>
          <p:nvPr/>
        </p:nvSpPr>
        <p:spPr>
          <a:xfrm>
            <a:off x="411491" y="3257550"/>
            <a:ext cx="6309600" cy="975000"/>
          </a:xfrm>
          <a:prstGeom prst="rect">
            <a:avLst/>
          </a:prstGeom>
          <a:noFill/>
          <a:ln>
            <a:noFill/>
          </a:ln>
        </p:spPr>
        <p:txBody>
          <a:bodyPr anchorCtr="0" anchor="t" bIns="0" lIns="0" spcFirstLastPara="1" rIns="0" wrap="square" tIns="0">
            <a:spAutoFit/>
          </a:bodyPr>
          <a:lstStyle/>
          <a:p>
            <a:pPr indent="-184150" lvl="0" marL="190500" marR="0" rtl="0" algn="l">
              <a:lnSpc>
                <a:spcPct val="100000"/>
              </a:lnSpc>
              <a:spcBef>
                <a:spcPts val="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Full self-attention </a:t>
            </a:r>
            <a:r>
              <a:rPr b="0" i="0" lang="it" sz="1100" u="none" cap="none" strike="noStrike">
                <a:solidFill>
                  <a:srgbClr val="221C17"/>
                </a:solidFill>
                <a:latin typeface="Calibri"/>
                <a:ea typeface="Calibri"/>
                <a:cs typeface="Calibri"/>
                <a:sym typeface="Calibri"/>
              </a:rPr>
              <a:t>is permutation-equivariant, so order would not matter.</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50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Long-sequence models </a:t>
            </a:r>
            <a:r>
              <a:rPr b="0" i="0" lang="it" sz="1100" u="none" cap="none" strike="noStrike">
                <a:solidFill>
                  <a:srgbClr val="221C17"/>
                </a:solidFill>
                <a:latin typeface="Calibri"/>
                <a:ea typeface="Calibri"/>
                <a:cs typeface="Calibri"/>
                <a:sym typeface="Calibri"/>
              </a:rPr>
              <a:t>(Transformer-XL, Longformer, Mamba) approximate attention and become order-sensitive.</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50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Qwen3.5-0.8B </a:t>
            </a:r>
            <a:r>
              <a:rPr b="0" i="0" lang="it" sz="1100" u="none" cap="none" strike="noStrike">
                <a:solidFill>
                  <a:srgbClr val="221C17"/>
                </a:solidFill>
                <a:latin typeface="Calibri"/>
                <a:ea typeface="Calibri"/>
                <a:cs typeface="Calibri"/>
                <a:sym typeface="Calibri"/>
              </a:rPr>
              <a:t>is order-sensitive: 18 of its 24 LLM layers are Gated DeltaNet, a recurrent scan like Mamba. At 256px each square is exactly one visual token.</a:t>
            </a:r>
            <a:endParaRPr b="0" i="0" sz="1100" u="none" cap="none" strike="noStrike">
              <a:solidFill>
                <a:srgbClr val="000000"/>
              </a:solidFill>
              <a:latin typeface="Arial"/>
              <a:ea typeface="Arial"/>
              <a:cs typeface="Arial"/>
              <a:sym typeface="Arial"/>
            </a:endParaRPr>
          </a:p>
        </p:txBody>
      </p:sp>
      <p:sp>
        <p:nvSpPr>
          <p:cNvPr id="272" name="Google Shape;272;p39"/>
          <p:cNvSpPr/>
          <p:nvPr/>
        </p:nvSpPr>
        <p:spPr>
          <a:xfrm>
            <a:off x="6926765" y="1268730"/>
            <a:ext cx="1783128" cy="973836"/>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3" name="Google Shape;273;p39"/>
          <p:cNvSpPr txBox="1"/>
          <p:nvPr/>
        </p:nvSpPr>
        <p:spPr>
          <a:xfrm>
            <a:off x="7029637" y="1337310"/>
            <a:ext cx="1577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chemeClr val="dk1"/>
                </a:solidFill>
                <a:latin typeface="Cambria"/>
                <a:ea typeface="Cambria"/>
                <a:cs typeface="Cambria"/>
                <a:sym typeface="Cambria"/>
              </a:rPr>
              <a:t>±6.4%</a:t>
            </a:r>
            <a:endParaRPr b="0" i="0" sz="1100" u="none" cap="none" strike="noStrike">
              <a:solidFill>
                <a:schemeClr val="dk1"/>
              </a:solidFill>
              <a:latin typeface="Arial"/>
              <a:ea typeface="Arial"/>
              <a:cs typeface="Arial"/>
              <a:sym typeface="Arial"/>
            </a:endParaRPr>
          </a:p>
        </p:txBody>
      </p:sp>
      <p:sp>
        <p:nvSpPr>
          <p:cNvPr id="274" name="Google Shape;274;p39"/>
          <p:cNvSpPr txBox="1"/>
          <p:nvPr/>
        </p:nvSpPr>
        <p:spPr>
          <a:xfrm>
            <a:off x="7029637" y="1783080"/>
            <a:ext cx="1577382"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accuracy swing from patch order alone (Transformer-XL)</a:t>
            </a:r>
            <a:endParaRPr b="0" i="0" sz="1100" u="none" cap="none" strike="noStrike">
              <a:solidFill>
                <a:srgbClr val="000000"/>
              </a:solidFill>
              <a:latin typeface="Arial"/>
              <a:ea typeface="Arial"/>
              <a:cs typeface="Arial"/>
              <a:sym typeface="Arial"/>
            </a:endParaRPr>
          </a:p>
        </p:txBody>
      </p:sp>
      <p:sp>
        <p:nvSpPr>
          <p:cNvPr id="275" name="Google Shape;275;p39"/>
          <p:cNvSpPr/>
          <p:nvPr/>
        </p:nvSpPr>
        <p:spPr>
          <a:xfrm>
            <a:off x="6926765" y="2366010"/>
            <a:ext cx="1783128" cy="973836"/>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6" name="Google Shape;276;p39"/>
          <p:cNvSpPr txBox="1"/>
          <p:nvPr/>
        </p:nvSpPr>
        <p:spPr>
          <a:xfrm>
            <a:off x="7029637" y="2434590"/>
            <a:ext cx="1577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chemeClr val="dk1"/>
                </a:solidFill>
                <a:latin typeface="Cambria"/>
                <a:ea typeface="Cambria"/>
                <a:cs typeface="Cambria"/>
                <a:sym typeface="Cambria"/>
              </a:rPr>
              <a:t>+3.01%</a:t>
            </a:r>
            <a:endParaRPr b="0" i="0" sz="1100" u="none" cap="none" strike="noStrike">
              <a:solidFill>
                <a:schemeClr val="dk1"/>
              </a:solidFill>
              <a:latin typeface="Arial"/>
              <a:ea typeface="Arial"/>
              <a:cs typeface="Arial"/>
              <a:sym typeface="Arial"/>
            </a:endParaRPr>
          </a:p>
        </p:txBody>
      </p:sp>
      <p:sp>
        <p:nvSpPr>
          <p:cNvPr id="277" name="Google Shape;277;p39"/>
          <p:cNvSpPr txBox="1"/>
          <p:nvPr/>
        </p:nvSpPr>
        <p:spPr>
          <a:xfrm>
            <a:off x="7029637" y="2880360"/>
            <a:ext cx="1577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top-1 accuracy over row-major ordering on ImageNet-1K dataset.</a:t>
            </a:r>
            <a:endParaRPr b="0" i="0" sz="1100" u="none" cap="none" strike="noStrike">
              <a:solidFill>
                <a:srgbClr val="000000"/>
              </a:solidFill>
              <a:latin typeface="Arial"/>
              <a:ea typeface="Arial"/>
              <a:cs typeface="Arial"/>
              <a:sym typeface="Arial"/>
            </a:endParaRPr>
          </a:p>
        </p:txBody>
      </p:sp>
      <p:sp>
        <p:nvSpPr>
          <p:cNvPr id="278" name="Google Shape;278;p39"/>
          <p:cNvSpPr/>
          <p:nvPr/>
        </p:nvSpPr>
        <p:spPr>
          <a:xfrm>
            <a:off x="6926765" y="3463290"/>
            <a:ext cx="1783128" cy="973836"/>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79" name="Google Shape;279;p39"/>
          <p:cNvSpPr txBox="1"/>
          <p:nvPr/>
        </p:nvSpPr>
        <p:spPr>
          <a:xfrm>
            <a:off x="7029637" y="3531870"/>
            <a:ext cx="1577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chemeClr val="dk1"/>
                </a:solidFill>
                <a:latin typeface="Cambria"/>
                <a:ea typeface="Cambria"/>
                <a:cs typeface="Cambria"/>
                <a:sym typeface="Cambria"/>
              </a:rPr>
              <a:t>+13.35%</a:t>
            </a:r>
            <a:endParaRPr b="0" i="0" sz="1100" u="none" cap="none" strike="noStrike">
              <a:solidFill>
                <a:schemeClr val="dk1"/>
              </a:solidFill>
              <a:latin typeface="Arial"/>
              <a:ea typeface="Arial"/>
              <a:cs typeface="Arial"/>
              <a:sym typeface="Arial"/>
            </a:endParaRPr>
          </a:p>
        </p:txBody>
      </p:sp>
      <p:sp>
        <p:nvSpPr>
          <p:cNvPr id="280" name="Google Shape;280;p39"/>
          <p:cNvSpPr txBox="1"/>
          <p:nvPr/>
        </p:nvSpPr>
        <p:spPr>
          <a:xfrm>
            <a:off x="7029637" y="3977640"/>
            <a:ext cx="1577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top-1 accuracy over row-major ordering on </a:t>
            </a:r>
            <a:br>
              <a:rPr b="0" i="0" lang="it" sz="900" u="none" cap="none" strike="noStrike">
                <a:solidFill>
                  <a:srgbClr val="6B625A"/>
                </a:solidFill>
                <a:latin typeface="Calibri"/>
                <a:ea typeface="Calibri"/>
                <a:cs typeface="Calibri"/>
                <a:sym typeface="Calibri"/>
              </a:rPr>
            </a:br>
            <a:r>
              <a:rPr b="0" i="0" lang="it" sz="900" u="none" cap="none" strike="noStrike">
                <a:solidFill>
                  <a:srgbClr val="6B625A"/>
                </a:solidFill>
                <a:latin typeface="Calibri"/>
                <a:ea typeface="Calibri"/>
                <a:cs typeface="Calibri"/>
                <a:sym typeface="Calibri"/>
              </a:rPr>
              <a:t>fMoW dataset.</a:t>
            </a:r>
            <a:endParaRPr b="0" i="0" sz="1100" u="none" cap="none" strike="noStrike">
              <a:solidFill>
                <a:srgbClr val="000000"/>
              </a:solidFill>
              <a:latin typeface="Arial"/>
              <a:ea typeface="Arial"/>
              <a:cs typeface="Arial"/>
              <a:sym typeface="Arial"/>
            </a:endParaRPr>
          </a:p>
        </p:txBody>
      </p:sp>
      <p:sp>
        <p:nvSpPr>
          <p:cNvPr id="281" name="Google Shape;281;p39"/>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2" name="Google Shape;282;p39"/>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3</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40"/>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Three benchmark tasks of increasing difficulty</a:t>
            </a:r>
            <a:endParaRPr b="0" i="0" sz="1100" u="none" cap="none" strike="noStrike">
              <a:solidFill>
                <a:srgbClr val="000000"/>
              </a:solidFill>
              <a:latin typeface="Arial"/>
              <a:ea typeface="Arial"/>
              <a:cs typeface="Arial"/>
              <a:sym typeface="Arial"/>
            </a:endParaRPr>
          </a:p>
        </p:txBody>
      </p:sp>
      <p:sp>
        <p:nvSpPr>
          <p:cNvPr id="289" name="Google Shape;289;p40"/>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Same 4,000 Lichess puzzles rendered three ways; 400 held-out test samples per task</a:t>
            </a:r>
            <a:endParaRPr b="0" i="0" sz="1100" u="none" cap="none" strike="noStrike">
              <a:solidFill>
                <a:srgbClr val="000000"/>
              </a:solidFill>
              <a:latin typeface="Arial"/>
              <a:ea typeface="Arial"/>
              <a:cs typeface="Arial"/>
              <a:sym typeface="Arial"/>
            </a:endParaRPr>
          </a:p>
        </p:txBody>
      </p:sp>
      <p:sp>
        <p:nvSpPr>
          <p:cNvPr id="290" name="Google Shape;290;p40"/>
          <p:cNvSpPr/>
          <p:nvPr/>
        </p:nvSpPr>
        <p:spPr>
          <a:xfrm>
            <a:off x="411491" y="1234440"/>
            <a:ext cx="2674691" cy="318897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1" name="Google Shape;291;p40"/>
          <p:cNvSpPr txBox="1"/>
          <p:nvPr/>
        </p:nvSpPr>
        <p:spPr>
          <a:xfrm>
            <a:off x="548655" y="1316736"/>
            <a:ext cx="2400364"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ambria"/>
                <a:ea typeface="Cambria"/>
                <a:cs typeface="Cambria"/>
                <a:sym typeface="Cambria"/>
              </a:rPr>
              <a:t>Task 1 · Image → FEN</a:t>
            </a:r>
            <a:endParaRPr b="0" i="0" sz="1100" u="none" cap="none" strike="noStrike">
              <a:solidFill>
                <a:srgbClr val="000000"/>
              </a:solidFill>
              <a:latin typeface="Arial"/>
              <a:ea typeface="Arial"/>
              <a:cs typeface="Arial"/>
              <a:sym typeface="Arial"/>
            </a:endParaRPr>
          </a:p>
        </p:txBody>
      </p:sp>
      <p:pic>
        <p:nvPicPr>
          <p:cNvPr descr="board.png" id="292" name="Google Shape;292;p40"/>
          <p:cNvPicPr preferRelativeResize="0"/>
          <p:nvPr/>
        </p:nvPicPr>
        <p:blipFill rotWithShape="1">
          <a:blip r:embed="rId3">
            <a:alphaModFix/>
          </a:blip>
          <a:srcRect b="0" l="0" r="0" t="0"/>
          <a:stretch/>
        </p:blipFill>
        <p:spPr>
          <a:xfrm>
            <a:off x="960146" y="1680210"/>
            <a:ext cx="1577340" cy="1577340"/>
          </a:xfrm>
          <a:prstGeom prst="rect">
            <a:avLst/>
          </a:prstGeom>
          <a:noFill/>
          <a:ln>
            <a:noFill/>
          </a:ln>
        </p:spPr>
      </p:pic>
      <p:sp>
        <p:nvSpPr>
          <p:cNvPr id="293" name="Google Shape;293;p40"/>
          <p:cNvSpPr txBox="1"/>
          <p:nvPr/>
        </p:nvSpPr>
        <p:spPr>
          <a:xfrm>
            <a:off x="548655" y="3394710"/>
            <a:ext cx="2400364"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Reconstruct the full board state</a:t>
            </a:r>
            <a:endParaRPr b="0" i="0" sz="1100" u="none" cap="none" strike="noStrike">
              <a:solidFill>
                <a:srgbClr val="000000"/>
              </a:solidFill>
              <a:latin typeface="Arial"/>
              <a:ea typeface="Arial"/>
              <a:cs typeface="Arial"/>
              <a:sym typeface="Arial"/>
            </a:endParaRPr>
          </a:p>
        </p:txBody>
      </p:sp>
      <p:sp>
        <p:nvSpPr>
          <p:cNvPr id="294" name="Google Shape;294;p40"/>
          <p:cNvSpPr txBox="1"/>
          <p:nvPr/>
        </p:nvSpPr>
        <p:spPr>
          <a:xfrm>
            <a:off x="548655" y="3909060"/>
            <a:ext cx="2400364" cy="6515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Board exact match</a:t>
            </a:r>
            <a:endParaRPr b="0" i="0" sz="1100" u="none" cap="none" strike="noStrike">
              <a:solidFill>
                <a:srgbClr val="000000"/>
              </a:solidFill>
              <a:latin typeface="Arial"/>
              <a:ea typeface="Arial"/>
              <a:cs typeface="Arial"/>
              <a:sym typeface="Arial"/>
            </a:endParaRPr>
          </a:p>
        </p:txBody>
      </p:sp>
      <p:sp>
        <p:nvSpPr>
          <p:cNvPr id="295" name="Google Shape;295;p40"/>
          <p:cNvSpPr/>
          <p:nvPr/>
        </p:nvSpPr>
        <p:spPr>
          <a:xfrm>
            <a:off x="3223345" y="1234440"/>
            <a:ext cx="2674691" cy="318897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6" name="Google Shape;296;p40"/>
          <p:cNvSpPr txBox="1"/>
          <p:nvPr/>
        </p:nvSpPr>
        <p:spPr>
          <a:xfrm>
            <a:off x="3360509" y="1316736"/>
            <a:ext cx="2400364"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ambria"/>
                <a:ea typeface="Cambria"/>
                <a:cs typeface="Cambria"/>
                <a:sym typeface="Cambria"/>
              </a:rPr>
              <a:t>Task 2 · Highlighted move</a:t>
            </a:r>
            <a:endParaRPr b="0" i="0" sz="1100" u="none" cap="none" strike="noStrike">
              <a:solidFill>
                <a:srgbClr val="000000"/>
              </a:solidFill>
              <a:latin typeface="Arial"/>
              <a:ea typeface="Arial"/>
              <a:cs typeface="Arial"/>
              <a:sym typeface="Arial"/>
            </a:endParaRPr>
          </a:p>
        </p:txBody>
      </p:sp>
      <p:pic>
        <p:nvPicPr>
          <p:cNvPr descr="board.png" id="297" name="Google Shape;297;p40"/>
          <p:cNvPicPr preferRelativeResize="0"/>
          <p:nvPr/>
        </p:nvPicPr>
        <p:blipFill rotWithShape="1">
          <a:blip r:embed="rId4">
            <a:alphaModFix/>
          </a:blip>
          <a:srcRect b="0" l="0" r="0" t="0"/>
          <a:stretch/>
        </p:blipFill>
        <p:spPr>
          <a:xfrm>
            <a:off x="3772000" y="1680210"/>
            <a:ext cx="1577340" cy="1577340"/>
          </a:xfrm>
          <a:prstGeom prst="rect">
            <a:avLst/>
          </a:prstGeom>
          <a:noFill/>
          <a:ln>
            <a:noFill/>
          </a:ln>
        </p:spPr>
      </p:pic>
      <p:sp>
        <p:nvSpPr>
          <p:cNvPr id="298" name="Google Shape;298;p40"/>
          <p:cNvSpPr txBox="1"/>
          <p:nvPr/>
        </p:nvSpPr>
        <p:spPr>
          <a:xfrm>
            <a:off x="3360509" y="3394710"/>
            <a:ext cx="2400364"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Name the last move from the highlighted from/to squares</a:t>
            </a:r>
            <a:endParaRPr b="0" i="0" sz="1100" u="none" cap="none" strike="noStrike">
              <a:solidFill>
                <a:srgbClr val="000000"/>
              </a:solidFill>
              <a:latin typeface="Arial"/>
              <a:ea typeface="Arial"/>
              <a:cs typeface="Arial"/>
              <a:sym typeface="Arial"/>
            </a:endParaRPr>
          </a:p>
        </p:txBody>
      </p:sp>
      <p:sp>
        <p:nvSpPr>
          <p:cNvPr id="299" name="Google Shape;299;p40"/>
          <p:cNvSpPr txBox="1"/>
          <p:nvPr/>
        </p:nvSpPr>
        <p:spPr>
          <a:xfrm>
            <a:off x="3360509" y="3909060"/>
            <a:ext cx="2400364" cy="6515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Exact match on SAN (e.g. Bxe4)</a:t>
            </a:r>
            <a:endParaRPr b="0" i="0" sz="1100" u="none" cap="none" strike="noStrike">
              <a:solidFill>
                <a:srgbClr val="000000"/>
              </a:solidFill>
              <a:latin typeface="Arial"/>
              <a:ea typeface="Arial"/>
              <a:cs typeface="Arial"/>
              <a:sym typeface="Arial"/>
            </a:endParaRPr>
          </a:p>
        </p:txBody>
      </p:sp>
      <p:sp>
        <p:nvSpPr>
          <p:cNvPr id="300" name="Google Shape;300;p40"/>
          <p:cNvSpPr/>
          <p:nvPr/>
        </p:nvSpPr>
        <p:spPr>
          <a:xfrm>
            <a:off x="6035200" y="1234440"/>
            <a:ext cx="2674691" cy="318897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1" name="Google Shape;301;p40"/>
          <p:cNvSpPr txBox="1"/>
          <p:nvPr/>
        </p:nvSpPr>
        <p:spPr>
          <a:xfrm>
            <a:off x="6172364" y="1316736"/>
            <a:ext cx="2400364"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ambria"/>
                <a:ea typeface="Cambria"/>
                <a:cs typeface="Cambria"/>
                <a:sym typeface="Cambria"/>
              </a:rPr>
              <a:t>Task 3 · Two-frame delta</a:t>
            </a:r>
            <a:endParaRPr b="0" i="0" sz="1100" u="none" cap="none" strike="noStrike">
              <a:solidFill>
                <a:srgbClr val="000000"/>
              </a:solidFill>
              <a:latin typeface="Arial"/>
              <a:ea typeface="Arial"/>
              <a:cs typeface="Arial"/>
              <a:sym typeface="Arial"/>
            </a:endParaRPr>
          </a:p>
        </p:txBody>
      </p:sp>
      <p:pic>
        <p:nvPicPr>
          <p:cNvPr descr="board.png" id="302" name="Google Shape;302;p40"/>
          <p:cNvPicPr preferRelativeResize="0"/>
          <p:nvPr/>
        </p:nvPicPr>
        <p:blipFill rotWithShape="1">
          <a:blip r:embed="rId3">
            <a:alphaModFix/>
          </a:blip>
          <a:srcRect b="0" l="0" r="0" t="0"/>
          <a:stretch/>
        </p:blipFill>
        <p:spPr>
          <a:xfrm>
            <a:off x="6172364" y="1954530"/>
            <a:ext cx="1131570" cy="1131570"/>
          </a:xfrm>
          <a:prstGeom prst="rect">
            <a:avLst/>
          </a:prstGeom>
          <a:noFill/>
          <a:ln>
            <a:noFill/>
          </a:ln>
        </p:spPr>
      </p:pic>
      <p:pic>
        <p:nvPicPr>
          <p:cNvPr descr="board_t_plus_1.png" id="303" name="Google Shape;303;p40"/>
          <p:cNvPicPr preferRelativeResize="0"/>
          <p:nvPr/>
        </p:nvPicPr>
        <p:blipFill rotWithShape="1">
          <a:blip r:embed="rId5">
            <a:alphaModFix/>
          </a:blip>
          <a:srcRect b="0" l="0" r="0" t="0"/>
          <a:stretch/>
        </p:blipFill>
        <p:spPr>
          <a:xfrm>
            <a:off x="7441128" y="1954530"/>
            <a:ext cx="1131570" cy="1131570"/>
          </a:xfrm>
          <a:prstGeom prst="rect">
            <a:avLst/>
          </a:prstGeom>
          <a:noFill/>
          <a:ln>
            <a:noFill/>
          </a:ln>
        </p:spPr>
      </p:pic>
      <p:sp>
        <p:nvSpPr>
          <p:cNvPr id="304" name="Google Shape;304;p40"/>
          <p:cNvSpPr txBox="1"/>
          <p:nvPr/>
        </p:nvSpPr>
        <p:spPr>
          <a:xfrm>
            <a:off x="6172364" y="3086100"/>
            <a:ext cx="1131600" cy="2057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t</a:t>
            </a:r>
            <a:endParaRPr b="0" i="0" sz="1100" u="none" cap="none" strike="noStrike">
              <a:solidFill>
                <a:srgbClr val="000000"/>
              </a:solidFill>
              <a:latin typeface="Arial"/>
              <a:ea typeface="Arial"/>
              <a:cs typeface="Arial"/>
              <a:sym typeface="Arial"/>
            </a:endParaRPr>
          </a:p>
        </p:txBody>
      </p:sp>
      <p:sp>
        <p:nvSpPr>
          <p:cNvPr id="305" name="Google Shape;305;p40"/>
          <p:cNvSpPr txBox="1"/>
          <p:nvPr/>
        </p:nvSpPr>
        <p:spPr>
          <a:xfrm>
            <a:off x="7441128" y="3086100"/>
            <a:ext cx="1131600" cy="2057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t+1</a:t>
            </a:r>
            <a:endParaRPr b="0" i="0" sz="1100" u="none" cap="none" strike="noStrike">
              <a:solidFill>
                <a:srgbClr val="000000"/>
              </a:solidFill>
              <a:latin typeface="Arial"/>
              <a:ea typeface="Arial"/>
              <a:cs typeface="Arial"/>
              <a:sym typeface="Arial"/>
            </a:endParaRPr>
          </a:p>
        </p:txBody>
      </p:sp>
      <p:sp>
        <p:nvSpPr>
          <p:cNvPr id="306" name="Google Shape;306;p40"/>
          <p:cNvSpPr txBox="1"/>
          <p:nvPr/>
        </p:nvSpPr>
        <p:spPr>
          <a:xfrm>
            <a:off x="6172364" y="3394710"/>
            <a:ext cx="2400364"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Infer the move between state t and state t+1</a:t>
            </a:r>
            <a:endParaRPr b="0" i="0" sz="1100" u="none" cap="none" strike="noStrike">
              <a:solidFill>
                <a:srgbClr val="000000"/>
              </a:solidFill>
              <a:latin typeface="Arial"/>
              <a:ea typeface="Arial"/>
              <a:cs typeface="Arial"/>
              <a:sym typeface="Arial"/>
            </a:endParaRPr>
          </a:p>
        </p:txBody>
      </p:sp>
      <p:sp>
        <p:nvSpPr>
          <p:cNvPr id="307" name="Google Shape;307;p40"/>
          <p:cNvSpPr txBox="1"/>
          <p:nvPr/>
        </p:nvSpPr>
        <p:spPr>
          <a:xfrm>
            <a:off x="6172364" y="3909060"/>
            <a:ext cx="2400364" cy="6515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Exact match on SAN</a:t>
            </a:r>
            <a:endParaRPr b="0" i="0" sz="1100" u="none" cap="none" strike="noStrike">
              <a:solidFill>
                <a:srgbClr val="000000"/>
              </a:solidFill>
              <a:latin typeface="Arial"/>
              <a:ea typeface="Arial"/>
              <a:cs typeface="Arial"/>
              <a:sym typeface="Arial"/>
            </a:endParaRPr>
          </a:p>
        </p:txBody>
      </p:sp>
      <p:sp>
        <p:nvSpPr>
          <p:cNvPr id="308" name="Google Shape;308;p40"/>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9" name="Google Shape;309;p40"/>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4</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41"/>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Five fixed scan orders over the 64 squares</a:t>
            </a:r>
            <a:endParaRPr b="0" i="0" sz="1100" u="none" cap="none" strike="noStrike">
              <a:solidFill>
                <a:srgbClr val="000000"/>
              </a:solidFill>
              <a:latin typeface="Arial"/>
              <a:ea typeface="Arial"/>
              <a:cs typeface="Arial"/>
              <a:sym typeface="Arial"/>
            </a:endParaRPr>
          </a:p>
        </p:txBody>
      </p:sp>
      <p:sp>
        <p:nvSpPr>
          <p:cNvPr id="316" name="Google Shape;316;p41"/>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Reordering acts on visual tokens inside the model: embeddings and their M-RoPE positions move together</a:t>
            </a:r>
            <a:endParaRPr b="0" i="0" sz="1100" u="none" cap="none" strike="noStrike">
              <a:solidFill>
                <a:srgbClr val="000000"/>
              </a:solidFill>
              <a:latin typeface="Arial"/>
              <a:ea typeface="Arial"/>
              <a:cs typeface="Arial"/>
              <a:sym typeface="Arial"/>
            </a:endParaRPr>
          </a:p>
        </p:txBody>
      </p:sp>
      <p:sp>
        <p:nvSpPr>
          <p:cNvPr id="317" name="Google Shape;317;p41"/>
          <p:cNvSpPr/>
          <p:nvPr/>
        </p:nvSpPr>
        <p:spPr>
          <a:xfrm>
            <a:off x="411491" y="1337310"/>
            <a:ext cx="185171" cy="185166"/>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8" name="Google Shape;318;p41"/>
          <p:cNvSpPr/>
          <p:nvPr/>
        </p:nvSpPr>
        <p:spPr>
          <a:xfrm>
            <a:off x="467042" y="1392859"/>
            <a:ext cx="74068" cy="74066"/>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9" name="Google Shape;319;p41"/>
          <p:cNvSpPr/>
          <p:nvPr/>
        </p:nvSpPr>
        <p:spPr>
          <a:xfrm>
            <a:off x="596662" y="1337310"/>
            <a:ext cx="185171" cy="185166"/>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0" name="Google Shape;320;p41"/>
          <p:cNvSpPr/>
          <p:nvPr/>
        </p:nvSpPr>
        <p:spPr>
          <a:xfrm>
            <a:off x="781833" y="1337310"/>
            <a:ext cx="185171" cy="185166"/>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1" name="Google Shape;321;p41"/>
          <p:cNvSpPr/>
          <p:nvPr/>
        </p:nvSpPr>
        <p:spPr>
          <a:xfrm>
            <a:off x="967004" y="1337310"/>
            <a:ext cx="185171" cy="185166"/>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2" name="Google Shape;322;p41"/>
          <p:cNvSpPr/>
          <p:nvPr/>
        </p:nvSpPr>
        <p:spPr>
          <a:xfrm>
            <a:off x="1152175" y="1337310"/>
            <a:ext cx="185171" cy="185166"/>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3" name="Google Shape;323;p41"/>
          <p:cNvSpPr/>
          <p:nvPr/>
        </p:nvSpPr>
        <p:spPr>
          <a:xfrm>
            <a:off x="1337346" y="1337310"/>
            <a:ext cx="185171" cy="185166"/>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4" name="Google Shape;324;p41"/>
          <p:cNvSpPr/>
          <p:nvPr/>
        </p:nvSpPr>
        <p:spPr>
          <a:xfrm>
            <a:off x="1522517" y="1337310"/>
            <a:ext cx="185171" cy="185166"/>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5" name="Google Shape;325;p41"/>
          <p:cNvSpPr/>
          <p:nvPr/>
        </p:nvSpPr>
        <p:spPr>
          <a:xfrm>
            <a:off x="1707688" y="1337310"/>
            <a:ext cx="185171" cy="185166"/>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6" name="Google Shape;326;p41"/>
          <p:cNvSpPr/>
          <p:nvPr/>
        </p:nvSpPr>
        <p:spPr>
          <a:xfrm>
            <a:off x="411491" y="1522475"/>
            <a:ext cx="185171" cy="185166"/>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7" name="Google Shape;327;p41"/>
          <p:cNvSpPr/>
          <p:nvPr/>
        </p:nvSpPr>
        <p:spPr>
          <a:xfrm>
            <a:off x="596662" y="1522475"/>
            <a:ext cx="185171" cy="185166"/>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8" name="Google Shape;328;p41"/>
          <p:cNvSpPr/>
          <p:nvPr/>
        </p:nvSpPr>
        <p:spPr>
          <a:xfrm>
            <a:off x="781833" y="1522475"/>
            <a:ext cx="185171" cy="185166"/>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9" name="Google Shape;329;p41"/>
          <p:cNvSpPr/>
          <p:nvPr/>
        </p:nvSpPr>
        <p:spPr>
          <a:xfrm>
            <a:off x="967004" y="1522475"/>
            <a:ext cx="185171" cy="185166"/>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0" name="Google Shape;330;p41"/>
          <p:cNvSpPr/>
          <p:nvPr/>
        </p:nvSpPr>
        <p:spPr>
          <a:xfrm>
            <a:off x="1152175" y="1522475"/>
            <a:ext cx="185171" cy="185166"/>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1" name="Google Shape;331;p41"/>
          <p:cNvSpPr/>
          <p:nvPr/>
        </p:nvSpPr>
        <p:spPr>
          <a:xfrm>
            <a:off x="1337346" y="1522475"/>
            <a:ext cx="185171" cy="185166"/>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2" name="Google Shape;332;p41"/>
          <p:cNvSpPr/>
          <p:nvPr/>
        </p:nvSpPr>
        <p:spPr>
          <a:xfrm>
            <a:off x="1522517" y="1522475"/>
            <a:ext cx="185171" cy="185166"/>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3" name="Google Shape;333;p41"/>
          <p:cNvSpPr/>
          <p:nvPr/>
        </p:nvSpPr>
        <p:spPr>
          <a:xfrm>
            <a:off x="1707688" y="1522475"/>
            <a:ext cx="185171" cy="185166"/>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4" name="Google Shape;334;p41"/>
          <p:cNvSpPr/>
          <p:nvPr/>
        </p:nvSpPr>
        <p:spPr>
          <a:xfrm>
            <a:off x="411491" y="1707642"/>
            <a:ext cx="185171" cy="185166"/>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5" name="Google Shape;335;p41"/>
          <p:cNvSpPr/>
          <p:nvPr/>
        </p:nvSpPr>
        <p:spPr>
          <a:xfrm>
            <a:off x="596662" y="1707642"/>
            <a:ext cx="185171" cy="185166"/>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6" name="Google Shape;336;p41"/>
          <p:cNvSpPr/>
          <p:nvPr/>
        </p:nvSpPr>
        <p:spPr>
          <a:xfrm>
            <a:off x="781833" y="1707642"/>
            <a:ext cx="185171" cy="185166"/>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7" name="Google Shape;337;p41"/>
          <p:cNvSpPr/>
          <p:nvPr/>
        </p:nvSpPr>
        <p:spPr>
          <a:xfrm>
            <a:off x="967004" y="1707642"/>
            <a:ext cx="185171" cy="185166"/>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8" name="Google Shape;338;p41"/>
          <p:cNvSpPr/>
          <p:nvPr/>
        </p:nvSpPr>
        <p:spPr>
          <a:xfrm>
            <a:off x="1152175" y="1707642"/>
            <a:ext cx="185171" cy="185166"/>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39" name="Google Shape;339;p41"/>
          <p:cNvSpPr/>
          <p:nvPr/>
        </p:nvSpPr>
        <p:spPr>
          <a:xfrm>
            <a:off x="1337346" y="1707642"/>
            <a:ext cx="185171" cy="185166"/>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0" name="Google Shape;340;p41"/>
          <p:cNvSpPr/>
          <p:nvPr/>
        </p:nvSpPr>
        <p:spPr>
          <a:xfrm>
            <a:off x="1522517" y="1707642"/>
            <a:ext cx="185171" cy="185166"/>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1" name="Google Shape;341;p41"/>
          <p:cNvSpPr/>
          <p:nvPr/>
        </p:nvSpPr>
        <p:spPr>
          <a:xfrm>
            <a:off x="1707688" y="1707642"/>
            <a:ext cx="185171" cy="185166"/>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2" name="Google Shape;342;p41"/>
          <p:cNvSpPr/>
          <p:nvPr/>
        </p:nvSpPr>
        <p:spPr>
          <a:xfrm>
            <a:off x="411491" y="1892808"/>
            <a:ext cx="185171" cy="185166"/>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3" name="Google Shape;343;p41"/>
          <p:cNvSpPr/>
          <p:nvPr/>
        </p:nvSpPr>
        <p:spPr>
          <a:xfrm>
            <a:off x="596662" y="1892808"/>
            <a:ext cx="185171" cy="185166"/>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4" name="Google Shape;344;p41"/>
          <p:cNvSpPr/>
          <p:nvPr/>
        </p:nvSpPr>
        <p:spPr>
          <a:xfrm>
            <a:off x="781833" y="1892808"/>
            <a:ext cx="185171" cy="185166"/>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5" name="Google Shape;345;p41"/>
          <p:cNvSpPr/>
          <p:nvPr/>
        </p:nvSpPr>
        <p:spPr>
          <a:xfrm>
            <a:off x="967004" y="1892808"/>
            <a:ext cx="185171" cy="185166"/>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6" name="Google Shape;346;p41"/>
          <p:cNvSpPr/>
          <p:nvPr/>
        </p:nvSpPr>
        <p:spPr>
          <a:xfrm>
            <a:off x="1152175" y="1892808"/>
            <a:ext cx="185171" cy="185166"/>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7" name="Google Shape;347;p41"/>
          <p:cNvSpPr/>
          <p:nvPr/>
        </p:nvSpPr>
        <p:spPr>
          <a:xfrm>
            <a:off x="1337346" y="1892808"/>
            <a:ext cx="185171" cy="185166"/>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8" name="Google Shape;348;p41"/>
          <p:cNvSpPr/>
          <p:nvPr/>
        </p:nvSpPr>
        <p:spPr>
          <a:xfrm>
            <a:off x="1522517" y="1892808"/>
            <a:ext cx="185171" cy="185166"/>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9" name="Google Shape;349;p41"/>
          <p:cNvSpPr/>
          <p:nvPr/>
        </p:nvSpPr>
        <p:spPr>
          <a:xfrm>
            <a:off x="1707688" y="1892808"/>
            <a:ext cx="185171" cy="185166"/>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0" name="Google Shape;350;p41"/>
          <p:cNvSpPr/>
          <p:nvPr/>
        </p:nvSpPr>
        <p:spPr>
          <a:xfrm>
            <a:off x="411491" y="2077974"/>
            <a:ext cx="185171" cy="185166"/>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1" name="Google Shape;351;p41"/>
          <p:cNvSpPr/>
          <p:nvPr/>
        </p:nvSpPr>
        <p:spPr>
          <a:xfrm>
            <a:off x="596662" y="2077974"/>
            <a:ext cx="185171" cy="185166"/>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2" name="Google Shape;352;p41"/>
          <p:cNvSpPr/>
          <p:nvPr/>
        </p:nvSpPr>
        <p:spPr>
          <a:xfrm>
            <a:off x="781833" y="2077974"/>
            <a:ext cx="185171" cy="185166"/>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3" name="Google Shape;353;p41"/>
          <p:cNvSpPr/>
          <p:nvPr/>
        </p:nvSpPr>
        <p:spPr>
          <a:xfrm>
            <a:off x="967004" y="2077974"/>
            <a:ext cx="185171" cy="185166"/>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4" name="Google Shape;354;p41"/>
          <p:cNvSpPr/>
          <p:nvPr/>
        </p:nvSpPr>
        <p:spPr>
          <a:xfrm>
            <a:off x="1152175" y="2077974"/>
            <a:ext cx="185171" cy="185166"/>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5" name="Google Shape;355;p41"/>
          <p:cNvSpPr/>
          <p:nvPr/>
        </p:nvSpPr>
        <p:spPr>
          <a:xfrm>
            <a:off x="1337346" y="2077974"/>
            <a:ext cx="185171" cy="185166"/>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6" name="Google Shape;356;p41"/>
          <p:cNvSpPr/>
          <p:nvPr/>
        </p:nvSpPr>
        <p:spPr>
          <a:xfrm>
            <a:off x="1522517" y="2077974"/>
            <a:ext cx="185171" cy="185166"/>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7" name="Google Shape;357;p41"/>
          <p:cNvSpPr/>
          <p:nvPr/>
        </p:nvSpPr>
        <p:spPr>
          <a:xfrm>
            <a:off x="1707688" y="2077974"/>
            <a:ext cx="185171" cy="185166"/>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8" name="Google Shape;358;p41"/>
          <p:cNvSpPr/>
          <p:nvPr/>
        </p:nvSpPr>
        <p:spPr>
          <a:xfrm>
            <a:off x="411491" y="2263140"/>
            <a:ext cx="185171" cy="185166"/>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9" name="Google Shape;359;p41"/>
          <p:cNvSpPr/>
          <p:nvPr/>
        </p:nvSpPr>
        <p:spPr>
          <a:xfrm>
            <a:off x="596662" y="2263140"/>
            <a:ext cx="185171" cy="185166"/>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0" name="Google Shape;360;p41"/>
          <p:cNvSpPr/>
          <p:nvPr/>
        </p:nvSpPr>
        <p:spPr>
          <a:xfrm>
            <a:off x="781833" y="2263140"/>
            <a:ext cx="185171" cy="185166"/>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1" name="Google Shape;361;p41"/>
          <p:cNvSpPr/>
          <p:nvPr/>
        </p:nvSpPr>
        <p:spPr>
          <a:xfrm>
            <a:off x="967004" y="2263140"/>
            <a:ext cx="185171" cy="185166"/>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2" name="Google Shape;362;p41"/>
          <p:cNvSpPr/>
          <p:nvPr/>
        </p:nvSpPr>
        <p:spPr>
          <a:xfrm>
            <a:off x="1152175" y="2263140"/>
            <a:ext cx="185171" cy="185166"/>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3" name="Google Shape;363;p41"/>
          <p:cNvSpPr/>
          <p:nvPr/>
        </p:nvSpPr>
        <p:spPr>
          <a:xfrm>
            <a:off x="1337346" y="2263140"/>
            <a:ext cx="185171" cy="185166"/>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4" name="Google Shape;364;p41"/>
          <p:cNvSpPr/>
          <p:nvPr/>
        </p:nvSpPr>
        <p:spPr>
          <a:xfrm>
            <a:off x="1522517" y="2263140"/>
            <a:ext cx="185171" cy="185166"/>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5" name="Google Shape;365;p41"/>
          <p:cNvSpPr/>
          <p:nvPr/>
        </p:nvSpPr>
        <p:spPr>
          <a:xfrm>
            <a:off x="1707688" y="2263140"/>
            <a:ext cx="185171" cy="185166"/>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6" name="Google Shape;366;p41"/>
          <p:cNvSpPr/>
          <p:nvPr/>
        </p:nvSpPr>
        <p:spPr>
          <a:xfrm>
            <a:off x="411491" y="2448306"/>
            <a:ext cx="185171" cy="185166"/>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7" name="Google Shape;367;p41"/>
          <p:cNvSpPr/>
          <p:nvPr/>
        </p:nvSpPr>
        <p:spPr>
          <a:xfrm>
            <a:off x="596662" y="2448306"/>
            <a:ext cx="185171" cy="185166"/>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8" name="Google Shape;368;p41"/>
          <p:cNvSpPr/>
          <p:nvPr/>
        </p:nvSpPr>
        <p:spPr>
          <a:xfrm>
            <a:off x="781833" y="2448306"/>
            <a:ext cx="185171" cy="185166"/>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9" name="Google Shape;369;p41"/>
          <p:cNvSpPr/>
          <p:nvPr/>
        </p:nvSpPr>
        <p:spPr>
          <a:xfrm>
            <a:off x="967004" y="2448306"/>
            <a:ext cx="185171" cy="185166"/>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0" name="Google Shape;370;p41"/>
          <p:cNvSpPr/>
          <p:nvPr/>
        </p:nvSpPr>
        <p:spPr>
          <a:xfrm>
            <a:off x="1152175" y="2448306"/>
            <a:ext cx="185171" cy="185166"/>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1" name="Google Shape;371;p41"/>
          <p:cNvSpPr/>
          <p:nvPr/>
        </p:nvSpPr>
        <p:spPr>
          <a:xfrm>
            <a:off x="1337346" y="2448306"/>
            <a:ext cx="185171" cy="185166"/>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2" name="Google Shape;372;p41"/>
          <p:cNvSpPr/>
          <p:nvPr/>
        </p:nvSpPr>
        <p:spPr>
          <a:xfrm>
            <a:off x="1522517" y="2448306"/>
            <a:ext cx="185171" cy="185166"/>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3" name="Google Shape;373;p41"/>
          <p:cNvSpPr/>
          <p:nvPr/>
        </p:nvSpPr>
        <p:spPr>
          <a:xfrm>
            <a:off x="1707688" y="2448306"/>
            <a:ext cx="185171" cy="185166"/>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4" name="Google Shape;374;p41"/>
          <p:cNvSpPr/>
          <p:nvPr/>
        </p:nvSpPr>
        <p:spPr>
          <a:xfrm>
            <a:off x="411491" y="2633472"/>
            <a:ext cx="185171" cy="185166"/>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5" name="Google Shape;375;p41"/>
          <p:cNvSpPr/>
          <p:nvPr/>
        </p:nvSpPr>
        <p:spPr>
          <a:xfrm>
            <a:off x="596662" y="2633472"/>
            <a:ext cx="185171" cy="185166"/>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6" name="Google Shape;376;p41"/>
          <p:cNvSpPr/>
          <p:nvPr/>
        </p:nvSpPr>
        <p:spPr>
          <a:xfrm>
            <a:off x="781833" y="2633472"/>
            <a:ext cx="185171" cy="185166"/>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7" name="Google Shape;377;p41"/>
          <p:cNvSpPr/>
          <p:nvPr/>
        </p:nvSpPr>
        <p:spPr>
          <a:xfrm>
            <a:off x="967004" y="2633472"/>
            <a:ext cx="185171" cy="185166"/>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8" name="Google Shape;378;p41"/>
          <p:cNvSpPr/>
          <p:nvPr/>
        </p:nvSpPr>
        <p:spPr>
          <a:xfrm>
            <a:off x="1152175" y="2633472"/>
            <a:ext cx="185171" cy="185166"/>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9" name="Google Shape;379;p41"/>
          <p:cNvSpPr/>
          <p:nvPr/>
        </p:nvSpPr>
        <p:spPr>
          <a:xfrm>
            <a:off x="1337346" y="2633472"/>
            <a:ext cx="185171" cy="185166"/>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0" name="Google Shape;380;p41"/>
          <p:cNvSpPr/>
          <p:nvPr/>
        </p:nvSpPr>
        <p:spPr>
          <a:xfrm>
            <a:off x="1522517" y="2633472"/>
            <a:ext cx="185171" cy="185166"/>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1" name="Google Shape;381;p41"/>
          <p:cNvSpPr/>
          <p:nvPr/>
        </p:nvSpPr>
        <p:spPr>
          <a:xfrm>
            <a:off x="1707688" y="2633472"/>
            <a:ext cx="185171" cy="185166"/>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2" name="Google Shape;382;p41"/>
          <p:cNvSpPr txBox="1"/>
          <p:nvPr/>
        </p:nvSpPr>
        <p:spPr>
          <a:xfrm>
            <a:off x="342909" y="2873502"/>
            <a:ext cx="1618531"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Raster</a:t>
            </a:r>
            <a:endParaRPr b="0" i="0" sz="1100" u="none" cap="none" strike="noStrike">
              <a:solidFill>
                <a:srgbClr val="000000"/>
              </a:solidFill>
              <a:latin typeface="Arial"/>
              <a:ea typeface="Arial"/>
              <a:cs typeface="Arial"/>
              <a:sym typeface="Arial"/>
            </a:endParaRPr>
          </a:p>
        </p:txBody>
      </p:sp>
      <p:sp>
        <p:nvSpPr>
          <p:cNvPr id="383" name="Google Shape;383;p41"/>
          <p:cNvSpPr/>
          <p:nvPr/>
        </p:nvSpPr>
        <p:spPr>
          <a:xfrm>
            <a:off x="2120893" y="1337310"/>
            <a:ext cx="185171" cy="185166"/>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4" name="Google Shape;384;p41"/>
          <p:cNvSpPr/>
          <p:nvPr/>
        </p:nvSpPr>
        <p:spPr>
          <a:xfrm>
            <a:off x="2176444" y="1392859"/>
            <a:ext cx="74068" cy="74066"/>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5" name="Google Shape;385;p41"/>
          <p:cNvSpPr/>
          <p:nvPr/>
        </p:nvSpPr>
        <p:spPr>
          <a:xfrm>
            <a:off x="2306064" y="1337310"/>
            <a:ext cx="185171" cy="185166"/>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6" name="Google Shape;386;p41"/>
          <p:cNvSpPr/>
          <p:nvPr/>
        </p:nvSpPr>
        <p:spPr>
          <a:xfrm>
            <a:off x="2491235" y="1337310"/>
            <a:ext cx="185171" cy="185166"/>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7" name="Google Shape;387;p41"/>
          <p:cNvSpPr/>
          <p:nvPr/>
        </p:nvSpPr>
        <p:spPr>
          <a:xfrm>
            <a:off x="2676406" y="1337310"/>
            <a:ext cx="185171" cy="185166"/>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8" name="Google Shape;388;p41"/>
          <p:cNvSpPr/>
          <p:nvPr/>
        </p:nvSpPr>
        <p:spPr>
          <a:xfrm>
            <a:off x="2861577" y="1337310"/>
            <a:ext cx="185171" cy="185166"/>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9" name="Google Shape;389;p41"/>
          <p:cNvSpPr/>
          <p:nvPr/>
        </p:nvSpPr>
        <p:spPr>
          <a:xfrm>
            <a:off x="3046748" y="1337310"/>
            <a:ext cx="185171" cy="185166"/>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0" name="Google Shape;390;p41"/>
          <p:cNvSpPr/>
          <p:nvPr/>
        </p:nvSpPr>
        <p:spPr>
          <a:xfrm>
            <a:off x="3231919" y="1337310"/>
            <a:ext cx="185171" cy="185166"/>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1" name="Google Shape;391;p41"/>
          <p:cNvSpPr/>
          <p:nvPr/>
        </p:nvSpPr>
        <p:spPr>
          <a:xfrm>
            <a:off x="3417090" y="1337310"/>
            <a:ext cx="185171" cy="185166"/>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2" name="Google Shape;392;p41"/>
          <p:cNvSpPr/>
          <p:nvPr/>
        </p:nvSpPr>
        <p:spPr>
          <a:xfrm>
            <a:off x="2120893" y="1522475"/>
            <a:ext cx="185171" cy="185166"/>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3" name="Google Shape;393;p41"/>
          <p:cNvSpPr/>
          <p:nvPr/>
        </p:nvSpPr>
        <p:spPr>
          <a:xfrm>
            <a:off x="2306064" y="1522475"/>
            <a:ext cx="185171" cy="185166"/>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4" name="Google Shape;394;p41"/>
          <p:cNvSpPr/>
          <p:nvPr/>
        </p:nvSpPr>
        <p:spPr>
          <a:xfrm>
            <a:off x="2491235" y="1522475"/>
            <a:ext cx="185171" cy="185166"/>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5" name="Google Shape;395;p41"/>
          <p:cNvSpPr/>
          <p:nvPr/>
        </p:nvSpPr>
        <p:spPr>
          <a:xfrm>
            <a:off x="2676406" y="1522475"/>
            <a:ext cx="185171" cy="185166"/>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6" name="Google Shape;396;p41"/>
          <p:cNvSpPr/>
          <p:nvPr/>
        </p:nvSpPr>
        <p:spPr>
          <a:xfrm>
            <a:off x="2861577" y="1522475"/>
            <a:ext cx="185171" cy="185166"/>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7" name="Google Shape;397;p41"/>
          <p:cNvSpPr/>
          <p:nvPr/>
        </p:nvSpPr>
        <p:spPr>
          <a:xfrm>
            <a:off x="3046748" y="1522475"/>
            <a:ext cx="185171" cy="185166"/>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8" name="Google Shape;398;p41"/>
          <p:cNvSpPr/>
          <p:nvPr/>
        </p:nvSpPr>
        <p:spPr>
          <a:xfrm>
            <a:off x="3231919" y="1522475"/>
            <a:ext cx="185171" cy="185166"/>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9" name="Google Shape;399;p41"/>
          <p:cNvSpPr/>
          <p:nvPr/>
        </p:nvSpPr>
        <p:spPr>
          <a:xfrm>
            <a:off x="3417090" y="1522475"/>
            <a:ext cx="185171" cy="185166"/>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0" name="Google Shape;400;p41"/>
          <p:cNvSpPr/>
          <p:nvPr/>
        </p:nvSpPr>
        <p:spPr>
          <a:xfrm>
            <a:off x="2120893" y="1707642"/>
            <a:ext cx="185171" cy="185166"/>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1" name="Google Shape;401;p41"/>
          <p:cNvSpPr/>
          <p:nvPr/>
        </p:nvSpPr>
        <p:spPr>
          <a:xfrm>
            <a:off x="2306064" y="1707642"/>
            <a:ext cx="185171" cy="185166"/>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2" name="Google Shape;402;p41"/>
          <p:cNvSpPr/>
          <p:nvPr/>
        </p:nvSpPr>
        <p:spPr>
          <a:xfrm>
            <a:off x="2491235" y="1707642"/>
            <a:ext cx="185171" cy="185166"/>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3" name="Google Shape;403;p41"/>
          <p:cNvSpPr/>
          <p:nvPr/>
        </p:nvSpPr>
        <p:spPr>
          <a:xfrm>
            <a:off x="2676406" y="1707642"/>
            <a:ext cx="185171" cy="185166"/>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4" name="Google Shape;404;p41"/>
          <p:cNvSpPr/>
          <p:nvPr/>
        </p:nvSpPr>
        <p:spPr>
          <a:xfrm>
            <a:off x="2861577" y="1707642"/>
            <a:ext cx="185171" cy="185166"/>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5" name="Google Shape;405;p41"/>
          <p:cNvSpPr/>
          <p:nvPr/>
        </p:nvSpPr>
        <p:spPr>
          <a:xfrm>
            <a:off x="3046748" y="1707642"/>
            <a:ext cx="185171" cy="185166"/>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6" name="Google Shape;406;p41"/>
          <p:cNvSpPr/>
          <p:nvPr/>
        </p:nvSpPr>
        <p:spPr>
          <a:xfrm>
            <a:off x="3231919" y="1707642"/>
            <a:ext cx="185171" cy="185166"/>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7" name="Google Shape;407;p41"/>
          <p:cNvSpPr/>
          <p:nvPr/>
        </p:nvSpPr>
        <p:spPr>
          <a:xfrm>
            <a:off x="3417090" y="1707642"/>
            <a:ext cx="185171" cy="185166"/>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8" name="Google Shape;408;p41"/>
          <p:cNvSpPr/>
          <p:nvPr/>
        </p:nvSpPr>
        <p:spPr>
          <a:xfrm>
            <a:off x="2120893" y="1892808"/>
            <a:ext cx="185171" cy="185166"/>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9" name="Google Shape;409;p41"/>
          <p:cNvSpPr/>
          <p:nvPr/>
        </p:nvSpPr>
        <p:spPr>
          <a:xfrm>
            <a:off x="2306064" y="1892808"/>
            <a:ext cx="185171" cy="185166"/>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0" name="Google Shape;410;p41"/>
          <p:cNvSpPr/>
          <p:nvPr/>
        </p:nvSpPr>
        <p:spPr>
          <a:xfrm>
            <a:off x="2491235" y="1892808"/>
            <a:ext cx="185171" cy="185166"/>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1" name="Google Shape;411;p41"/>
          <p:cNvSpPr/>
          <p:nvPr/>
        </p:nvSpPr>
        <p:spPr>
          <a:xfrm>
            <a:off x="2676406" y="1892808"/>
            <a:ext cx="185171" cy="185166"/>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2" name="Google Shape;412;p41"/>
          <p:cNvSpPr/>
          <p:nvPr/>
        </p:nvSpPr>
        <p:spPr>
          <a:xfrm>
            <a:off x="2861577" y="1892808"/>
            <a:ext cx="185171" cy="185166"/>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3" name="Google Shape;413;p41"/>
          <p:cNvSpPr/>
          <p:nvPr/>
        </p:nvSpPr>
        <p:spPr>
          <a:xfrm>
            <a:off x="3046748" y="1892808"/>
            <a:ext cx="185171" cy="185166"/>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4" name="Google Shape;414;p41"/>
          <p:cNvSpPr/>
          <p:nvPr/>
        </p:nvSpPr>
        <p:spPr>
          <a:xfrm>
            <a:off x="3231919" y="1892808"/>
            <a:ext cx="185171" cy="185166"/>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5" name="Google Shape;415;p41"/>
          <p:cNvSpPr/>
          <p:nvPr/>
        </p:nvSpPr>
        <p:spPr>
          <a:xfrm>
            <a:off x="3417090" y="1892808"/>
            <a:ext cx="185171" cy="185166"/>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6" name="Google Shape;416;p41"/>
          <p:cNvSpPr/>
          <p:nvPr/>
        </p:nvSpPr>
        <p:spPr>
          <a:xfrm>
            <a:off x="2120893" y="2077974"/>
            <a:ext cx="185171" cy="185166"/>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7" name="Google Shape;417;p41"/>
          <p:cNvSpPr/>
          <p:nvPr/>
        </p:nvSpPr>
        <p:spPr>
          <a:xfrm>
            <a:off x="2306064" y="2077974"/>
            <a:ext cx="185171" cy="185166"/>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8" name="Google Shape;418;p41"/>
          <p:cNvSpPr/>
          <p:nvPr/>
        </p:nvSpPr>
        <p:spPr>
          <a:xfrm>
            <a:off x="2491235" y="2077974"/>
            <a:ext cx="185171" cy="185166"/>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9" name="Google Shape;419;p41"/>
          <p:cNvSpPr/>
          <p:nvPr/>
        </p:nvSpPr>
        <p:spPr>
          <a:xfrm>
            <a:off x="2676406" y="2077974"/>
            <a:ext cx="185171" cy="185166"/>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0" name="Google Shape;420;p41"/>
          <p:cNvSpPr/>
          <p:nvPr/>
        </p:nvSpPr>
        <p:spPr>
          <a:xfrm>
            <a:off x="2861577" y="2077974"/>
            <a:ext cx="185171" cy="185166"/>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1" name="Google Shape;421;p41"/>
          <p:cNvSpPr/>
          <p:nvPr/>
        </p:nvSpPr>
        <p:spPr>
          <a:xfrm>
            <a:off x="3046748" y="2077974"/>
            <a:ext cx="185171" cy="185166"/>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2" name="Google Shape;422;p41"/>
          <p:cNvSpPr/>
          <p:nvPr/>
        </p:nvSpPr>
        <p:spPr>
          <a:xfrm>
            <a:off x="3231919" y="2077974"/>
            <a:ext cx="185171" cy="185166"/>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3" name="Google Shape;423;p41"/>
          <p:cNvSpPr/>
          <p:nvPr/>
        </p:nvSpPr>
        <p:spPr>
          <a:xfrm>
            <a:off x="3417090" y="2077974"/>
            <a:ext cx="185171" cy="185166"/>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4" name="Google Shape;424;p41"/>
          <p:cNvSpPr/>
          <p:nvPr/>
        </p:nvSpPr>
        <p:spPr>
          <a:xfrm>
            <a:off x="2120893" y="2263140"/>
            <a:ext cx="185171" cy="185166"/>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5" name="Google Shape;425;p41"/>
          <p:cNvSpPr/>
          <p:nvPr/>
        </p:nvSpPr>
        <p:spPr>
          <a:xfrm>
            <a:off x="2306064" y="2263140"/>
            <a:ext cx="185171" cy="185166"/>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6" name="Google Shape;426;p41"/>
          <p:cNvSpPr/>
          <p:nvPr/>
        </p:nvSpPr>
        <p:spPr>
          <a:xfrm>
            <a:off x="2491235" y="2263140"/>
            <a:ext cx="185171" cy="185166"/>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7" name="Google Shape;427;p41"/>
          <p:cNvSpPr/>
          <p:nvPr/>
        </p:nvSpPr>
        <p:spPr>
          <a:xfrm>
            <a:off x="2676406" y="2263140"/>
            <a:ext cx="185171" cy="185166"/>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8" name="Google Shape;428;p41"/>
          <p:cNvSpPr/>
          <p:nvPr/>
        </p:nvSpPr>
        <p:spPr>
          <a:xfrm>
            <a:off x="2861577" y="2263140"/>
            <a:ext cx="185171" cy="185166"/>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9" name="Google Shape;429;p41"/>
          <p:cNvSpPr/>
          <p:nvPr/>
        </p:nvSpPr>
        <p:spPr>
          <a:xfrm>
            <a:off x="3046748" y="2263140"/>
            <a:ext cx="185171" cy="185166"/>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0" name="Google Shape;430;p41"/>
          <p:cNvSpPr/>
          <p:nvPr/>
        </p:nvSpPr>
        <p:spPr>
          <a:xfrm>
            <a:off x="3231919" y="2263140"/>
            <a:ext cx="185171" cy="185166"/>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1" name="Google Shape;431;p41"/>
          <p:cNvSpPr/>
          <p:nvPr/>
        </p:nvSpPr>
        <p:spPr>
          <a:xfrm>
            <a:off x="3417090" y="2263140"/>
            <a:ext cx="185171" cy="185166"/>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2" name="Google Shape;432;p41"/>
          <p:cNvSpPr/>
          <p:nvPr/>
        </p:nvSpPr>
        <p:spPr>
          <a:xfrm>
            <a:off x="2120893" y="2448306"/>
            <a:ext cx="185171" cy="185166"/>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3" name="Google Shape;433;p41"/>
          <p:cNvSpPr/>
          <p:nvPr/>
        </p:nvSpPr>
        <p:spPr>
          <a:xfrm>
            <a:off x="2306064" y="2448306"/>
            <a:ext cx="185171" cy="185166"/>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4" name="Google Shape;434;p41"/>
          <p:cNvSpPr/>
          <p:nvPr/>
        </p:nvSpPr>
        <p:spPr>
          <a:xfrm>
            <a:off x="2491235" y="2448306"/>
            <a:ext cx="185171" cy="185166"/>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5" name="Google Shape;435;p41"/>
          <p:cNvSpPr/>
          <p:nvPr/>
        </p:nvSpPr>
        <p:spPr>
          <a:xfrm>
            <a:off x="2676406" y="2448306"/>
            <a:ext cx="185171" cy="185166"/>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6" name="Google Shape;436;p41"/>
          <p:cNvSpPr/>
          <p:nvPr/>
        </p:nvSpPr>
        <p:spPr>
          <a:xfrm>
            <a:off x="2861577" y="2448306"/>
            <a:ext cx="185171" cy="185166"/>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7" name="Google Shape;437;p41"/>
          <p:cNvSpPr/>
          <p:nvPr/>
        </p:nvSpPr>
        <p:spPr>
          <a:xfrm>
            <a:off x="3046748" y="2448306"/>
            <a:ext cx="185171" cy="185166"/>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8" name="Google Shape;438;p41"/>
          <p:cNvSpPr/>
          <p:nvPr/>
        </p:nvSpPr>
        <p:spPr>
          <a:xfrm>
            <a:off x="3231919" y="2448306"/>
            <a:ext cx="185171" cy="185166"/>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9" name="Google Shape;439;p41"/>
          <p:cNvSpPr/>
          <p:nvPr/>
        </p:nvSpPr>
        <p:spPr>
          <a:xfrm>
            <a:off x="3417090" y="2448306"/>
            <a:ext cx="185171" cy="185166"/>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0" name="Google Shape;440;p41"/>
          <p:cNvSpPr/>
          <p:nvPr/>
        </p:nvSpPr>
        <p:spPr>
          <a:xfrm>
            <a:off x="2120893" y="2633472"/>
            <a:ext cx="185171" cy="185166"/>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1" name="Google Shape;441;p41"/>
          <p:cNvSpPr/>
          <p:nvPr/>
        </p:nvSpPr>
        <p:spPr>
          <a:xfrm>
            <a:off x="2306064" y="2633472"/>
            <a:ext cx="185171" cy="185166"/>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2" name="Google Shape;442;p41"/>
          <p:cNvSpPr/>
          <p:nvPr/>
        </p:nvSpPr>
        <p:spPr>
          <a:xfrm>
            <a:off x="2491235" y="2633472"/>
            <a:ext cx="185171" cy="185166"/>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3" name="Google Shape;443;p41"/>
          <p:cNvSpPr/>
          <p:nvPr/>
        </p:nvSpPr>
        <p:spPr>
          <a:xfrm>
            <a:off x="2676406" y="2633472"/>
            <a:ext cx="185171" cy="185166"/>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4" name="Google Shape;444;p41"/>
          <p:cNvSpPr/>
          <p:nvPr/>
        </p:nvSpPr>
        <p:spPr>
          <a:xfrm>
            <a:off x="2861577" y="2633472"/>
            <a:ext cx="185171" cy="185166"/>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5" name="Google Shape;445;p41"/>
          <p:cNvSpPr/>
          <p:nvPr/>
        </p:nvSpPr>
        <p:spPr>
          <a:xfrm>
            <a:off x="3046748" y="2633472"/>
            <a:ext cx="185171" cy="185166"/>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6" name="Google Shape;446;p41"/>
          <p:cNvSpPr/>
          <p:nvPr/>
        </p:nvSpPr>
        <p:spPr>
          <a:xfrm>
            <a:off x="3231919" y="2633472"/>
            <a:ext cx="185171" cy="185166"/>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7" name="Google Shape;447;p41"/>
          <p:cNvSpPr/>
          <p:nvPr/>
        </p:nvSpPr>
        <p:spPr>
          <a:xfrm>
            <a:off x="3417090" y="2633472"/>
            <a:ext cx="185171" cy="185166"/>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8" name="Google Shape;448;p41"/>
          <p:cNvSpPr txBox="1"/>
          <p:nvPr/>
        </p:nvSpPr>
        <p:spPr>
          <a:xfrm>
            <a:off x="2052311" y="2873502"/>
            <a:ext cx="1618531"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Zigzag</a:t>
            </a:r>
            <a:endParaRPr b="0" i="0" sz="1100" u="none" cap="none" strike="noStrike">
              <a:solidFill>
                <a:srgbClr val="000000"/>
              </a:solidFill>
              <a:latin typeface="Arial"/>
              <a:ea typeface="Arial"/>
              <a:cs typeface="Arial"/>
              <a:sym typeface="Arial"/>
            </a:endParaRPr>
          </a:p>
        </p:txBody>
      </p:sp>
      <p:sp>
        <p:nvSpPr>
          <p:cNvPr id="449" name="Google Shape;449;p41"/>
          <p:cNvSpPr/>
          <p:nvPr/>
        </p:nvSpPr>
        <p:spPr>
          <a:xfrm>
            <a:off x="3830295" y="1337310"/>
            <a:ext cx="185171" cy="185166"/>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0" name="Google Shape;450;p41"/>
          <p:cNvSpPr/>
          <p:nvPr/>
        </p:nvSpPr>
        <p:spPr>
          <a:xfrm>
            <a:off x="4015466" y="1337310"/>
            <a:ext cx="185171" cy="185166"/>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1" name="Google Shape;451;p41"/>
          <p:cNvSpPr/>
          <p:nvPr/>
        </p:nvSpPr>
        <p:spPr>
          <a:xfrm>
            <a:off x="4200637" y="1337310"/>
            <a:ext cx="185171" cy="185166"/>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2" name="Google Shape;452;p41"/>
          <p:cNvSpPr/>
          <p:nvPr/>
        </p:nvSpPr>
        <p:spPr>
          <a:xfrm>
            <a:off x="4385808" y="1337310"/>
            <a:ext cx="185171" cy="185166"/>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3" name="Google Shape;453;p41"/>
          <p:cNvSpPr/>
          <p:nvPr/>
        </p:nvSpPr>
        <p:spPr>
          <a:xfrm>
            <a:off x="4570979" y="1337310"/>
            <a:ext cx="185171" cy="185166"/>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4" name="Google Shape;454;p41"/>
          <p:cNvSpPr/>
          <p:nvPr/>
        </p:nvSpPr>
        <p:spPr>
          <a:xfrm>
            <a:off x="4756150" y="1337310"/>
            <a:ext cx="185171" cy="185166"/>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5" name="Google Shape;455;p41"/>
          <p:cNvSpPr/>
          <p:nvPr/>
        </p:nvSpPr>
        <p:spPr>
          <a:xfrm>
            <a:off x="4941321" y="1337310"/>
            <a:ext cx="185171" cy="185166"/>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6" name="Google Shape;456;p41"/>
          <p:cNvSpPr/>
          <p:nvPr/>
        </p:nvSpPr>
        <p:spPr>
          <a:xfrm>
            <a:off x="5126492" y="1337310"/>
            <a:ext cx="185171" cy="185166"/>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7" name="Google Shape;457;p41"/>
          <p:cNvSpPr/>
          <p:nvPr/>
        </p:nvSpPr>
        <p:spPr>
          <a:xfrm>
            <a:off x="3830295" y="1522475"/>
            <a:ext cx="185171" cy="185166"/>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8" name="Google Shape;458;p41"/>
          <p:cNvSpPr/>
          <p:nvPr/>
        </p:nvSpPr>
        <p:spPr>
          <a:xfrm>
            <a:off x="4015466" y="1522475"/>
            <a:ext cx="185171" cy="185166"/>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9" name="Google Shape;459;p41"/>
          <p:cNvSpPr/>
          <p:nvPr/>
        </p:nvSpPr>
        <p:spPr>
          <a:xfrm>
            <a:off x="4200637" y="1522475"/>
            <a:ext cx="185171" cy="185166"/>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0" name="Google Shape;460;p41"/>
          <p:cNvSpPr/>
          <p:nvPr/>
        </p:nvSpPr>
        <p:spPr>
          <a:xfrm>
            <a:off x="4385808" y="1522475"/>
            <a:ext cx="185171" cy="185166"/>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1" name="Google Shape;461;p41"/>
          <p:cNvSpPr/>
          <p:nvPr/>
        </p:nvSpPr>
        <p:spPr>
          <a:xfrm>
            <a:off x="4570979" y="1522475"/>
            <a:ext cx="185171" cy="185166"/>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2" name="Google Shape;462;p41"/>
          <p:cNvSpPr/>
          <p:nvPr/>
        </p:nvSpPr>
        <p:spPr>
          <a:xfrm>
            <a:off x="4756150" y="1522475"/>
            <a:ext cx="185171" cy="185166"/>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3" name="Google Shape;463;p41"/>
          <p:cNvSpPr/>
          <p:nvPr/>
        </p:nvSpPr>
        <p:spPr>
          <a:xfrm>
            <a:off x="4941321" y="1522475"/>
            <a:ext cx="185171" cy="185166"/>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4" name="Google Shape;464;p41"/>
          <p:cNvSpPr/>
          <p:nvPr/>
        </p:nvSpPr>
        <p:spPr>
          <a:xfrm>
            <a:off x="5126492" y="1522475"/>
            <a:ext cx="185171" cy="185166"/>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5" name="Google Shape;465;p41"/>
          <p:cNvSpPr/>
          <p:nvPr/>
        </p:nvSpPr>
        <p:spPr>
          <a:xfrm>
            <a:off x="3830295" y="1707642"/>
            <a:ext cx="185171" cy="185166"/>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6" name="Google Shape;466;p41"/>
          <p:cNvSpPr/>
          <p:nvPr/>
        </p:nvSpPr>
        <p:spPr>
          <a:xfrm>
            <a:off x="4015466" y="1707642"/>
            <a:ext cx="185171" cy="185166"/>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7" name="Google Shape;467;p41"/>
          <p:cNvSpPr/>
          <p:nvPr/>
        </p:nvSpPr>
        <p:spPr>
          <a:xfrm>
            <a:off x="4200637" y="1707642"/>
            <a:ext cx="185171" cy="185166"/>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8" name="Google Shape;468;p41"/>
          <p:cNvSpPr/>
          <p:nvPr/>
        </p:nvSpPr>
        <p:spPr>
          <a:xfrm>
            <a:off x="4385808" y="1707642"/>
            <a:ext cx="185171" cy="185166"/>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9" name="Google Shape;469;p41"/>
          <p:cNvSpPr/>
          <p:nvPr/>
        </p:nvSpPr>
        <p:spPr>
          <a:xfrm>
            <a:off x="4570979" y="1707642"/>
            <a:ext cx="185171" cy="185166"/>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0" name="Google Shape;470;p41"/>
          <p:cNvSpPr/>
          <p:nvPr/>
        </p:nvSpPr>
        <p:spPr>
          <a:xfrm>
            <a:off x="4756150" y="1707642"/>
            <a:ext cx="185171" cy="185166"/>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1" name="Google Shape;471;p41"/>
          <p:cNvSpPr/>
          <p:nvPr/>
        </p:nvSpPr>
        <p:spPr>
          <a:xfrm>
            <a:off x="4941321" y="1707642"/>
            <a:ext cx="185171" cy="185166"/>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2" name="Google Shape;472;p41"/>
          <p:cNvSpPr/>
          <p:nvPr/>
        </p:nvSpPr>
        <p:spPr>
          <a:xfrm>
            <a:off x="5126492" y="1707642"/>
            <a:ext cx="185171" cy="185166"/>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3" name="Google Shape;473;p41"/>
          <p:cNvSpPr/>
          <p:nvPr/>
        </p:nvSpPr>
        <p:spPr>
          <a:xfrm>
            <a:off x="3830295" y="1892808"/>
            <a:ext cx="185171" cy="185166"/>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4" name="Google Shape;474;p41"/>
          <p:cNvSpPr/>
          <p:nvPr/>
        </p:nvSpPr>
        <p:spPr>
          <a:xfrm>
            <a:off x="4015466" y="1892808"/>
            <a:ext cx="185171" cy="185166"/>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5" name="Google Shape;475;p41"/>
          <p:cNvSpPr/>
          <p:nvPr/>
        </p:nvSpPr>
        <p:spPr>
          <a:xfrm>
            <a:off x="4200637" y="1892808"/>
            <a:ext cx="185171" cy="185166"/>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6" name="Google Shape;476;p41"/>
          <p:cNvSpPr/>
          <p:nvPr/>
        </p:nvSpPr>
        <p:spPr>
          <a:xfrm>
            <a:off x="4385808" y="1892808"/>
            <a:ext cx="185171" cy="185166"/>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7" name="Google Shape;477;p41"/>
          <p:cNvSpPr/>
          <p:nvPr/>
        </p:nvSpPr>
        <p:spPr>
          <a:xfrm>
            <a:off x="4570979" y="1892808"/>
            <a:ext cx="185171" cy="185166"/>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8" name="Google Shape;478;p41"/>
          <p:cNvSpPr/>
          <p:nvPr/>
        </p:nvSpPr>
        <p:spPr>
          <a:xfrm>
            <a:off x="4756150" y="1892808"/>
            <a:ext cx="185171" cy="185166"/>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9" name="Google Shape;479;p41"/>
          <p:cNvSpPr/>
          <p:nvPr/>
        </p:nvSpPr>
        <p:spPr>
          <a:xfrm>
            <a:off x="4941321" y="1892808"/>
            <a:ext cx="185171" cy="185166"/>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0" name="Google Shape;480;p41"/>
          <p:cNvSpPr/>
          <p:nvPr/>
        </p:nvSpPr>
        <p:spPr>
          <a:xfrm>
            <a:off x="5126492" y="1892808"/>
            <a:ext cx="185171" cy="185166"/>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1" name="Google Shape;481;p41"/>
          <p:cNvSpPr/>
          <p:nvPr/>
        </p:nvSpPr>
        <p:spPr>
          <a:xfrm>
            <a:off x="3830295" y="2077974"/>
            <a:ext cx="185171" cy="185166"/>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2" name="Google Shape;482;p41"/>
          <p:cNvSpPr/>
          <p:nvPr/>
        </p:nvSpPr>
        <p:spPr>
          <a:xfrm>
            <a:off x="4015466" y="2077974"/>
            <a:ext cx="185171" cy="185166"/>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3" name="Google Shape;483;p41"/>
          <p:cNvSpPr/>
          <p:nvPr/>
        </p:nvSpPr>
        <p:spPr>
          <a:xfrm>
            <a:off x="4200637" y="2077974"/>
            <a:ext cx="185171" cy="185166"/>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4" name="Google Shape;484;p41"/>
          <p:cNvSpPr/>
          <p:nvPr/>
        </p:nvSpPr>
        <p:spPr>
          <a:xfrm>
            <a:off x="4385808" y="2077974"/>
            <a:ext cx="185171" cy="185166"/>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5" name="Google Shape;485;p41"/>
          <p:cNvSpPr/>
          <p:nvPr/>
        </p:nvSpPr>
        <p:spPr>
          <a:xfrm>
            <a:off x="4441359" y="2133524"/>
            <a:ext cx="74068" cy="74066"/>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6" name="Google Shape;486;p41"/>
          <p:cNvSpPr/>
          <p:nvPr/>
        </p:nvSpPr>
        <p:spPr>
          <a:xfrm>
            <a:off x="4570979" y="2077974"/>
            <a:ext cx="185171" cy="185166"/>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7" name="Google Shape;487;p41"/>
          <p:cNvSpPr/>
          <p:nvPr/>
        </p:nvSpPr>
        <p:spPr>
          <a:xfrm>
            <a:off x="4756150" y="2077974"/>
            <a:ext cx="185171" cy="185166"/>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8" name="Google Shape;488;p41"/>
          <p:cNvSpPr/>
          <p:nvPr/>
        </p:nvSpPr>
        <p:spPr>
          <a:xfrm>
            <a:off x="4941321" y="2077974"/>
            <a:ext cx="185171" cy="185166"/>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9" name="Google Shape;489;p41"/>
          <p:cNvSpPr/>
          <p:nvPr/>
        </p:nvSpPr>
        <p:spPr>
          <a:xfrm>
            <a:off x="5126492" y="2077974"/>
            <a:ext cx="185171" cy="185166"/>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0" name="Google Shape;490;p41"/>
          <p:cNvSpPr/>
          <p:nvPr/>
        </p:nvSpPr>
        <p:spPr>
          <a:xfrm>
            <a:off x="3830295" y="2263140"/>
            <a:ext cx="185171" cy="185166"/>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1" name="Google Shape;491;p41"/>
          <p:cNvSpPr/>
          <p:nvPr/>
        </p:nvSpPr>
        <p:spPr>
          <a:xfrm>
            <a:off x="4015466" y="2263140"/>
            <a:ext cx="185171" cy="185166"/>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2" name="Google Shape;492;p41"/>
          <p:cNvSpPr/>
          <p:nvPr/>
        </p:nvSpPr>
        <p:spPr>
          <a:xfrm>
            <a:off x="4200637" y="2263140"/>
            <a:ext cx="185171" cy="185166"/>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3" name="Google Shape;493;p41"/>
          <p:cNvSpPr/>
          <p:nvPr/>
        </p:nvSpPr>
        <p:spPr>
          <a:xfrm>
            <a:off x="4385808" y="2263140"/>
            <a:ext cx="185171" cy="185166"/>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4" name="Google Shape;494;p41"/>
          <p:cNvSpPr/>
          <p:nvPr/>
        </p:nvSpPr>
        <p:spPr>
          <a:xfrm>
            <a:off x="4570979" y="2263140"/>
            <a:ext cx="185171" cy="185166"/>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5" name="Google Shape;495;p41"/>
          <p:cNvSpPr/>
          <p:nvPr/>
        </p:nvSpPr>
        <p:spPr>
          <a:xfrm>
            <a:off x="4756150" y="2263140"/>
            <a:ext cx="185171" cy="185166"/>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6" name="Google Shape;496;p41"/>
          <p:cNvSpPr/>
          <p:nvPr/>
        </p:nvSpPr>
        <p:spPr>
          <a:xfrm>
            <a:off x="4941321" y="2263140"/>
            <a:ext cx="185171" cy="185166"/>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7" name="Google Shape;497;p41"/>
          <p:cNvSpPr/>
          <p:nvPr/>
        </p:nvSpPr>
        <p:spPr>
          <a:xfrm>
            <a:off x="5126492" y="2263140"/>
            <a:ext cx="185171" cy="185166"/>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8" name="Google Shape;498;p41"/>
          <p:cNvSpPr/>
          <p:nvPr/>
        </p:nvSpPr>
        <p:spPr>
          <a:xfrm>
            <a:off x="3830295" y="2448306"/>
            <a:ext cx="185171" cy="185166"/>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9" name="Google Shape;499;p41"/>
          <p:cNvSpPr/>
          <p:nvPr/>
        </p:nvSpPr>
        <p:spPr>
          <a:xfrm>
            <a:off x="4015466" y="2448306"/>
            <a:ext cx="185171" cy="185166"/>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0" name="Google Shape;500;p41"/>
          <p:cNvSpPr/>
          <p:nvPr/>
        </p:nvSpPr>
        <p:spPr>
          <a:xfrm>
            <a:off x="4200637" y="2448306"/>
            <a:ext cx="185171" cy="185166"/>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1" name="Google Shape;501;p41"/>
          <p:cNvSpPr/>
          <p:nvPr/>
        </p:nvSpPr>
        <p:spPr>
          <a:xfrm>
            <a:off x="4385808" y="2448306"/>
            <a:ext cx="185171" cy="185166"/>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2" name="Google Shape;502;p41"/>
          <p:cNvSpPr/>
          <p:nvPr/>
        </p:nvSpPr>
        <p:spPr>
          <a:xfrm>
            <a:off x="4570979" y="2448306"/>
            <a:ext cx="185171" cy="185166"/>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3" name="Google Shape;503;p41"/>
          <p:cNvSpPr/>
          <p:nvPr/>
        </p:nvSpPr>
        <p:spPr>
          <a:xfrm>
            <a:off x="4756150" y="2448306"/>
            <a:ext cx="185171" cy="185166"/>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4" name="Google Shape;504;p41"/>
          <p:cNvSpPr/>
          <p:nvPr/>
        </p:nvSpPr>
        <p:spPr>
          <a:xfrm>
            <a:off x="4941321" y="2448306"/>
            <a:ext cx="185171" cy="185166"/>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5" name="Google Shape;505;p41"/>
          <p:cNvSpPr/>
          <p:nvPr/>
        </p:nvSpPr>
        <p:spPr>
          <a:xfrm>
            <a:off x="5126492" y="2448306"/>
            <a:ext cx="185171" cy="185166"/>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6" name="Google Shape;506;p41"/>
          <p:cNvSpPr/>
          <p:nvPr/>
        </p:nvSpPr>
        <p:spPr>
          <a:xfrm>
            <a:off x="3830295" y="2633472"/>
            <a:ext cx="185171" cy="185166"/>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7" name="Google Shape;507;p41"/>
          <p:cNvSpPr/>
          <p:nvPr/>
        </p:nvSpPr>
        <p:spPr>
          <a:xfrm>
            <a:off x="4015466" y="2633472"/>
            <a:ext cx="185171" cy="185166"/>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8" name="Google Shape;508;p41"/>
          <p:cNvSpPr/>
          <p:nvPr/>
        </p:nvSpPr>
        <p:spPr>
          <a:xfrm>
            <a:off x="4200637" y="2633472"/>
            <a:ext cx="185171" cy="185166"/>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9" name="Google Shape;509;p41"/>
          <p:cNvSpPr/>
          <p:nvPr/>
        </p:nvSpPr>
        <p:spPr>
          <a:xfrm>
            <a:off x="4385808" y="2633472"/>
            <a:ext cx="185171" cy="185166"/>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0" name="Google Shape;510;p41"/>
          <p:cNvSpPr/>
          <p:nvPr/>
        </p:nvSpPr>
        <p:spPr>
          <a:xfrm>
            <a:off x="4570979" y="2633472"/>
            <a:ext cx="185171" cy="185166"/>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1" name="Google Shape;511;p41"/>
          <p:cNvSpPr/>
          <p:nvPr/>
        </p:nvSpPr>
        <p:spPr>
          <a:xfrm>
            <a:off x="4756150" y="2633472"/>
            <a:ext cx="185171" cy="185166"/>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2" name="Google Shape;512;p41"/>
          <p:cNvSpPr/>
          <p:nvPr/>
        </p:nvSpPr>
        <p:spPr>
          <a:xfrm>
            <a:off x="4941321" y="2633472"/>
            <a:ext cx="185171" cy="185166"/>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3" name="Google Shape;513;p41"/>
          <p:cNvSpPr/>
          <p:nvPr/>
        </p:nvSpPr>
        <p:spPr>
          <a:xfrm>
            <a:off x="5126492" y="2633472"/>
            <a:ext cx="185171" cy="185166"/>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4" name="Google Shape;514;p41"/>
          <p:cNvSpPr txBox="1"/>
          <p:nvPr/>
        </p:nvSpPr>
        <p:spPr>
          <a:xfrm>
            <a:off x="3761713" y="2873502"/>
            <a:ext cx="1618531"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Spiral (center-out)</a:t>
            </a:r>
            <a:endParaRPr b="0" i="0" sz="1100" u="none" cap="none" strike="noStrike">
              <a:solidFill>
                <a:srgbClr val="000000"/>
              </a:solidFill>
              <a:latin typeface="Arial"/>
              <a:ea typeface="Arial"/>
              <a:cs typeface="Arial"/>
              <a:sym typeface="Arial"/>
            </a:endParaRPr>
          </a:p>
        </p:txBody>
      </p:sp>
      <p:sp>
        <p:nvSpPr>
          <p:cNvPr id="515" name="Google Shape;515;p41"/>
          <p:cNvSpPr/>
          <p:nvPr/>
        </p:nvSpPr>
        <p:spPr>
          <a:xfrm>
            <a:off x="5539697" y="1337310"/>
            <a:ext cx="185171" cy="185166"/>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6" name="Google Shape;516;p41"/>
          <p:cNvSpPr/>
          <p:nvPr/>
        </p:nvSpPr>
        <p:spPr>
          <a:xfrm>
            <a:off x="5595248" y="1392859"/>
            <a:ext cx="74068" cy="74066"/>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7" name="Google Shape;517;p41"/>
          <p:cNvSpPr/>
          <p:nvPr/>
        </p:nvSpPr>
        <p:spPr>
          <a:xfrm>
            <a:off x="5724868" y="1337310"/>
            <a:ext cx="185171" cy="185166"/>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8" name="Google Shape;518;p41"/>
          <p:cNvSpPr/>
          <p:nvPr/>
        </p:nvSpPr>
        <p:spPr>
          <a:xfrm>
            <a:off x="5910039" y="1337310"/>
            <a:ext cx="185171" cy="185166"/>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9" name="Google Shape;519;p41"/>
          <p:cNvSpPr/>
          <p:nvPr/>
        </p:nvSpPr>
        <p:spPr>
          <a:xfrm>
            <a:off x="6095210" y="1337310"/>
            <a:ext cx="185171" cy="185166"/>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0" name="Google Shape;520;p41"/>
          <p:cNvSpPr/>
          <p:nvPr/>
        </p:nvSpPr>
        <p:spPr>
          <a:xfrm>
            <a:off x="6280381" y="1337310"/>
            <a:ext cx="185171" cy="185166"/>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1" name="Google Shape;521;p41"/>
          <p:cNvSpPr/>
          <p:nvPr/>
        </p:nvSpPr>
        <p:spPr>
          <a:xfrm>
            <a:off x="6465552" y="1337310"/>
            <a:ext cx="185171" cy="185166"/>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2" name="Google Shape;522;p41"/>
          <p:cNvSpPr/>
          <p:nvPr/>
        </p:nvSpPr>
        <p:spPr>
          <a:xfrm>
            <a:off x="6650723" y="1337310"/>
            <a:ext cx="185171" cy="185166"/>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3" name="Google Shape;523;p41"/>
          <p:cNvSpPr/>
          <p:nvPr/>
        </p:nvSpPr>
        <p:spPr>
          <a:xfrm>
            <a:off x="6835894" y="1337310"/>
            <a:ext cx="185171" cy="185166"/>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4" name="Google Shape;524;p41"/>
          <p:cNvSpPr/>
          <p:nvPr/>
        </p:nvSpPr>
        <p:spPr>
          <a:xfrm>
            <a:off x="5539697" y="1522475"/>
            <a:ext cx="185171" cy="185166"/>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5" name="Google Shape;525;p41"/>
          <p:cNvSpPr/>
          <p:nvPr/>
        </p:nvSpPr>
        <p:spPr>
          <a:xfrm>
            <a:off x="5724868" y="1522475"/>
            <a:ext cx="185171" cy="185166"/>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6" name="Google Shape;526;p41"/>
          <p:cNvSpPr/>
          <p:nvPr/>
        </p:nvSpPr>
        <p:spPr>
          <a:xfrm>
            <a:off x="5910039" y="1522475"/>
            <a:ext cx="185171" cy="185166"/>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7" name="Google Shape;527;p41"/>
          <p:cNvSpPr/>
          <p:nvPr/>
        </p:nvSpPr>
        <p:spPr>
          <a:xfrm>
            <a:off x="6095210" y="1522475"/>
            <a:ext cx="185171" cy="185166"/>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8" name="Google Shape;528;p41"/>
          <p:cNvSpPr/>
          <p:nvPr/>
        </p:nvSpPr>
        <p:spPr>
          <a:xfrm>
            <a:off x="6280381" y="1522475"/>
            <a:ext cx="185171" cy="185166"/>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29" name="Google Shape;529;p41"/>
          <p:cNvSpPr/>
          <p:nvPr/>
        </p:nvSpPr>
        <p:spPr>
          <a:xfrm>
            <a:off x="6465552" y="1522475"/>
            <a:ext cx="185171" cy="185166"/>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0" name="Google Shape;530;p41"/>
          <p:cNvSpPr/>
          <p:nvPr/>
        </p:nvSpPr>
        <p:spPr>
          <a:xfrm>
            <a:off x="6650723" y="1522475"/>
            <a:ext cx="185171" cy="185166"/>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1" name="Google Shape;531;p41"/>
          <p:cNvSpPr/>
          <p:nvPr/>
        </p:nvSpPr>
        <p:spPr>
          <a:xfrm>
            <a:off x="6835894" y="1522475"/>
            <a:ext cx="185171" cy="185166"/>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2" name="Google Shape;532;p41"/>
          <p:cNvSpPr/>
          <p:nvPr/>
        </p:nvSpPr>
        <p:spPr>
          <a:xfrm>
            <a:off x="5539697" y="1707642"/>
            <a:ext cx="185171" cy="185166"/>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3" name="Google Shape;533;p41"/>
          <p:cNvSpPr/>
          <p:nvPr/>
        </p:nvSpPr>
        <p:spPr>
          <a:xfrm>
            <a:off x="5724868" y="1707642"/>
            <a:ext cx="185171" cy="185166"/>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4" name="Google Shape;534;p41"/>
          <p:cNvSpPr/>
          <p:nvPr/>
        </p:nvSpPr>
        <p:spPr>
          <a:xfrm>
            <a:off x="5910039" y="1707642"/>
            <a:ext cx="185171" cy="185166"/>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5" name="Google Shape;535;p41"/>
          <p:cNvSpPr/>
          <p:nvPr/>
        </p:nvSpPr>
        <p:spPr>
          <a:xfrm>
            <a:off x="6095210" y="1707642"/>
            <a:ext cx="185171" cy="185166"/>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6" name="Google Shape;536;p41"/>
          <p:cNvSpPr/>
          <p:nvPr/>
        </p:nvSpPr>
        <p:spPr>
          <a:xfrm>
            <a:off x="6280381" y="1707642"/>
            <a:ext cx="185171" cy="185166"/>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7" name="Google Shape;537;p41"/>
          <p:cNvSpPr/>
          <p:nvPr/>
        </p:nvSpPr>
        <p:spPr>
          <a:xfrm>
            <a:off x="6465552" y="1707642"/>
            <a:ext cx="185171" cy="185166"/>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8" name="Google Shape;538;p41"/>
          <p:cNvSpPr/>
          <p:nvPr/>
        </p:nvSpPr>
        <p:spPr>
          <a:xfrm>
            <a:off x="6650723" y="1707642"/>
            <a:ext cx="185171" cy="185166"/>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9" name="Google Shape;539;p41"/>
          <p:cNvSpPr/>
          <p:nvPr/>
        </p:nvSpPr>
        <p:spPr>
          <a:xfrm>
            <a:off x="6835894" y="1707642"/>
            <a:ext cx="185171" cy="185166"/>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0" name="Google Shape;540;p41"/>
          <p:cNvSpPr/>
          <p:nvPr/>
        </p:nvSpPr>
        <p:spPr>
          <a:xfrm>
            <a:off x="5539697" y="1892808"/>
            <a:ext cx="185171" cy="185166"/>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1" name="Google Shape;541;p41"/>
          <p:cNvSpPr/>
          <p:nvPr/>
        </p:nvSpPr>
        <p:spPr>
          <a:xfrm>
            <a:off x="5724868" y="1892808"/>
            <a:ext cx="185171" cy="185166"/>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2" name="Google Shape;542;p41"/>
          <p:cNvSpPr/>
          <p:nvPr/>
        </p:nvSpPr>
        <p:spPr>
          <a:xfrm>
            <a:off x="5910039" y="1892808"/>
            <a:ext cx="185171" cy="185166"/>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3" name="Google Shape;543;p41"/>
          <p:cNvSpPr/>
          <p:nvPr/>
        </p:nvSpPr>
        <p:spPr>
          <a:xfrm>
            <a:off x="6095210" y="1892808"/>
            <a:ext cx="185171" cy="185166"/>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4" name="Google Shape;544;p41"/>
          <p:cNvSpPr/>
          <p:nvPr/>
        </p:nvSpPr>
        <p:spPr>
          <a:xfrm>
            <a:off x="6280381" y="1892808"/>
            <a:ext cx="185171" cy="185166"/>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5" name="Google Shape;545;p41"/>
          <p:cNvSpPr/>
          <p:nvPr/>
        </p:nvSpPr>
        <p:spPr>
          <a:xfrm>
            <a:off x="6465552" y="1892808"/>
            <a:ext cx="185171" cy="185166"/>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6" name="Google Shape;546;p41"/>
          <p:cNvSpPr/>
          <p:nvPr/>
        </p:nvSpPr>
        <p:spPr>
          <a:xfrm>
            <a:off x="6650723" y="1892808"/>
            <a:ext cx="185171" cy="185166"/>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7" name="Google Shape;547;p41"/>
          <p:cNvSpPr/>
          <p:nvPr/>
        </p:nvSpPr>
        <p:spPr>
          <a:xfrm>
            <a:off x="6835894" y="1892808"/>
            <a:ext cx="185171" cy="185166"/>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8" name="Google Shape;548;p41"/>
          <p:cNvSpPr/>
          <p:nvPr/>
        </p:nvSpPr>
        <p:spPr>
          <a:xfrm>
            <a:off x="5539697" y="2077974"/>
            <a:ext cx="185171" cy="185166"/>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9" name="Google Shape;549;p41"/>
          <p:cNvSpPr/>
          <p:nvPr/>
        </p:nvSpPr>
        <p:spPr>
          <a:xfrm>
            <a:off x="5724868" y="2077974"/>
            <a:ext cx="185171" cy="185166"/>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0" name="Google Shape;550;p41"/>
          <p:cNvSpPr/>
          <p:nvPr/>
        </p:nvSpPr>
        <p:spPr>
          <a:xfrm>
            <a:off x="5910039" y="2077974"/>
            <a:ext cx="185171" cy="185166"/>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1" name="Google Shape;551;p41"/>
          <p:cNvSpPr/>
          <p:nvPr/>
        </p:nvSpPr>
        <p:spPr>
          <a:xfrm>
            <a:off x="6095210" y="2077974"/>
            <a:ext cx="185171" cy="185166"/>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2" name="Google Shape;552;p41"/>
          <p:cNvSpPr/>
          <p:nvPr/>
        </p:nvSpPr>
        <p:spPr>
          <a:xfrm>
            <a:off x="6280381" y="2077974"/>
            <a:ext cx="185171" cy="185166"/>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3" name="Google Shape;553;p41"/>
          <p:cNvSpPr/>
          <p:nvPr/>
        </p:nvSpPr>
        <p:spPr>
          <a:xfrm>
            <a:off x="6465552" y="2077974"/>
            <a:ext cx="185171" cy="185166"/>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4" name="Google Shape;554;p41"/>
          <p:cNvSpPr/>
          <p:nvPr/>
        </p:nvSpPr>
        <p:spPr>
          <a:xfrm>
            <a:off x="6650723" y="2077974"/>
            <a:ext cx="185171" cy="185166"/>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5" name="Google Shape;555;p41"/>
          <p:cNvSpPr/>
          <p:nvPr/>
        </p:nvSpPr>
        <p:spPr>
          <a:xfrm>
            <a:off x="6835894" y="2077974"/>
            <a:ext cx="185171" cy="185166"/>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6" name="Google Shape;556;p41"/>
          <p:cNvSpPr/>
          <p:nvPr/>
        </p:nvSpPr>
        <p:spPr>
          <a:xfrm>
            <a:off x="5539697" y="2263140"/>
            <a:ext cx="185171" cy="185166"/>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7" name="Google Shape;557;p41"/>
          <p:cNvSpPr/>
          <p:nvPr/>
        </p:nvSpPr>
        <p:spPr>
          <a:xfrm>
            <a:off x="5724868" y="2263140"/>
            <a:ext cx="185171" cy="185166"/>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8" name="Google Shape;558;p41"/>
          <p:cNvSpPr/>
          <p:nvPr/>
        </p:nvSpPr>
        <p:spPr>
          <a:xfrm>
            <a:off x="5910039" y="2263140"/>
            <a:ext cx="185171" cy="185166"/>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9" name="Google Shape;559;p41"/>
          <p:cNvSpPr/>
          <p:nvPr/>
        </p:nvSpPr>
        <p:spPr>
          <a:xfrm>
            <a:off x="6095210" y="2263140"/>
            <a:ext cx="185171" cy="185166"/>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0" name="Google Shape;560;p41"/>
          <p:cNvSpPr/>
          <p:nvPr/>
        </p:nvSpPr>
        <p:spPr>
          <a:xfrm>
            <a:off x="6280381" y="2263140"/>
            <a:ext cx="185171" cy="185166"/>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1" name="Google Shape;561;p41"/>
          <p:cNvSpPr/>
          <p:nvPr/>
        </p:nvSpPr>
        <p:spPr>
          <a:xfrm>
            <a:off x="6465552" y="2263140"/>
            <a:ext cx="185171" cy="185166"/>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2" name="Google Shape;562;p41"/>
          <p:cNvSpPr/>
          <p:nvPr/>
        </p:nvSpPr>
        <p:spPr>
          <a:xfrm>
            <a:off x="6650723" y="2263140"/>
            <a:ext cx="185171" cy="185166"/>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3" name="Google Shape;563;p41"/>
          <p:cNvSpPr/>
          <p:nvPr/>
        </p:nvSpPr>
        <p:spPr>
          <a:xfrm>
            <a:off x="6835894" y="2263140"/>
            <a:ext cx="185171" cy="185166"/>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4" name="Google Shape;564;p41"/>
          <p:cNvSpPr/>
          <p:nvPr/>
        </p:nvSpPr>
        <p:spPr>
          <a:xfrm>
            <a:off x="5539697" y="2448306"/>
            <a:ext cx="185171" cy="185166"/>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5" name="Google Shape;565;p41"/>
          <p:cNvSpPr/>
          <p:nvPr/>
        </p:nvSpPr>
        <p:spPr>
          <a:xfrm>
            <a:off x="5724868" y="2448306"/>
            <a:ext cx="185171" cy="185166"/>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6" name="Google Shape;566;p41"/>
          <p:cNvSpPr/>
          <p:nvPr/>
        </p:nvSpPr>
        <p:spPr>
          <a:xfrm>
            <a:off x="5910039" y="2448306"/>
            <a:ext cx="185171" cy="185166"/>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7" name="Google Shape;567;p41"/>
          <p:cNvSpPr/>
          <p:nvPr/>
        </p:nvSpPr>
        <p:spPr>
          <a:xfrm>
            <a:off x="6095210" y="2448306"/>
            <a:ext cx="185171" cy="185166"/>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8" name="Google Shape;568;p41"/>
          <p:cNvSpPr/>
          <p:nvPr/>
        </p:nvSpPr>
        <p:spPr>
          <a:xfrm>
            <a:off x="6280381" y="2448306"/>
            <a:ext cx="185171" cy="185166"/>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9" name="Google Shape;569;p41"/>
          <p:cNvSpPr/>
          <p:nvPr/>
        </p:nvSpPr>
        <p:spPr>
          <a:xfrm>
            <a:off x="6465552" y="2448306"/>
            <a:ext cx="185171" cy="185166"/>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0" name="Google Shape;570;p41"/>
          <p:cNvSpPr/>
          <p:nvPr/>
        </p:nvSpPr>
        <p:spPr>
          <a:xfrm>
            <a:off x="6650723" y="2448306"/>
            <a:ext cx="185171" cy="185166"/>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1" name="Google Shape;571;p41"/>
          <p:cNvSpPr/>
          <p:nvPr/>
        </p:nvSpPr>
        <p:spPr>
          <a:xfrm>
            <a:off x="6835894" y="2448306"/>
            <a:ext cx="185171" cy="185166"/>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2" name="Google Shape;572;p41"/>
          <p:cNvSpPr/>
          <p:nvPr/>
        </p:nvSpPr>
        <p:spPr>
          <a:xfrm>
            <a:off x="5539697" y="2633472"/>
            <a:ext cx="185171" cy="185166"/>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3" name="Google Shape;573;p41"/>
          <p:cNvSpPr/>
          <p:nvPr/>
        </p:nvSpPr>
        <p:spPr>
          <a:xfrm>
            <a:off x="5724868" y="2633472"/>
            <a:ext cx="185171" cy="185166"/>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4" name="Google Shape;574;p41"/>
          <p:cNvSpPr/>
          <p:nvPr/>
        </p:nvSpPr>
        <p:spPr>
          <a:xfrm>
            <a:off x="5910039" y="2633472"/>
            <a:ext cx="185171" cy="185166"/>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5" name="Google Shape;575;p41"/>
          <p:cNvSpPr/>
          <p:nvPr/>
        </p:nvSpPr>
        <p:spPr>
          <a:xfrm>
            <a:off x="6095210" y="2633472"/>
            <a:ext cx="185171" cy="185166"/>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6" name="Google Shape;576;p41"/>
          <p:cNvSpPr/>
          <p:nvPr/>
        </p:nvSpPr>
        <p:spPr>
          <a:xfrm>
            <a:off x="6280381" y="2633472"/>
            <a:ext cx="185171" cy="185166"/>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7" name="Google Shape;577;p41"/>
          <p:cNvSpPr/>
          <p:nvPr/>
        </p:nvSpPr>
        <p:spPr>
          <a:xfrm>
            <a:off x="6465552" y="2633472"/>
            <a:ext cx="185171" cy="185166"/>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8" name="Google Shape;578;p41"/>
          <p:cNvSpPr/>
          <p:nvPr/>
        </p:nvSpPr>
        <p:spPr>
          <a:xfrm>
            <a:off x="6650723" y="2633472"/>
            <a:ext cx="185171" cy="185166"/>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9" name="Google Shape;579;p41"/>
          <p:cNvSpPr/>
          <p:nvPr/>
        </p:nvSpPr>
        <p:spPr>
          <a:xfrm>
            <a:off x="6835894" y="2633472"/>
            <a:ext cx="185171" cy="185166"/>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0" name="Google Shape;580;p41"/>
          <p:cNvSpPr txBox="1"/>
          <p:nvPr/>
        </p:nvSpPr>
        <p:spPr>
          <a:xfrm>
            <a:off x="5471115" y="2873502"/>
            <a:ext cx="1618531"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File-wise</a:t>
            </a:r>
            <a:endParaRPr b="0" i="0" sz="1100" u="none" cap="none" strike="noStrike">
              <a:solidFill>
                <a:srgbClr val="000000"/>
              </a:solidFill>
              <a:latin typeface="Arial"/>
              <a:ea typeface="Arial"/>
              <a:cs typeface="Arial"/>
              <a:sym typeface="Arial"/>
            </a:endParaRPr>
          </a:p>
        </p:txBody>
      </p:sp>
      <p:sp>
        <p:nvSpPr>
          <p:cNvPr id="581" name="Google Shape;581;p41"/>
          <p:cNvSpPr/>
          <p:nvPr/>
        </p:nvSpPr>
        <p:spPr>
          <a:xfrm>
            <a:off x="7249099" y="1337310"/>
            <a:ext cx="185171" cy="185166"/>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2" name="Google Shape;582;p41"/>
          <p:cNvSpPr/>
          <p:nvPr/>
        </p:nvSpPr>
        <p:spPr>
          <a:xfrm>
            <a:off x="7304650" y="1392859"/>
            <a:ext cx="74068" cy="74066"/>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3" name="Google Shape;583;p41"/>
          <p:cNvSpPr/>
          <p:nvPr/>
        </p:nvSpPr>
        <p:spPr>
          <a:xfrm>
            <a:off x="7434270" y="1337310"/>
            <a:ext cx="185171" cy="185166"/>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4" name="Google Shape;584;p41"/>
          <p:cNvSpPr/>
          <p:nvPr/>
        </p:nvSpPr>
        <p:spPr>
          <a:xfrm>
            <a:off x="7619441" y="1337310"/>
            <a:ext cx="185171" cy="185166"/>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5" name="Google Shape;585;p41"/>
          <p:cNvSpPr/>
          <p:nvPr/>
        </p:nvSpPr>
        <p:spPr>
          <a:xfrm>
            <a:off x="7804612" y="1337310"/>
            <a:ext cx="185171" cy="185166"/>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6" name="Google Shape;586;p41"/>
          <p:cNvSpPr/>
          <p:nvPr/>
        </p:nvSpPr>
        <p:spPr>
          <a:xfrm>
            <a:off x="7989783" y="1337310"/>
            <a:ext cx="185171" cy="185166"/>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7" name="Google Shape;587;p41"/>
          <p:cNvSpPr/>
          <p:nvPr/>
        </p:nvSpPr>
        <p:spPr>
          <a:xfrm>
            <a:off x="8174954" y="1337310"/>
            <a:ext cx="185171" cy="185166"/>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8" name="Google Shape;588;p41"/>
          <p:cNvSpPr/>
          <p:nvPr/>
        </p:nvSpPr>
        <p:spPr>
          <a:xfrm>
            <a:off x="8360125" y="1337310"/>
            <a:ext cx="185171" cy="185166"/>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9" name="Google Shape;589;p41"/>
          <p:cNvSpPr/>
          <p:nvPr/>
        </p:nvSpPr>
        <p:spPr>
          <a:xfrm>
            <a:off x="8545296" y="1337310"/>
            <a:ext cx="185171" cy="185166"/>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0" name="Google Shape;590;p41"/>
          <p:cNvSpPr/>
          <p:nvPr/>
        </p:nvSpPr>
        <p:spPr>
          <a:xfrm>
            <a:off x="7249099" y="1522475"/>
            <a:ext cx="185171" cy="185166"/>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1" name="Google Shape;591;p41"/>
          <p:cNvSpPr/>
          <p:nvPr/>
        </p:nvSpPr>
        <p:spPr>
          <a:xfrm>
            <a:off x="7434270" y="1522475"/>
            <a:ext cx="185171" cy="185166"/>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2" name="Google Shape;592;p41"/>
          <p:cNvSpPr/>
          <p:nvPr/>
        </p:nvSpPr>
        <p:spPr>
          <a:xfrm>
            <a:off x="7619441" y="1522475"/>
            <a:ext cx="185171" cy="185166"/>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3" name="Google Shape;593;p41"/>
          <p:cNvSpPr/>
          <p:nvPr/>
        </p:nvSpPr>
        <p:spPr>
          <a:xfrm>
            <a:off x="7804612" y="1522475"/>
            <a:ext cx="185171" cy="185166"/>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4" name="Google Shape;594;p41"/>
          <p:cNvSpPr/>
          <p:nvPr/>
        </p:nvSpPr>
        <p:spPr>
          <a:xfrm>
            <a:off x="7989783" y="1522475"/>
            <a:ext cx="185171" cy="185166"/>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5" name="Google Shape;595;p41"/>
          <p:cNvSpPr/>
          <p:nvPr/>
        </p:nvSpPr>
        <p:spPr>
          <a:xfrm>
            <a:off x="8174954" y="1522475"/>
            <a:ext cx="185171" cy="185166"/>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6" name="Google Shape;596;p41"/>
          <p:cNvSpPr/>
          <p:nvPr/>
        </p:nvSpPr>
        <p:spPr>
          <a:xfrm>
            <a:off x="8360125" y="1522475"/>
            <a:ext cx="185171" cy="185166"/>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7" name="Google Shape;597;p41"/>
          <p:cNvSpPr/>
          <p:nvPr/>
        </p:nvSpPr>
        <p:spPr>
          <a:xfrm>
            <a:off x="8545296" y="1522475"/>
            <a:ext cx="185171" cy="185166"/>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8" name="Google Shape;598;p41"/>
          <p:cNvSpPr/>
          <p:nvPr/>
        </p:nvSpPr>
        <p:spPr>
          <a:xfrm>
            <a:off x="7249099" y="1707642"/>
            <a:ext cx="185171" cy="185166"/>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9" name="Google Shape;599;p41"/>
          <p:cNvSpPr/>
          <p:nvPr/>
        </p:nvSpPr>
        <p:spPr>
          <a:xfrm>
            <a:off x="7434270" y="1707642"/>
            <a:ext cx="185171" cy="185166"/>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0" name="Google Shape;600;p41"/>
          <p:cNvSpPr/>
          <p:nvPr/>
        </p:nvSpPr>
        <p:spPr>
          <a:xfrm>
            <a:off x="7619441" y="1707642"/>
            <a:ext cx="185171" cy="185166"/>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1" name="Google Shape;601;p41"/>
          <p:cNvSpPr/>
          <p:nvPr/>
        </p:nvSpPr>
        <p:spPr>
          <a:xfrm>
            <a:off x="7804612" y="1707642"/>
            <a:ext cx="185171" cy="185166"/>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2" name="Google Shape;602;p41"/>
          <p:cNvSpPr/>
          <p:nvPr/>
        </p:nvSpPr>
        <p:spPr>
          <a:xfrm>
            <a:off x="7989783" y="1707642"/>
            <a:ext cx="185171" cy="185166"/>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3" name="Google Shape;603;p41"/>
          <p:cNvSpPr/>
          <p:nvPr/>
        </p:nvSpPr>
        <p:spPr>
          <a:xfrm>
            <a:off x="8174954" y="1707642"/>
            <a:ext cx="185171" cy="185166"/>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4" name="Google Shape;604;p41"/>
          <p:cNvSpPr/>
          <p:nvPr/>
        </p:nvSpPr>
        <p:spPr>
          <a:xfrm>
            <a:off x="8360125" y="1707642"/>
            <a:ext cx="185171" cy="185166"/>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5" name="Google Shape;605;p41"/>
          <p:cNvSpPr/>
          <p:nvPr/>
        </p:nvSpPr>
        <p:spPr>
          <a:xfrm>
            <a:off x="8545296" y="1707642"/>
            <a:ext cx="185171" cy="185166"/>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6" name="Google Shape;606;p41"/>
          <p:cNvSpPr/>
          <p:nvPr/>
        </p:nvSpPr>
        <p:spPr>
          <a:xfrm>
            <a:off x="7249099" y="1892808"/>
            <a:ext cx="185171" cy="185166"/>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7" name="Google Shape;607;p41"/>
          <p:cNvSpPr/>
          <p:nvPr/>
        </p:nvSpPr>
        <p:spPr>
          <a:xfrm>
            <a:off x="7434270" y="1892808"/>
            <a:ext cx="185171" cy="185166"/>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8" name="Google Shape;608;p41"/>
          <p:cNvSpPr/>
          <p:nvPr/>
        </p:nvSpPr>
        <p:spPr>
          <a:xfrm>
            <a:off x="7619441" y="1892808"/>
            <a:ext cx="185171" cy="185166"/>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9" name="Google Shape;609;p41"/>
          <p:cNvSpPr/>
          <p:nvPr/>
        </p:nvSpPr>
        <p:spPr>
          <a:xfrm>
            <a:off x="7804612" y="1892808"/>
            <a:ext cx="185171" cy="185166"/>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0" name="Google Shape;610;p41"/>
          <p:cNvSpPr/>
          <p:nvPr/>
        </p:nvSpPr>
        <p:spPr>
          <a:xfrm>
            <a:off x="7989783" y="1892808"/>
            <a:ext cx="185171" cy="185166"/>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1" name="Google Shape;611;p41"/>
          <p:cNvSpPr/>
          <p:nvPr/>
        </p:nvSpPr>
        <p:spPr>
          <a:xfrm>
            <a:off x="8174954" y="1892808"/>
            <a:ext cx="185171" cy="185166"/>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2" name="Google Shape;612;p41"/>
          <p:cNvSpPr/>
          <p:nvPr/>
        </p:nvSpPr>
        <p:spPr>
          <a:xfrm>
            <a:off x="8360125" y="1892808"/>
            <a:ext cx="185171" cy="185166"/>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3" name="Google Shape;613;p41"/>
          <p:cNvSpPr/>
          <p:nvPr/>
        </p:nvSpPr>
        <p:spPr>
          <a:xfrm>
            <a:off x="8545296" y="1892808"/>
            <a:ext cx="185171" cy="185166"/>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4" name="Google Shape;614;p41"/>
          <p:cNvSpPr/>
          <p:nvPr/>
        </p:nvSpPr>
        <p:spPr>
          <a:xfrm>
            <a:off x="7249099" y="2077974"/>
            <a:ext cx="185171" cy="185166"/>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5" name="Google Shape;615;p41"/>
          <p:cNvSpPr/>
          <p:nvPr/>
        </p:nvSpPr>
        <p:spPr>
          <a:xfrm>
            <a:off x="7434270" y="2077974"/>
            <a:ext cx="185171" cy="185166"/>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6" name="Google Shape;616;p41"/>
          <p:cNvSpPr/>
          <p:nvPr/>
        </p:nvSpPr>
        <p:spPr>
          <a:xfrm>
            <a:off x="7619441" y="2077974"/>
            <a:ext cx="185171" cy="185166"/>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7" name="Google Shape;617;p41"/>
          <p:cNvSpPr/>
          <p:nvPr/>
        </p:nvSpPr>
        <p:spPr>
          <a:xfrm>
            <a:off x="7804612" y="2077974"/>
            <a:ext cx="185171" cy="185166"/>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8" name="Google Shape;618;p41"/>
          <p:cNvSpPr/>
          <p:nvPr/>
        </p:nvSpPr>
        <p:spPr>
          <a:xfrm>
            <a:off x="7989783" y="2077974"/>
            <a:ext cx="185171" cy="185166"/>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9" name="Google Shape;619;p41"/>
          <p:cNvSpPr/>
          <p:nvPr/>
        </p:nvSpPr>
        <p:spPr>
          <a:xfrm>
            <a:off x="8174954" y="2077974"/>
            <a:ext cx="185171" cy="185166"/>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0" name="Google Shape;620;p41"/>
          <p:cNvSpPr/>
          <p:nvPr/>
        </p:nvSpPr>
        <p:spPr>
          <a:xfrm>
            <a:off x="8360125" y="2077974"/>
            <a:ext cx="185171" cy="185166"/>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1" name="Google Shape;621;p41"/>
          <p:cNvSpPr/>
          <p:nvPr/>
        </p:nvSpPr>
        <p:spPr>
          <a:xfrm>
            <a:off x="8545296" y="2077974"/>
            <a:ext cx="185171" cy="185166"/>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2" name="Google Shape;622;p41"/>
          <p:cNvSpPr/>
          <p:nvPr/>
        </p:nvSpPr>
        <p:spPr>
          <a:xfrm>
            <a:off x="7249099" y="2263140"/>
            <a:ext cx="185171" cy="185166"/>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3" name="Google Shape;623;p41"/>
          <p:cNvSpPr/>
          <p:nvPr/>
        </p:nvSpPr>
        <p:spPr>
          <a:xfrm>
            <a:off x="7434270" y="2263140"/>
            <a:ext cx="185171" cy="185166"/>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4" name="Google Shape;624;p41"/>
          <p:cNvSpPr/>
          <p:nvPr/>
        </p:nvSpPr>
        <p:spPr>
          <a:xfrm>
            <a:off x="7619441" y="2263140"/>
            <a:ext cx="185171" cy="185166"/>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5" name="Google Shape;625;p41"/>
          <p:cNvSpPr/>
          <p:nvPr/>
        </p:nvSpPr>
        <p:spPr>
          <a:xfrm>
            <a:off x="7804612" y="2263140"/>
            <a:ext cx="185171" cy="185166"/>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6" name="Google Shape;626;p41"/>
          <p:cNvSpPr/>
          <p:nvPr/>
        </p:nvSpPr>
        <p:spPr>
          <a:xfrm>
            <a:off x="7989783" y="2263140"/>
            <a:ext cx="185171" cy="185166"/>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7" name="Google Shape;627;p41"/>
          <p:cNvSpPr/>
          <p:nvPr/>
        </p:nvSpPr>
        <p:spPr>
          <a:xfrm>
            <a:off x="8174954" y="2263140"/>
            <a:ext cx="185171" cy="185166"/>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8" name="Google Shape;628;p41"/>
          <p:cNvSpPr/>
          <p:nvPr/>
        </p:nvSpPr>
        <p:spPr>
          <a:xfrm>
            <a:off x="8360125" y="2263140"/>
            <a:ext cx="185171" cy="185166"/>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9" name="Google Shape;629;p41"/>
          <p:cNvSpPr/>
          <p:nvPr/>
        </p:nvSpPr>
        <p:spPr>
          <a:xfrm>
            <a:off x="8545296" y="2263140"/>
            <a:ext cx="185171" cy="185166"/>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0" name="Google Shape;630;p41"/>
          <p:cNvSpPr/>
          <p:nvPr/>
        </p:nvSpPr>
        <p:spPr>
          <a:xfrm>
            <a:off x="7249099" y="2448306"/>
            <a:ext cx="185171" cy="185166"/>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1" name="Google Shape;631;p41"/>
          <p:cNvSpPr/>
          <p:nvPr/>
        </p:nvSpPr>
        <p:spPr>
          <a:xfrm>
            <a:off x="7434270" y="2448306"/>
            <a:ext cx="185171" cy="185166"/>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2" name="Google Shape;632;p41"/>
          <p:cNvSpPr/>
          <p:nvPr/>
        </p:nvSpPr>
        <p:spPr>
          <a:xfrm>
            <a:off x="7619441" y="2448306"/>
            <a:ext cx="185171" cy="185166"/>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3" name="Google Shape;633;p41"/>
          <p:cNvSpPr/>
          <p:nvPr/>
        </p:nvSpPr>
        <p:spPr>
          <a:xfrm>
            <a:off x="7804612" y="2448306"/>
            <a:ext cx="185171" cy="185166"/>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4" name="Google Shape;634;p41"/>
          <p:cNvSpPr/>
          <p:nvPr/>
        </p:nvSpPr>
        <p:spPr>
          <a:xfrm>
            <a:off x="7989783" y="2448306"/>
            <a:ext cx="185171" cy="185166"/>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5" name="Google Shape;635;p41"/>
          <p:cNvSpPr/>
          <p:nvPr/>
        </p:nvSpPr>
        <p:spPr>
          <a:xfrm>
            <a:off x="8174954" y="2448306"/>
            <a:ext cx="185171" cy="185166"/>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6" name="Google Shape;636;p41"/>
          <p:cNvSpPr/>
          <p:nvPr/>
        </p:nvSpPr>
        <p:spPr>
          <a:xfrm>
            <a:off x="8360125" y="2448306"/>
            <a:ext cx="185171" cy="185166"/>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7" name="Google Shape;637;p41"/>
          <p:cNvSpPr/>
          <p:nvPr/>
        </p:nvSpPr>
        <p:spPr>
          <a:xfrm>
            <a:off x="8545296" y="2448306"/>
            <a:ext cx="185171" cy="185166"/>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8" name="Google Shape;638;p41"/>
          <p:cNvSpPr/>
          <p:nvPr/>
        </p:nvSpPr>
        <p:spPr>
          <a:xfrm>
            <a:off x="7249099" y="2633472"/>
            <a:ext cx="185171" cy="185166"/>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39" name="Google Shape;639;p41"/>
          <p:cNvSpPr/>
          <p:nvPr/>
        </p:nvSpPr>
        <p:spPr>
          <a:xfrm>
            <a:off x="7434270" y="2633472"/>
            <a:ext cx="185171" cy="185166"/>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0" name="Google Shape;640;p41"/>
          <p:cNvSpPr/>
          <p:nvPr/>
        </p:nvSpPr>
        <p:spPr>
          <a:xfrm>
            <a:off x="7619441" y="2633472"/>
            <a:ext cx="185171" cy="185166"/>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1" name="Google Shape;641;p41"/>
          <p:cNvSpPr/>
          <p:nvPr/>
        </p:nvSpPr>
        <p:spPr>
          <a:xfrm>
            <a:off x="7804612" y="2633472"/>
            <a:ext cx="185171" cy="185166"/>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2" name="Google Shape;642;p41"/>
          <p:cNvSpPr/>
          <p:nvPr/>
        </p:nvSpPr>
        <p:spPr>
          <a:xfrm>
            <a:off x="7989783" y="2633472"/>
            <a:ext cx="185171" cy="185166"/>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3" name="Google Shape;643;p41"/>
          <p:cNvSpPr/>
          <p:nvPr/>
        </p:nvSpPr>
        <p:spPr>
          <a:xfrm>
            <a:off x="8174954" y="2633472"/>
            <a:ext cx="185171" cy="185166"/>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4" name="Google Shape;644;p41"/>
          <p:cNvSpPr/>
          <p:nvPr/>
        </p:nvSpPr>
        <p:spPr>
          <a:xfrm>
            <a:off x="8360125" y="2633472"/>
            <a:ext cx="185171" cy="185166"/>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5" name="Google Shape;645;p41"/>
          <p:cNvSpPr/>
          <p:nvPr/>
        </p:nvSpPr>
        <p:spPr>
          <a:xfrm>
            <a:off x="8545296" y="2633472"/>
            <a:ext cx="185171" cy="185166"/>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6" name="Google Shape;646;p41"/>
          <p:cNvSpPr txBox="1"/>
          <p:nvPr/>
        </p:nvSpPr>
        <p:spPr>
          <a:xfrm>
            <a:off x="7180517" y="2873502"/>
            <a:ext cx="1618531" cy="2400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Hilbert</a:t>
            </a:r>
            <a:endParaRPr b="0" i="0" sz="1100" u="none" cap="none" strike="noStrike">
              <a:solidFill>
                <a:srgbClr val="000000"/>
              </a:solidFill>
              <a:latin typeface="Arial"/>
              <a:ea typeface="Arial"/>
              <a:cs typeface="Arial"/>
              <a:sym typeface="Arial"/>
            </a:endParaRPr>
          </a:p>
        </p:txBody>
      </p:sp>
      <p:sp>
        <p:nvSpPr>
          <p:cNvPr id="647" name="Google Shape;647;p41"/>
          <p:cNvSpPr txBox="1"/>
          <p:nvPr/>
        </p:nvSpPr>
        <p:spPr>
          <a:xfrm>
            <a:off x="411491" y="3257550"/>
            <a:ext cx="1508800"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read first</a:t>
            </a:r>
            <a:endParaRPr b="0" i="0" sz="1100" u="none" cap="none" strike="noStrike">
              <a:solidFill>
                <a:srgbClr val="000000"/>
              </a:solidFill>
              <a:latin typeface="Arial"/>
              <a:ea typeface="Arial"/>
              <a:cs typeface="Arial"/>
              <a:sym typeface="Arial"/>
            </a:endParaRPr>
          </a:p>
        </p:txBody>
      </p:sp>
      <p:sp>
        <p:nvSpPr>
          <p:cNvPr id="648" name="Google Shape;648;p41"/>
          <p:cNvSpPr/>
          <p:nvPr/>
        </p:nvSpPr>
        <p:spPr>
          <a:xfrm>
            <a:off x="1063018" y="3291840"/>
            <a:ext cx="123447" cy="137160"/>
          </a:xfrm>
          <a:prstGeom prst="rect">
            <a:avLst/>
          </a:prstGeom>
          <a:solidFill>
            <a:srgbClr val="3A241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49" name="Google Shape;649;p41"/>
          <p:cNvSpPr/>
          <p:nvPr/>
        </p:nvSpPr>
        <p:spPr>
          <a:xfrm>
            <a:off x="1186466" y="3291840"/>
            <a:ext cx="123447" cy="137160"/>
          </a:xfrm>
          <a:prstGeom prst="rect">
            <a:avLst/>
          </a:prstGeom>
          <a:solidFill>
            <a:srgbClr val="4C362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0" name="Google Shape;650;p41"/>
          <p:cNvSpPr/>
          <p:nvPr/>
        </p:nvSpPr>
        <p:spPr>
          <a:xfrm>
            <a:off x="1309913" y="3291840"/>
            <a:ext cx="123447" cy="137160"/>
          </a:xfrm>
          <a:prstGeom prst="rect">
            <a:avLst/>
          </a:prstGeom>
          <a:solidFill>
            <a:srgbClr val="5D473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1" name="Google Shape;651;p41"/>
          <p:cNvSpPr/>
          <p:nvPr/>
        </p:nvSpPr>
        <p:spPr>
          <a:xfrm>
            <a:off x="1433359" y="3291840"/>
            <a:ext cx="123447" cy="137160"/>
          </a:xfrm>
          <a:prstGeom prst="rect">
            <a:avLst/>
          </a:prstGeom>
          <a:solidFill>
            <a:srgbClr val="6F59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2" name="Google Shape;652;p41"/>
          <p:cNvSpPr/>
          <p:nvPr/>
        </p:nvSpPr>
        <p:spPr>
          <a:xfrm>
            <a:off x="1556807" y="3291840"/>
            <a:ext cx="123447" cy="137160"/>
          </a:xfrm>
          <a:prstGeom prst="rect">
            <a:avLst/>
          </a:prstGeom>
          <a:solidFill>
            <a:srgbClr val="806B5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3" name="Google Shape;653;p41"/>
          <p:cNvSpPr/>
          <p:nvPr/>
        </p:nvSpPr>
        <p:spPr>
          <a:xfrm>
            <a:off x="1680255" y="3291840"/>
            <a:ext cx="123447" cy="137160"/>
          </a:xfrm>
          <a:prstGeom prst="rect">
            <a:avLst/>
          </a:prstGeom>
          <a:solidFill>
            <a:srgbClr val="927D6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4" name="Google Shape;654;p41"/>
          <p:cNvSpPr/>
          <p:nvPr/>
        </p:nvSpPr>
        <p:spPr>
          <a:xfrm>
            <a:off x="1803702" y="3291840"/>
            <a:ext cx="123447" cy="137160"/>
          </a:xfrm>
          <a:prstGeom prst="rect">
            <a:avLst/>
          </a:prstGeom>
          <a:solidFill>
            <a:srgbClr val="A38E7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5" name="Google Shape;655;p41"/>
          <p:cNvSpPr/>
          <p:nvPr/>
        </p:nvSpPr>
        <p:spPr>
          <a:xfrm>
            <a:off x="1927149" y="3291840"/>
            <a:ext cx="123447" cy="137160"/>
          </a:xfrm>
          <a:prstGeom prst="rect">
            <a:avLst/>
          </a:prstGeom>
          <a:solidFill>
            <a:srgbClr val="B5A08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6" name="Google Shape;656;p41"/>
          <p:cNvSpPr/>
          <p:nvPr/>
        </p:nvSpPr>
        <p:spPr>
          <a:xfrm>
            <a:off x="2050597" y="3291840"/>
            <a:ext cx="123447" cy="137160"/>
          </a:xfrm>
          <a:prstGeom prst="rect">
            <a:avLst/>
          </a:prstGeom>
          <a:solidFill>
            <a:srgbClr val="C6B29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7" name="Google Shape;657;p41"/>
          <p:cNvSpPr/>
          <p:nvPr/>
        </p:nvSpPr>
        <p:spPr>
          <a:xfrm>
            <a:off x="2174044" y="3291840"/>
            <a:ext cx="123447" cy="137160"/>
          </a:xfrm>
          <a:prstGeom prst="rect">
            <a:avLst/>
          </a:prstGeom>
          <a:solidFill>
            <a:srgbClr val="D8C4A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8" name="Google Shape;658;p41"/>
          <p:cNvSpPr/>
          <p:nvPr/>
        </p:nvSpPr>
        <p:spPr>
          <a:xfrm>
            <a:off x="2297490" y="3291840"/>
            <a:ext cx="123447" cy="137160"/>
          </a:xfrm>
          <a:prstGeom prst="rect">
            <a:avLst/>
          </a:prstGeom>
          <a:solidFill>
            <a:srgbClr val="E9D5B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9" name="Google Shape;659;p41"/>
          <p:cNvSpPr/>
          <p:nvPr/>
        </p:nvSpPr>
        <p:spPr>
          <a:xfrm>
            <a:off x="2420939" y="3291840"/>
            <a:ext cx="123447" cy="137160"/>
          </a:xfrm>
          <a:prstGeom prst="rect">
            <a:avLst/>
          </a:prstGeom>
          <a:solidFill>
            <a:srgbClr val="FBE7C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0" name="Google Shape;660;p41"/>
          <p:cNvSpPr txBox="1"/>
          <p:nvPr/>
        </p:nvSpPr>
        <p:spPr>
          <a:xfrm>
            <a:off x="2606109" y="3257550"/>
            <a:ext cx="1028727"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read last</a:t>
            </a:r>
            <a:endParaRPr b="0" i="0" sz="1100" u="none" cap="none" strike="noStrike">
              <a:solidFill>
                <a:srgbClr val="000000"/>
              </a:solidFill>
              <a:latin typeface="Arial"/>
              <a:ea typeface="Arial"/>
              <a:cs typeface="Arial"/>
              <a:sym typeface="Arial"/>
            </a:endParaRPr>
          </a:p>
        </p:txBody>
      </p:sp>
      <p:sp>
        <p:nvSpPr>
          <p:cNvPr id="661" name="Google Shape;661;p41"/>
          <p:cNvSpPr/>
          <p:nvPr/>
        </p:nvSpPr>
        <p:spPr>
          <a:xfrm>
            <a:off x="411491" y="3634740"/>
            <a:ext cx="8318976" cy="78867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2" name="Google Shape;662;p41"/>
          <p:cNvSpPr txBox="1"/>
          <p:nvPr/>
        </p:nvSpPr>
        <p:spPr>
          <a:xfrm>
            <a:off x="582946" y="3717036"/>
            <a:ext cx="8024100" cy="402900"/>
          </a:xfrm>
          <a:prstGeom prst="rect">
            <a:avLst/>
          </a:prstGeom>
          <a:noFill/>
          <a:ln>
            <a:noFill/>
          </a:ln>
        </p:spPr>
        <p:txBody>
          <a:bodyPr anchorCtr="0" anchor="t" bIns="0" lIns="0" spcFirstLastPara="1" rIns="0" wrap="square" tIns="0">
            <a:spAutoFit/>
          </a:bodyPr>
          <a:lstStyle/>
          <a:p>
            <a:pPr indent="-184150" lvl="0" marL="190500" marR="0" rtl="0" algn="l">
              <a:lnSpc>
                <a:spcPct val="100000"/>
              </a:lnSpc>
              <a:spcBef>
                <a:spcPts val="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The board image is never altered. </a:t>
            </a:r>
            <a:r>
              <a:rPr b="0" i="0" lang="it" sz="1100" u="none" cap="none" strike="noStrike">
                <a:solidFill>
                  <a:srgbClr val="221C17"/>
                </a:solidFill>
                <a:latin typeface="Calibri"/>
                <a:ea typeface="Calibri"/>
                <a:cs typeface="Calibri"/>
                <a:sym typeface="Calibri"/>
              </a:rPr>
              <a:t>Every token keeps its true 2D position; only the order in which the LLM reads the tokens changes.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3" name="Google Shape;663;p41"/>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4" name="Google Shape;664;p41"/>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5</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9" name="Shape 669"/>
        <p:cNvGrpSpPr/>
        <p:nvPr/>
      </p:nvGrpSpPr>
      <p:grpSpPr>
        <a:xfrm>
          <a:off x="0" y="0"/>
          <a:ext cx="0" cy="0"/>
          <a:chOff x="0" y="0"/>
          <a:chExt cx="0" cy="0"/>
        </a:xfrm>
      </p:grpSpPr>
      <p:sp>
        <p:nvSpPr>
          <p:cNvPr id="670" name="Google Shape;670;p42"/>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Fine-tuning is what makes the tasks solvable</a:t>
            </a:r>
            <a:endParaRPr b="0" i="0" sz="1100" u="none" cap="none" strike="noStrike">
              <a:solidFill>
                <a:srgbClr val="000000"/>
              </a:solidFill>
              <a:latin typeface="Arial"/>
              <a:ea typeface="Arial"/>
              <a:cs typeface="Arial"/>
              <a:sym typeface="Arial"/>
            </a:endParaRPr>
          </a:p>
        </p:txBody>
      </p:sp>
      <p:sp>
        <p:nvSpPr>
          <p:cNvPr id="671" name="Google Shape;671;p42"/>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Exact match on 400 test samples — vanilla Qwen3.5-0.8B vs LoRA with the default raster order</a:t>
            </a:r>
            <a:endParaRPr b="0" i="0" sz="1100" u="none" cap="none" strike="noStrike">
              <a:solidFill>
                <a:srgbClr val="000000"/>
              </a:solidFill>
              <a:latin typeface="Arial"/>
              <a:ea typeface="Arial"/>
              <a:cs typeface="Arial"/>
              <a:sym typeface="Arial"/>
            </a:endParaRPr>
          </a:p>
        </p:txBody>
      </p:sp>
      <p:sp>
        <p:nvSpPr>
          <p:cNvPr id="672" name="Google Shape;672;p42"/>
          <p:cNvSpPr/>
          <p:nvPr/>
        </p:nvSpPr>
        <p:spPr>
          <a:xfrm>
            <a:off x="411491" y="1303020"/>
            <a:ext cx="2674691" cy="229743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3" name="Google Shape;673;p42"/>
          <p:cNvSpPr txBox="1"/>
          <p:nvPr/>
        </p:nvSpPr>
        <p:spPr>
          <a:xfrm>
            <a:off x="617236" y="1405889"/>
            <a:ext cx="2263200"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it" sz="1500" u="none" cap="none" strike="noStrike">
                <a:solidFill>
                  <a:srgbClr val="221C17"/>
                </a:solidFill>
                <a:latin typeface="Cambria"/>
                <a:ea typeface="Cambria"/>
                <a:cs typeface="Cambria"/>
                <a:sym typeface="Cambria"/>
              </a:rPr>
              <a:t>Task 1</a:t>
            </a:r>
            <a:endParaRPr b="0" i="0" sz="1100" u="none" cap="none" strike="noStrike">
              <a:solidFill>
                <a:srgbClr val="000000"/>
              </a:solidFill>
              <a:latin typeface="Arial"/>
              <a:ea typeface="Arial"/>
              <a:cs typeface="Arial"/>
              <a:sym typeface="Arial"/>
            </a:endParaRPr>
          </a:p>
        </p:txBody>
      </p:sp>
      <p:sp>
        <p:nvSpPr>
          <p:cNvPr id="674" name="Google Shape;674;p42"/>
          <p:cNvSpPr txBox="1"/>
          <p:nvPr/>
        </p:nvSpPr>
        <p:spPr>
          <a:xfrm>
            <a:off x="617236" y="1714500"/>
            <a:ext cx="2263200"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Board exact match</a:t>
            </a:r>
            <a:endParaRPr b="0" i="0" sz="1100" u="none" cap="none" strike="noStrike">
              <a:solidFill>
                <a:srgbClr val="000000"/>
              </a:solidFill>
              <a:latin typeface="Arial"/>
              <a:ea typeface="Arial"/>
              <a:cs typeface="Arial"/>
              <a:sym typeface="Arial"/>
            </a:endParaRPr>
          </a:p>
        </p:txBody>
      </p:sp>
      <p:sp>
        <p:nvSpPr>
          <p:cNvPr id="675" name="Google Shape;675;p42"/>
          <p:cNvSpPr txBox="1"/>
          <p:nvPr/>
        </p:nvSpPr>
        <p:spPr>
          <a:xfrm>
            <a:off x="617236" y="2057400"/>
            <a:ext cx="960146"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Vanilla</a:t>
            </a:r>
            <a:endParaRPr b="0" i="0" sz="1100" u="none" cap="none" strike="noStrike">
              <a:solidFill>
                <a:srgbClr val="000000"/>
              </a:solidFill>
              <a:latin typeface="Arial"/>
              <a:ea typeface="Arial"/>
              <a:cs typeface="Arial"/>
              <a:sym typeface="Arial"/>
            </a:endParaRPr>
          </a:p>
        </p:txBody>
      </p:sp>
      <p:sp>
        <p:nvSpPr>
          <p:cNvPr id="676" name="Google Shape;676;p42"/>
          <p:cNvSpPr txBox="1"/>
          <p:nvPr/>
        </p:nvSpPr>
        <p:spPr>
          <a:xfrm>
            <a:off x="617236" y="2228850"/>
            <a:ext cx="960146"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it" sz="2300" u="none" cap="none" strike="noStrike">
                <a:solidFill>
                  <a:srgbClr val="6B625A"/>
                </a:solidFill>
                <a:latin typeface="Cambria"/>
                <a:ea typeface="Cambria"/>
                <a:cs typeface="Cambria"/>
                <a:sym typeface="Cambria"/>
              </a:rPr>
              <a:t>0%</a:t>
            </a:r>
            <a:endParaRPr b="0" i="0" sz="1100" u="none" cap="none" strike="noStrike">
              <a:solidFill>
                <a:srgbClr val="000000"/>
              </a:solidFill>
              <a:latin typeface="Arial"/>
              <a:ea typeface="Arial"/>
              <a:cs typeface="Arial"/>
              <a:sym typeface="Arial"/>
            </a:endParaRPr>
          </a:p>
        </p:txBody>
      </p:sp>
      <p:sp>
        <p:nvSpPr>
          <p:cNvPr id="677" name="Google Shape;677;p42"/>
          <p:cNvSpPr txBox="1"/>
          <p:nvPr/>
        </p:nvSpPr>
        <p:spPr>
          <a:xfrm>
            <a:off x="1611673" y="2057400"/>
            <a:ext cx="1371637"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LoRA (raster)</a:t>
            </a:r>
            <a:endParaRPr b="0" i="0" sz="1100" u="none" cap="none" strike="noStrike">
              <a:solidFill>
                <a:srgbClr val="000000"/>
              </a:solidFill>
              <a:latin typeface="Arial"/>
              <a:ea typeface="Arial"/>
              <a:cs typeface="Arial"/>
              <a:sym typeface="Arial"/>
            </a:endParaRPr>
          </a:p>
        </p:txBody>
      </p:sp>
      <p:sp>
        <p:nvSpPr>
          <p:cNvPr id="678" name="Google Shape;678;p42"/>
          <p:cNvSpPr txBox="1"/>
          <p:nvPr/>
        </p:nvSpPr>
        <p:spPr>
          <a:xfrm>
            <a:off x="1611673" y="2125980"/>
            <a:ext cx="144021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it" sz="3300" u="none" cap="none" strike="noStrike">
                <a:solidFill>
                  <a:srgbClr val="B5652A"/>
                </a:solidFill>
                <a:latin typeface="Cambria"/>
                <a:ea typeface="Cambria"/>
                <a:cs typeface="Cambria"/>
                <a:sym typeface="Cambria"/>
              </a:rPr>
              <a:t>97.0%</a:t>
            </a:r>
            <a:endParaRPr b="0" i="0" sz="1100" u="none" cap="none" strike="noStrike">
              <a:solidFill>
                <a:srgbClr val="000000"/>
              </a:solidFill>
              <a:latin typeface="Arial"/>
              <a:ea typeface="Arial"/>
              <a:cs typeface="Arial"/>
              <a:sym typeface="Arial"/>
            </a:endParaRPr>
          </a:p>
        </p:txBody>
      </p:sp>
      <p:sp>
        <p:nvSpPr>
          <p:cNvPr id="679" name="Google Shape;679;p42"/>
          <p:cNvSpPr txBox="1"/>
          <p:nvPr/>
        </p:nvSpPr>
        <p:spPr>
          <a:xfrm>
            <a:off x="617236" y="3051810"/>
            <a:ext cx="2263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98.5%</a:t>
            </a:r>
            <a:r>
              <a:rPr b="0" i="0" lang="it" sz="1100" u="none" cap="none" strike="noStrike">
                <a:solidFill>
                  <a:srgbClr val="221C17"/>
                </a:solidFill>
                <a:latin typeface="Calibri"/>
                <a:ea typeface="Calibri"/>
                <a:cs typeface="Calibri"/>
                <a:sym typeface="Calibri"/>
              </a:rPr>
              <a:t> of squares correct</a:t>
            </a:r>
            <a:endParaRPr b="0" i="0" sz="1100" u="none" cap="none" strike="noStrike">
              <a:solidFill>
                <a:srgbClr val="000000"/>
              </a:solidFill>
              <a:latin typeface="Arial"/>
              <a:ea typeface="Arial"/>
              <a:cs typeface="Arial"/>
              <a:sym typeface="Arial"/>
            </a:endParaRPr>
          </a:p>
        </p:txBody>
      </p:sp>
      <p:sp>
        <p:nvSpPr>
          <p:cNvPr id="680" name="Google Shape;680;p42"/>
          <p:cNvSpPr/>
          <p:nvPr/>
        </p:nvSpPr>
        <p:spPr>
          <a:xfrm>
            <a:off x="3223345" y="1303020"/>
            <a:ext cx="2674691" cy="229743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1" name="Google Shape;681;p42"/>
          <p:cNvSpPr txBox="1"/>
          <p:nvPr/>
        </p:nvSpPr>
        <p:spPr>
          <a:xfrm>
            <a:off x="3429091" y="1405889"/>
            <a:ext cx="2263200"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it" sz="1500" u="none" cap="none" strike="noStrike">
                <a:solidFill>
                  <a:srgbClr val="221C17"/>
                </a:solidFill>
                <a:latin typeface="Cambria"/>
                <a:ea typeface="Cambria"/>
                <a:cs typeface="Cambria"/>
                <a:sym typeface="Cambria"/>
              </a:rPr>
              <a:t>Task 2</a:t>
            </a:r>
            <a:endParaRPr b="0" i="0" sz="1100" u="none" cap="none" strike="noStrike">
              <a:solidFill>
                <a:srgbClr val="000000"/>
              </a:solidFill>
              <a:latin typeface="Arial"/>
              <a:ea typeface="Arial"/>
              <a:cs typeface="Arial"/>
              <a:sym typeface="Arial"/>
            </a:endParaRPr>
          </a:p>
        </p:txBody>
      </p:sp>
      <p:sp>
        <p:nvSpPr>
          <p:cNvPr id="682" name="Google Shape;682;p42"/>
          <p:cNvSpPr txBox="1"/>
          <p:nvPr/>
        </p:nvSpPr>
        <p:spPr>
          <a:xfrm>
            <a:off x="3429091" y="1714500"/>
            <a:ext cx="2263200"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SAN exact match</a:t>
            </a:r>
            <a:endParaRPr b="0" i="0" sz="1100" u="none" cap="none" strike="noStrike">
              <a:solidFill>
                <a:srgbClr val="000000"/>
              </a:solidFill>
              <a:latin typeface="Arial"/>
              <a:ea typeface="Arial"/>
              <a:cs typeface="Arial"/>
              <a:sym typeface="Arial"/>
            </a:endParaRPr>
          </a:p>
        </p:txBody>
      </p:sp>
      <p:sp>
        <p:nvSpPr>
          <p:cNvPr id="683" name="Google Shape;683;p42"/>
          <p:cNvSpPr txBox="1"/>
          <p:nvPr/>
        </p:nvSpPr>
        <p:spPr>
          <a:xfrm>
            <a:off x="3429091" y="2057400"/>
            <a:ext cx="960146"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Vanilla</a:t>
            </a:r>
            <a:endParaRPr b="0" i="0" sz="1100" u="none" cap="none" strike="noStrike">
              <a:solidFill>
                <a:srgbClr val="000000"/>
              </a:solidFill>
              <a:latin typeface="Arial"/>
              <a:ea typeface="Arial"/>
              <a:cs typeface="Arial"/>
              <a:sym typeface="Arial"/>
            </a:endParaRPr>
          </a:p>
        </p:txBody>
      </p:sp>
      <p:sp>
        <p:nvSpPr>
          <p:cNvPr id="684" name="Google Shape;684;p42"/>
          <p:cNvSpPr txBox="1"/>
          <p:nvPr/>
        </p:nvSpPr>
        <p:spPr>
          <a:xfrm>
            <a:off x="3429091" y="2228850"/>
            <a:ext cx="960146"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it" sz="2300" u="none" cap="none" strike="noStrike">
                <a:solidFill>
                  <a:srgbClr val="6B625A"/>
                </a:solidFill>
                <a:latin typeface="Cambria"/>
                <a:ea typeface="Cambria"/>
                <a:cs typeface="Cambria"/>
                <a:sym typeface="Cambria"/>
              </a:rPr>
              <a:t>0%</a:t>
            </a:r>
            <a:endParaRPr b="0" i="0" sz="1100" u="none" cap="none" strike="noStrike">
              <a:solidFill>
                <a:srgbClr val="000000"/>
              </a:solidFill>
              <a:latin typeface="Arial"/>
              <a:ea typeface="Arial"/>
              <a:cs typeface="Arial"/>
              <a:sym typeface="Arial"/>
            </a:endParaRPr>
          </a:p>
        </p:txBody>
      </p:sp>
      <p:sp>
        <p:nvSpPr>
          <p:cNvPr id="685" name="Google Shape;685;p42"/>
          <p:cNvSpPr txBox="1"/>
          <p:nvPr/>
        </p:nvSpPr>
        <p:spPr>
          <a:xfrm>
            <a:off x="4423527" y="2057400"/>
            <a:ext cx="1371637"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LoRA (raster)</a:t>
            </a:r>
            <a:endParaRPr b="0" i="0" sz="1100" u="none" cap="none" strike="noStrike">
              <a:solidFill>
                <a:srgbClr val="000000"/>
              </a:solidFill>
              <a:latin typeface="Arial"/>
              <a:ea typeface="Arial"/>
              <a:cs typeface="Arial"/>
              <a:sym typeface="Arial"/>
            </a:endParaRPr>
          </a:p>
        </p:txBody>
      </p:sp>
      <p:sp>
        <p:nvSpPr>
          <p:cNvPr id="686" name="Google Shape;686;p42"/>
          <p:cNvSpPr txBox="1"/>
          <p:nvPr/>
        </p:nvSpPr>
        <p:spPr>
          <a:xfrm>
            <a:off x="4423527" y="2125980"/>
            <a:ext cx="144021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it" sz="3300" u="none" cap="none" strike="noStrike">
                <a:solidFill>
                  <a:srgbClr val="B5652A"/>
                </a:solidFill>
                <a:latin typeface="Cambria"/>
                <a:ea typeface="Cambria"/>
                <a:cs typeface="Cambria"/>
                <a:sym typeface="Cambria"/>
              </a:rPr>
              <a:t>60.3%</a:t>
            </a:r>
            <a:endParaRPr b="0" i="0" sz="1100" u="none" cap="none" strike="noStrike">
              <a:solidFill>
                <a:srgbClr val="000000"/>
              </a:solidFill>
              <a:latin typeface="Arial"/>
              <a:ea typeface="Arial"/>
              <a:cs typeface="Arial"/>
              <a:sym typeface="Arial"/>
            </a:endParaRPr>
          </a:p>
        </p:txBody>
      </p:sp>
      <p:sp>
        <p:nvSpPr>
          <p:cNvPr id="687" name="Google Shape;687;p42"/>
          <p:cNvSpPr txBox="1"/>
          <p:nvPr/>
        </p:nvSpPr>
        <p:spPr>
          <a:xfrm>
            <a:off x="3429091" y="3051810"/>
            <a:ext cx="2263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93.8%</a:t>
            </a:r>
            <a:r>
              <a:rPr b="0" i="0" lang="it" sz="1100" u="none" cap="none" strike="noStrike">
                <a:solidFill>
                  <a:srgbClr val="221C17"/>
                </a:solidFill>
                <a:latin typeface="Calibri"/>
                <a:ea typeface="Calibri"/>
                <a:cs typeface="Calibri"/>
                <a:sym typeface="Calibri"/>
              </a:rPr>
              <a:t> name the right move</a:t>
            </a:r>
            <a:endParaRPr b="0" i="0" sz="1100" u="none" cap="none" strike="noStrike">
              <a:solidFill>
                <a:srgbClr val="000000"/>
              </a:solidFill>
              <a:latin typeface="Arial"/>
              <a:ea typeface="Arial"/>
              <a:cs typeface="Arial"/>
              <a:sym typeface="Arial"/>
            </a:endParaRPr>
          </a:p>
        </p:txBody>
      </p:sp>
      <p:sp>
        <p:nvSpPr>
          <p:cNvPr id="688" name="Google Shape;688;p42"/>
          <p:cNvSpPr/>
          <p:nvPr/>
        </p:nvSpPr>
        <p:spPr>
          <a:xfrm>
            <a:off x="6035200" y="1303020"/>
            <a:ext cx="2674691" cy="229743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9" name="Google Shape;689;p42"/>
          <p:cNvSpPr txBox="1"/>
          <p:nvPr/>
        </p:nvSpPr>
        <p:spPr>
          <a:xfrm>
            <a:off x="6240946" y="1405889"/>
            <a:ext cx="2263200"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it" sz="1500" u="none" cap="none" strike="noStrike">
                <a:solidFill>
                  <a:srgbClr val="221C17"/>
                </a:solidFill>
                <a:latin typeface="Cambria"/>
                <a:ea typeface="Cambria"/>
                <a:cs typeface="Cambria"/>
                <a:sym typeface="Cambria"/>
              </a:rPr>
              <a:t>Task 3</a:t>
            </a:r>
            <a:endParaRPr b="0" i="0" sz="1100" u="none" cap="none" strike="noStrike">
              <a:solidFill>
                <a:srgbClr val="000000"/>
              </a:solidFill>
              <a:latin typeface="Arial"/>
              <a:ea typeface="Arial"/>
              <a:cs typeface="Arial"/>
              <a:sym typeface="Arial"/>
            </a:endParaRPr>
          </a:p>
        </p:txBody>
      </p:sp>
      <p:sp>
        <p:nvSpPr>
          <p:cNvPr id="690" name="Google Shape;690;p42"/>
          <p:cNvSpPr txBox="1"/>
          <p:nvPr/>
        </p:nvSpPr>
        <p:spPr>
          <a:xfrm>
            <a:off x="6240946" y="1714500"/>
            <a:ext cx="2263200" cy="2400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SAN exact match</a:t>
            </a:r>
            <a:endParaRPr b="0" i="0" sz="1100" u="none" cap="none" strike="noStrike">
              <a:solidFill>
                <a:srgbClr val="000000"/>
              </a:solidFill>
              <a:latin typeface="Arial"/>
              <a:ea typeface="Arial"/>
              <a:cs typeface="Arial"/>
              <a:sym typeface="Arial"/>
            </a:endParaRPr>
          </a:p>
        </p:txBody>
      </p:sp>
      <p:sp>
        <p:nvSpPr>
          <p:cNvPr id="691" name="Google Shape;691;p42"/>
          <p:cNvSpPr txBox="1"/>
          <p:nvPr/>
        </p:nvSpPr>
        <p:spPr>
          <a:xfrm>
            <a:off x="6240946" y="2057400"/>
            <a:ext cx="960146"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Vanilla</a:t>
            </a:r>
            <a:endParaRPr b="0" i="0" sz="1100" u="none" cap="none" strike="noStrike">
              <a:solidFill>
                <a:srgbClr val="000000"/>
              </a:solidFill>
              <a:latin typeface="Arial"/>
              <a:ea typeface="Arial"/>
              <a:cs typeface="Arial"/>
              <a:sym typeface="Arial"/>
            </a:endParaRPr>
          </a:p>
        </p:txBody>
      </p:sp>
      <p:sp>
        <p:nvSpPr>
          <p:cNvPr id="692" name="Google Shape;692;p42"/>
          <p:cNvSpPr txBox="1"/>
          <p:nvPr/>
        </p:nvSpPr>
        <p:spPr>
          <a:xfrm>
            <a:off x="6240946" y="2228850"/>
            <a:ext cx="960146"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1" i="0" lang="it" sz="2300" u="none" cap="none" strike="noStrike">
                <a:solidFill>
                  <a:srgbClr val="6B625A"/>
                </a:solidFill>
                <a:latin typeface="Cambria"/>
                <a:ea typeface="Cambria"/>
                <a:cs typeface="Cambria"/>
                <a:sym typeface="Cambria"/>
              </a:rPr>
              <a:t>0.3%</a:t>
            </a:r>
            <a:endParaRPr b="0" i="0" sz="1100" u="none" cap="none" strike="noStrike">
              <a:solidFill>
                <a:srgbClr val="000000"/>
              </a:solidFill>
              <a:latin typeface="Arial"/>
              <a:ea typeface="Arial"/>
              <a:cs typeface="Arial"/>
              <a:sym typeface="Arial"/>
            </a:endParaRPr>
          </a:p>
        </p:txBody>
      </p:sp>
      <p:sp>
        <p:nvSpPr>
          <p:cNvPr id="693" name="Google Shape;693;p42"/>
          <p:cNvSpPr txBox="1"/>
          <p:nvPr/>
        </p:nvSpPr>
        <p:spPr>
          <a:xfrm>
            <a:off x="7235382" y="2057400"/>
            <a:ext cx="1371637" cy="2057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it" sz="900" u="none" cap="none" strike="noStrike">
                <a:solidFill>
                  <a:srgbClr val="6B625A"/>
                </a:solidFill>
                <a:latin typeface="Calibri"/>
                <a:ea typeface="Calibri"/>
                <a:cs typeface="Calibri"/>
                <a:sym typeface="Calibri"/>
              </a:rPr>
              <a:t>LoRA (raster)</a:t>
            </a:r>
            <a:endParaRPr b="0" i="0" sz="1100" u="none" cap="none" strike="noStrike">
              <a:solidFill>
                <a:srgbClr val="000000"/>
              </a:solidFill>
              <a:latin typeface="Arial"/>
              <a:ea typeface="Arial"/>
              <a:cs typeface="Arial"/>
              <a:sym typeface="Arial"/>
            </a:endParaRPr>
          </a:p>
        </p:txBody>
      </p:sp>
      <p:sp>
        <p:nvSpPr>
          <p:cNvPr id="694" name="Google Shape;694;p42"/>
          <p:cNvSpPr txBox="1"/>
          <p:nvPr/>
        </p:nvSpPr>
        <p:spPr>
          <a:xfrm>
            <a:off x="7235382" y="2125980"/>
            <a:ext cx="1440218"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it" sz="3300" u="none" cap="none" strike="noStrike">
                <a:solidFill>
                  <a:srgbClr val="B5652A"/>
                </a:solidFill>
                <a:latin typeface="Cambria"/>
                <a:ea typeface="Cambria"/>
                <a:cs typeface="Cambria"/>
                <a:sym typeface="Cambria"/>
              </a:rPr>
              <a:t>79.8%</a:t>
            </a:r>
            <a:endParaRPr b="0" i="0" sz="1100" u="none" cap="none" strike="noStrike">
              <a:solidFill>
                <a:srgbClr val="000000"/>
              </a:solidFill>
              <a:latin typeface="Arial"/>
              <a:ea typeface="Arial"/>
              <a:cs typeface="Arial"/>
              <a:sym typeface="Arial"/>
            </a:endParaRPr>
          </a:p>
        </p:txBody>
      </p:sp>
      <p:sp>
        <p:nvSpPr>
          <p:cNvPr id="695" name="Google Shape;695;p42"/>
          <p:cNvSpPr txBox="1"/>
          <p:nvPr/>
        </p:nvSpPr>
        <p:spPr>
          <a:xfrm>
            <a:off x="6240946" y="3051810"/>
            <a:ext cx="2263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88.5%</a:t>
            </a:r>
            <a:r>
              <a:rPr b="0" i="0" lang="it" sz="1100" u="none" cap="none" strike="noStrike">
                <a:solidFill>
                  <a:srgbClr val="221C17"/>
                </a:solidFill>
                <a:latin typeface="Calibri"/>
                <a:ea typeface="Calibri"/>
                <a:cs typeface="Calibri"/>
                <a:sym typeface="Calibri"/>
              </a:rPr>
              <a:t> name the right move</a:t>
            </a:r>
            <a:endParaRPr b="0" i="0" sz="1100" u="none" cap="none" strike="noStrike">
              <a:solidFill>
                <a:srgbClr val="000000"/>
              </a:solidFill>
              <a:latin typeface="Arial"/>
              <a:ea typeface="Arial"/>
              <a:cs typeface="Arial"/>
              <a:sym typeface="Arial"/>
            </a:endParaRPr>
          </a:p>
        </p:txBody>
      </p:sp>
      <p:sp>
        <p:nvSpPr>
          <p:cNvPr id="696" name="Google Shape;696;p42"/>
          <p:cNvSpPr txBox="1"/>
          <p:nvPr/>
        </p:nvSpPr>
        <p:spPr>
          <a:xfrm>
            <a:off x="411491" y="3840480"/>
            <a:ext cx="8298401"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3-shot prompting does not help: 0% board match on Task 1 (8.6% of squares), 0.8% and 0% on Tasks 2 and 3.</a:t>
            </a:r>
            <a:endParaRPr b="0" i="0" sz="1100" u="none" cap="none" strike="noStrike">
              <a:solidFill>
                <a:srgbClr val="000000"/>
              </a:solidFill>
              <a:latin typeface="Arial"/>
              <a:ea typeface="Arial"/>
              <a:cs typeface="Arial"/>
              <a:sym typeface="Arial"/>
            </a:endParaRPr>
          </a:p>
        </p:txBody>
      </p:sp>
      <p:sp>
        <p:nvSpPr>
          <p:cNvPr id="697" name="Google Shape;697;p42"/>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98" name="Google Shape;698;p42"/>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6</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43"/>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A new order breaks the model; retraining recovers it</a:t>
            </a:r>
            <a:endParaRPr b="0" i="0" sz="1100" u="none" cap="none" strike="noStrike">
              <a:solidFill>
                <a:srgbClr val="000000"/>
              </a:solidFill>
              <a:latin typeface="Arial"/>
              <a:ea typeface="Arial"/>
              <a:cs typeface="Arial"/>
              <a:sym typeface="Arial"/>
            </a:endParaRPr>
          </a:p>
        </p:txBody>
      </p:sp>
      <p:sp>
        <p:nvSpPr>
          <p:cNvPr id="705" name="Google Shape;705;p43"/>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Exact match (%) on 400 test samples, 256px · green = best order on each task</a:t>
            </a:r>
            <a:endParaRPr b="0" i="0" sz="1100" u="none" cap="none" strike="noStrike">
              <a:solidFill>
                <a:srgbClr val="000000"/>
              </a:solidFill>
              <a:latin typeface="Arial"/>
              <a:ea typeface="Arial"/>
              <a:cs typeface="Arial"/>
              <a:sym typeface="Arial"/>
            </a:endParaRPr>
          </a:p>
        </p:txBody>
      </p:sp>
      <p:sp>
        <p:nvSpPr>
          <p:cNvPr id="706" name="Google Shape;706;p43"/>
          <p:cNvSpPr/>
          <p:nvPr/>
        </p:nvSpPr>
        <p:spPr>
          <a:xfrm>
            <a:off x="5898037" y="1268730"/>
            <a:ext cx="2832430" cy="336042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07" name="Google Shape;707;p43"/>
          <p:cNvSpPr txBox="1"/>
          <p:nvPr/>
        </p:nvSpPr>
        <p:spPr>
          <a:xfrm>
            <a:off x="6069492" y="1371600"/>
            <a:ext cx="2537528"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ambria"/>
                <a:ea typeface="Cambria"/>
                <a:cs typeface="Cambria"/>
                <a:sym typeface="Cambria"/>
              </a:rPr>
              <a:t>Changing the order at test time</a:t>
            </a:r>
            <a:endParaRPr b="0" i="0" sz="1100" u="none" cap="none" strike="noStrike">
              <a:solidFill>
                <a:srgbClr val="000000"/>
              </a:solidFill>
              <a:latin typeface="Arial"/>
              <a:ea typeface="Arial"/>
              <a:cs typeface="Arial"/>
              <a:sym typeface="Arial"/>
            </a:endParaRPr>
          </a:p>
        </p:txBody>
      </p:sp>
      <p:sp>
        <p:nvSpPr>
          <p:cNvPr id="708" name="Google Shape;708;p43"/>
          <p:cNvSpPr txBox="1"/>
          <p:nvPr/>
        </p:nvSpPr>
        <p:spPr>
          <a:xfrm>
            <a:off x="6069492" y="3639312"/>
            <a:ext cx="2537528" cy="868680"/>
          </a:xfrm>
          <a:prstGeom prst="rect">
            <a:avLst/>
          </a:prstGeom>
          <a:noFill/>
          <a:ln>
            <a:noFill/>
          </a:ln>
        </p:spPr>
        <p:txBody>
          <a:bodyPr anchorCtr="0" anchor="t" bIns="0" lIns="0" spcFirstLastPara="1" rIns="0" wrap="square" tIns="0">
            <a:spAutoFit/>
          </a:bodyPr>
          <a:lstStyle/>
          <a:p>
            <a:pPr indent="-190500" lvl="0" marL="190500" marR="0" rtl="0" algn="l">
              <a:lnSpc>
                <a:spcPct val="100000"/>
              </a:lnSpc>
              <a:spcBef>
                <a:spcPts val="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Task 1 drops to 0%: the model writes the pieces in the order it reads them, so they land on the wrong squares.</a:t>
            </a:r>
            <a:endParaRPr b="0" i="0" sz="1100" u="none" cap="none" strike="noStrike">
              <a:solidFill>
                <a:srgbClr val="000000"/>
              </a:solidFill>
              <a:latin typeface="Arial"/>
              <a:ea typeface="Arial"/>
              <a:cs typeface="Arial"/>
              <a:sym typeface="Arial"/>
            </a:endParaRPr>
          </a:p>
        </p:txBody>
      </p:sp>
      <p:sp>
        <p:nvSpPr>
          <p:cNvPr id="709" name="Google Shape;709;p43"/>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710" name="Google Shape;710;p43"/>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7</a:t>
            </a:r>
            <a:endParaRPr b="0" i="0" sz="1100" u="none" cap="none" strike="noStrike">
              <a:solidFill>
                <a:srgbClr val="000000"/>
              </a:solidFill>
              <a:latin typeface="Arial"/>
              <a:ea typeface="Arial"/>
              <a:cs typeface="Arial"/>
              <a:sym typeface="Arial"/>
            </a:endParaRPr>
          </a:p>
        </p:txBody>
      </p:sp>
      <p:pic>
        <p:nvPicPr>
          <p:cNvPr id="711" name="Google Shape;711;p43"/>
          <p:cNvPicPr preferRelativeResize="0"/>
          <p:nvPr/>
        </p:nvPicPr>
        <p:blipFill rotWithShape="1">
          <a:blip r:embed="rId3">
            <a:alphaModFix/>
          </a:blip>
          <a:srcRect b="0" l="0" r="0" t="0"/>
          <a:stretch/>
        </p:blipFill>
        <p:spPr>
          <a:xfrm>
            <a:off x="411491" y="1200150"/>
            <a:ext cx="5212219" cy="2852928"/>
          </a:xfrm>
          <a:prstGeom prst="rect">
            <a:avLst/>
          </a:prstGeom>
          <a:noFill/>
          <a:ln>
            <a:noFill/>
          </a:ln>
        </p:spPr>
      </p:pic>
      <p:sp>
        <p:nvSpPr>
          <p:cNvPr id="712" name="Google Shape;712;p43"/>
          <p:cNvSpPr/>
          <p:nvPr/>
        </p:nvSpPr>
        <p:spPr>
          <a:xfrm>
            <a:off x="411480" y="4133087"/>
            <a:ext cx="1645920" cy="493776"/>
          </a:xfrm>
          <a:prstGeom prst="roundRect">
            <a:avLst>
              <a:gd fmla="val 16667" name="adj"/>
            </a:avLst>
          </a:prstGeom>
          <a:solidFill>
            <a:srgbClr val="F6F1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3"/>
          <p:cNvSpPr txBox="1"/>
          <p:nvPr/>
        </p:nvSpPr>
        <p:spPr>
          <a:xfrm>
            <a:off x="521208" y="4187952"/>
            <a:ext cx="146304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it" sz="900" u="none" cap="none" strike="noStrike">
                <a:solidFill>
                  <a:srgbClr val="6B625A"/>
                </a:solidFill>
                <a:latin typeface="Calibri"/>
                <a:ea typeface="Calibri"/>
                <a:cs typeface="Calibri"/>
                <a:sym typeface="Calibri"/>
              </a:rPr>
              <a:t>Task 1 winner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6E7F14"/>
                </a:solidFill>
                <a:latin typeface="Calibri"/>
                <a:ea typeface="Calibri"/>
                <a:cs typeface="Calibri"/>
                <a:sym typeface="Calibri"/>
              </a:rPr>
              <a:t>Spiral  </a:t>
            </a:r>
            <a:r>
              <a:rPr b="0" i="0" lang="it" sz="900" u="none" cap="none" strike="noStrike">
                <a:solidFill>
                  <a:srgbClr val="221C17"/>
                </a:solidFill>
                <a:latin typeface="Calibri"/>
                <a:ea typeface="Calibri"/>
                <a:cs typeface="Calibri"/>
                <a:sym typeface="Calibri"/>
              </a:rPr>
              <a:t>98.5% (+1.5)</a:t>
            </a:r>
            <a:endParaRPr b="0" i="0" sz="1400" u="none" cap="none" strike="noStrike">
              <a:solidFill>
                <a:srgbClr val="000000"/>
              </a:solidFill>
              <a:latin typeface="Arial"/>
              <a:ea typeface="Arial"/>
              <a:cs typeface="Arial"/>
              <a:sym typeface="Arial"/>
            </a:endParaRPr>
          </a:p>
        </p:txBody>
      </p:sp>
      <p:sp>
        <p:nvSpPr>
          <p:cNvPr id="714" name="Google Shape;714;p43"/>
          <p:cNvSpPr/>
          <p:nvPr/>
        </p:nvSpPr>
        <p:spPr>
          <a:xfrm>
            <a:off x="2194560" y="4133087"/>
            <a:ext cx="1645920" cy="493776"/>
          </a:xfrm>
          <a:prstGeom prst="roundRect">
            <a:avLst>
              <a:gd fmla="val 16667" name="adj"/>
            </a:avLst>
          </a:prstGeom>
          <a:solidFill>
            <a:srgbClr val="F6F1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43"/>
          <p:cNvSpPr txBox="1"/>
          <p:nvPr/>
        </p:nvSpPr>
        <p:spPr>
          <a:xfrm>
            <a:off x="2304288" y="4187952"/>
            <a:ext cx="146304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it" sz="900" u="none" cap="none" strike="noStrike">
                <a:solidFill>
                  <a:srgbClr val="6B625A"/>
                </a:solidFill>
                <a:latin typeface="Calibri"/>
                <a:ea typeface="Calibri"/>
                <a:cs typeface="Calibri"/>
                <a:sym typeface="Calibri"/>
              </a:rPr>
              <a:t>Task 2 winner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6E7F14"/>
                </a:solidFill>
                <a:latin typeface="Calibri"/>
                <a:ea typeface="Calibri"/>
                <a:cs typeface="Calibri"/>
                <a:sym typeface="Calibri"/>
              </a:rPr>
              <a:t>Raster  </a:t>
            </a:r>
            <a:r>
              <a:rPr b="0" i="0" lang="it" sz="900" u="none" cap="none" strike="noStrike">
                <a:solidFill>
                  <a:srgbClr val="221C17"/>
                </a:solidFill>
                <a:latin typeface="Calibri"/>
                <a:ea typeface="Calibri"/>
                <a:cs typeface="Calibri"/>
                <a:sym typeface="Calibri"/>
              </a:rPr>
              <a:t>60.3%</a:t>
            </a:r>
            <a:endParaRPr b="0" i="0" sz="1400" u="none" cap="none" strike="noStrike">
              <a:solidFill>
                <a:srgbClr val="000000"/>
              </a:solidFill>
              <a:latin typeface="Arial"/>
              <a:ea typeface="Arial"/>
              <a:cs typeface="Arial"/>
              <a:sym typeface="Arial"/>
            </a:endParaRPr>
          </a:p>
        </p:txBody>
      </p:sp>
      <p:sp>
        <p:nvSpPr>
          <p:cNvPr id="716" name="Google Shape;716;p43"/>
          <p:cNvSpPr/>
          <p:nvPr/>
        </p:nvSpPr>
        <p:spPr>
          <a:xfrm>
            <a:off x="3977639" y="4133087"/>
            <a:ext cx="1645920" cy="493776"/>
          </a:xfrm>
          <a:prstGeom prst="roundRect">
            <a:avLst>
              <a:gd fmla="val 16667" name="adj"/>
            </a:avLst>
          </a:prstGeom>
          <a:solidFill>
            <a:srgbClr val="F6F1E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43"/>
          <p:cNvSpPr txBox="1"/>
          <p:nvPr/>
        </p:nvSpPr>
        <p:spPr>
          <a:xfrm>
            <a:off x="4087368" y="4187952"/>
            <a:ext cx="146304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it" sz="900" u="none" cap="none" strike="noStrike">
                <a:solidFill>
                  <a:srgbClr val="6B625A"/>
                </a:solidFill>
                <a:latin typeface="Calibri"/>
                <a:ea typeface="Calibri"/>
                <a:cs typeface="Calibri"/>
                <a:sym typeface="Calibri"/>
              </a:rPr>
              <a:t>Task 3 winner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6E7F14"/>
                </a:solidFill>
                <a:latin typeface="Calibri"/>
                <a:ea typeface="Calibri"/>
                <a:cs typeface="Calibri"/>
                <a:sym typeface="Calibri"/>
              </a:rPr>
              <a:t>File-wise  </a:t>
            </a:r>
            <a:r>
              <a:rPr b="0" i="0" lang="it" sz="900" u="none" cap="none" strike="noStrike">
                <a:solidFill>
                  <a:srgbClr val="221C17"/>
                </a:solidFill>
                <a:latin typeface="Calibri"/>
                <a:ea typeface="Calibri"/>
                <a:cs typeface="Calibri"/>
                <a:sym typeface="Calibri"/>
              </a:rPr>
              <a:t>80.5% (+0.75)</a:t>
            </a:r>
            <a:endParaRPr b="0" i="0" sz="1400" u="none" cap="none" strike="noStrike">
              <a:solidFill>
                <a:srgbClr val="000000"/>
              </a:solidFill>
              <a:latin typeface="Arial"/>
              <a:ea typeface="Arial"/>
              <a:cs typeface="Arial"/>
              <a:sym typeface="Arial"/>
            </a:endParaRPr>
          </a:p>
        </p:txBody>
      </p:sp>
      <p:sp>
        <p:nvSpPr>
          <p:cNvPr id="718" name="Google Shape;718;p43"/>
          <p:cNvSpPr txBox="1"/>
          <p:nvPr/>
        </p:nvSpPr>
        <p:spPr>
          <a:xfrm>
            <a:off x="6071616" y="1682496"/>
            <a:ext cx="2542032"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Same raster LoRA, no retraining: only the order in which it reads the tokens changes.</a:t>
            </a:r>
            <a:endParaRPr b="0" i="0" sz="1400" u="none" cap="none" strike="noStrike">
              <a:solidFill>
                <a:srgbClr val="000000"/>
              </a:solidFill>
              <a:latin typeface="Arial"/>
              <a:ea typeface="Arial"/>
              <a:cs typeface="Arial"/>
              <a:sym typeface="Arial"/>
            </a:endParaRPr>
          </a:p>
        </p:txBody>
      </p:sp>
      <p:sp>
        <p:nvSpPr>
          <p:cNvPr id="719" name="Google Shape;719;p43"/>
          <p:cNvSpPr txBox="1"/>
          <p:nvPr/>
        </p:nvSpPr>
        <p:spPr>
          <a:xfrm>
            <a:off x="6071616" y="2139696"/>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Read in</a:t>
            </a:r>
            <a:endParaRPr b="0" i="0" sz="1400" u="none" cap="none" strike="noStrike">
              <a:solidFill>
                <a:srgbClr val="000000"/>
              </a:solidFill>
              <a:latin typeface="Arial"/>
              <a:ea typeface="Arial"/>
              <a:cs typeface="Arial"/>
              <a:sym typeface="Arial"/>
            </a:endParaRPr>
          </a:p>
        </p:txBody>
      </p:sp>
      <p:sp>
        <p:nvSpPr>
          <p:cNvPr id="720" name="Google Shape;720;p43"/>
          <p:cNvSpPr txBox="1"/>
          <p:nvPr/>
        </p:nvSpPr>
        <p:spPr>
          <a:xfrm>
            <a:off x="7059168" y="2139696"/>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Task 1</a:t>
            </a:r>
            <a:endParaRPr b="0" i="0" sz="1400" u="none" cap="none" strike="noStrike">
              <a:solidFill>
                <a:srgbClr val="000000"/>
              </a:solidFill>
              <a:latin typeface="Arial"/>
              <a:ea typeface="Arial"/>
              <a:cs typeface="Arial"/>
              <a:sym typeface="Arial"/>
            </a:endParaRPr>
          </a:p>
        </p:txBody>
      </p:sp>
      <p:sp>
        <p:nvSpPr>
          <p:cNvPr id="721" name="Google Shape;721;p43"/>
          <p:cNvSpPr txBox="1"/>
          <p:nvPr/>
        </p:nvSpPr>
        <p:spPr>
          <a:xfrm>
            <a:off x="7562088" y="2139696"/>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Task 2</a:t>
            </a:r>
            <a:endParaRPr b="0" i="0" sz="1400" u="none" cap="none" strike="noStrike">
              <a:solidFill>
                <a:srgbClr val="000000"/>
              </a:solidFill>
              <a:latin typeface="Arial"/>
              <a:ea typeface="Arial"/>
              <a:cs typeface="Arial"/>
              <a:sym typeface="Arial"/>
            </a:endParaRPr>
          </a:p>
        </p:txBody>
      </p:sp>
      <p:sp>
        <p:nvSpPr>
          <p:cNvPr id="722" name="Google Shape;722;p43"/>
          <p:cNvSpPr txBox="1"/>
          <p:nvPr/>
        </p:nvSpPr>
        <p:spPr>
          <a:xfrm>
            <a:off x="8101583" y="2139696"/>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Task 3</a:t>
            </a:r>
            <a:endParaRPr b="0" i="0" sz="1400" u="none" cap="none" strike="noStrike">
              <a:solidFill>
                <a:srgbClr val="000000"/>
              </a:solidFill>
              <a:latin typeface="Arial"/>
              <a:ea typeface="Arial"/>
              <a:cs typeface="Arial"/>
              <a:sym typeface="Arial"/>
            </a:endParaRPr>
          </a:p>
        </p:txBody>
      </p:sp>
      <p:sp>
        <p:nvSpPr>
          <p:cNvPr id="723" name="Google Shape;723;p43"/>
          <p:cNvSpPr txBox="1"/>
          <p:nvPr/>
        </p:nvSpPr>
        <p:spPr>
          <a:xfrm>
            <a:off x="6071616" y="2377440"/>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Raster</a:t>
            </a:r>
            <a:endParaRPr b="0" i="0" sz="1400" u="none" cap="none" strike="noStrike">
              <a:solidFill>
                <a:srgbClr val="000000"/>
              </a:solidFill>
              <a:latin typeface="Arial"/>
              <a:ea typeface="Arial"/>
              <a:cs typeface="Arial"/>
              <a:sym typeface="Arial"/>
            </a:endParaRPr>
          </a:p>
        </p:txBody>
      </p:sp>
      <p:sp>
        <p:nvSpPr>
          <p:cNvPr id="724" name="Google Shape;724;p43"/>
          <p:cNvSpPr txBox="1"/>
          <p:nvPr/>
        </p:nvSpPr>
        <p:spPr>
          <a:xfrm>
            <a:off x="7059168" y="23774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97.0</a:t>
            </a:r>
            <a:endParaRPr b="0" i="0" sz="1400" u="none" cap="none" strike="noStrike">
              <a:solidFill>
                <a:srgbClr val="000000"/>
              </a:solidFill>
              <a:latin typeface="Arial"/>
              <a:ea typeface="Arial"/>
              <a:cs typeface="Arial"/>
              <a:sym typeface="Arial"/>
            </a:endParaRPr>
          </a:p>
        </p:txBody>
      </p:sp>
      <p:sp>
        <p:nvSpPr>
          <p:cNvPr id="725" name="Google Shape;725;p43"/>
          <p:cNvSpPr txBox="1"/>
          <p:nvPr/>
        </p:nvSpPr>
        <p:spPr>
          <a:xfrm>
            <a:off x="7562088" y="23774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60.3</a:t>
            </a:r>
            <a:endParaRPr b="0" i="0" sz="1400" u="none" cap="none" strike="noStrike">
              <a:solidFill>
                <a:srgbClr val="000000"/>
              </a:solidFill>
              <a:latin typeface="Arial"/>
              <a:ea typeface="Arial"/>
              <a:cs typeface="Arial"/>
              <a:sym typeface="Arial"/>
            </a:endParaRPr>
          </a:p>
        </p:txBody>
      </p:sp>
      <p:sp>
        <p:nvSpPr>
          <p:cNvPr id="726" name="Google Shape;726;p43"/>
          <p:cNvSpPr txBox="1"/>
          <p:nvPr/>
        </p:nvSpPr>
        <p:spPr>
          <a:xfrm>
            <a:off x="8101583" y="23774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79.8</a:t>
            </a:r>
            <a:endParaRPr b="0" i="0" sz="1400" u="none" cap="none" strike="noStrike">
              <a:solidFill>
                <a:srgbClr val="000000"/>
              </a:solidFill>
              <a:latin typeface="Arial"/>
              <a:ea typeface="Arial"/>
              <a:cs typeface="Arial"/>
              <a:sym typeface="Arial"/>
            </a:endParaRPr>
          </a:p>
        </p:txBody>
      </p:sp>
      <p:sp>
        <p:nvSpPr>
          <p:cNvPr id="727" name="Google Shape;727;p43"/>
          <p:cNvSpPr txBox="1"/>
          <p:nvPr/>
        </p:nvSpPr>
        <p:spPr>
          <a:xfrm>
            <a:off x="6071616" y="2606040"/>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Zigzag</a:t>
            </a:r>
            <a:endParaRPr b="0" i="0" sz="1400" u="none" cap="none" strike="noStrike">
              <a:solidFill>
                <a:srgbClr val="000000"/>
              </a:solidFill>
              <a:latin typeface="Arial"/>
              <a:ea typeface="Arial"/>
              <a:cs typeface="Arial"/>
              <a:sym typeface="Arial"/>
            </a:endParaRPr>
          </a:p>
        </p:txBody>
      </p:sp>
      <p:sp>
        <p:nvSpPr>
          <p:cNvPr id="728" name="Google Shape;728;p43"/>
          <p:cNvSpPr txBox="1"/>
          <p:nvPr/>
        </p:nvSpPr>
        <p:spPr>
          <a:xfrm>
            <a:off x="7059168" y="26060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0.0</a:t>
            </a:r>
            <a:endParaRPr b="0" i="0" sz="1400" u="none" cap="none" strike="noStrike">
              <a:solidFill>
                <a:srgbClr val="000000"/>
              </a:solidFill>
              <a:latin typeface="Arial"/>
              <a:ea typeface="Arial"/>
              <a:cs typeface="Arial"/>
              <a:sym typeface="Arial"/>
            </a:endParaRPr>
          </a:p>
        </p:txBody>
      </p:sp>
      <p:sp>
        <p:nvSpPr>
          <p:cNvPr id="729" name="Google Shape;729;p43"/>
          <p:cNvSpPr txBox="1"/>
          <p:nvPr/>
        </p:nvSpPr>
        <p:spPr>
          <a:xfrm>
            <a:off x="7562088" y="26060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52.8</a:t>
            </a:r>
            <a:endParaRPr b="0" i="0" sz="1400" u="none" cap="none" strike="noStrike">
              <a:solidFill>
                <a:srgbClr val="000000"/>
              </a:solidFill>
              <a:latin typeface="Arial"/>
              <a:ea typeface="Arial"/>
              <a:cs typeface="Arial"/>
              <a:sym typeface="Arial"/>
            </a:endParaRPr>
          </a:p>
        </p:txBody>
      </p:sp>
      <p:sp>
        <p:nvSpPr>
          <p:cNvPr id="730" name="Google Shape;730;p43"/>
          <p:cNvSpPr txBox="1"/>
          <p:nvPr/>
        </p:nvSpPr>
        <p:spPr>
          <a:xfrm>
            <a:off x="8101583" y="26060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42.3</a:t>
            </a:r>
            <a:endParaRPr b="0" i="0" sz="1400" u="none" cap="none" strike="noStrike">
              <a:solidFill>
                <a:srgbClr val="000000"/>
              </a:solidFill>
              <a:latin typeface="Arial"/>
              <a:ea typeface="Arial"/>
              <a:cs typeface="Arial"/>
              <a:sym typeface="Arial"/>
            </a:endParaRPr>
          </a:p>
        </p:txBody>
      </p:sp>
      <p:sp>
        <p:nvSpPr>
          <p:cNvPr id="731" name="Google Shape;731;p43"/>
          <p:cNvSpPr txBox="1"/>
          <p:nvPr/>
        </p:nvSpPr>
        <p:spPr>
          <a:xfrm>
            <a:off x="6071616" y="2834640"/>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Spiral</a:t>
            </a:r>
            <a:endParaRPr b="0" i="0" sz="1400" u="none" cap="none" strike="noStrike">
              <a:solidFill>
                <a:srgbClr val="000000"/>
              </a:solidFill>
              <a:latin typeface="Arial"/>
              <a:ea typeface="Arial"/>
              <a:cs typeface="Arial"/>
              <a:sym typeface="Arial"/>
            </a:endParaRPr>
          </a:p>
        </p:txBody>
      </p:sp>
      <p:sp>
        <p:nvSpPr>
          <p:cNvPr id="732" name="Google Shape;732;p43"/>
          <p:cNvSpPr txBox="1"/>
          <p:nvPr/>
        </p:nvSpPr>
        <p:spPr>
          <a:xfrm>
            <a:off x="7059168" y="28346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0.0</a:t>
            </a:r>
            <a:endParaRPr b="0" i="0" sz="1400" u="none" cap="none" strike="noStrike">
              <a:solidFill>
                <a:srgbClr val="000000"/>
              </a:solidFill>
              <a:latin typeface="Arial"/>
              <a:ea typeface="Arial"/>
              <a:cs typeface="Arial"/>
              <a:sym typeface="Arial"/>
            </a:endParaRPr>
          </a:p>
        </p:txBody>
      </p:sp>
      <p:sp>
        <p:nvSpPr>
          <p:cNvPr id="733" name="Google Shape;733;p43"/>
          <p:cNvSpPr txBox="1"/>
          <p:nvPr/>
        </p:nvSpPr>
        <p:spPr>
          <a:xfrm>
            <a:off x="7562088" y="28346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14.5</a:t>
            </a:r>
            <a:endParaRPr b="0" i="0" sz="1400" u="none" cap="none" strike="noStrike">
              <a:solidFill>
                <a:srgbClr val="000000"/>
              </a:solidFill>
              <a:latin typeface="Arial"/>
              <a:ea typeface="Arial"/>
              <a:cs typeface="Arial"/>
              <a:sym typeface="Arial"/>
            </a:endParaRPr>
          </a:p>
        </p:txBody>
      </p:sp>
      <p:sp>
        <p:nvSpPr>
          <p:cNvPr id="734" name="Google Shape;734;p43"/>
          <p:cNvSpPr txBox="1"/>
          <p:nvPr/>
        </p:nvSpPr>
        <p:spPr>
          <a:xfrm>
            <a:off x="8101583" y="28346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5.8</a:t>
            </a:r>
            <a:endParaRPr b="0" i="0" sz="1400" u="none" cap="none" strike="noStrike">
              <a:solidFill>
                <a:srgbClr val="000000"/>
              </a:solidFill>
              <a:latin typeface="Arial"/>
              <a:ea typeface="Arial"/>
              <a:cs typeface="Arial"/>
              <a:sym typeface="Arial"/>
            </a:endParaRPr>
          </a:p>
        </p:txBody>
      </p:sp>
      <p:sp>
        <p:nvSpPr>
          <p:cNvPr id="735" name="Google Shape;735;p43"/>
          <p:cNvSpPr txBox="1"/>
          <p:nvPr/>
        </p:nvSpPr>
        <p:spPr>
          <a:xfrm>
            <a:off x="6071616" y="3063240"/>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File-wise</a:t>
            </a:r>
            <a:endParaRPr b="0" i="0" sz="1400" u="none" cap="none" strike="noStrike">
              <a:solidFill>
                <a:srgbClr val="000000"/>
              </a:solidFill>
              <a:latin typeface="Arial"/>
              <a:ea typeface="Arial"/>
              <a:cs typeface="Arial"/>
              <a:sym typeface="Arial"/>
            </a:endParaRPr>
          </a:p>
        </p:txBody>
      </p:sp>
      <p:sp>
        <p:nvSpPr>
          <p:cNvPr id="736" name="Google Shape;736;p43"/>
          <p:cNvSpPr txBox="1"/>
          <p:nvPr/>
        </p:nvSpPr>
        <p:spPr>
          <a:xfrm>
            <a:off x="7059168" y="30632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0.0</a:t>
            </a:r>
            <a:endParaRPr b="0" i="0" sz="1400" u="none" cap="none" strike="noStrike">
              <a:solidFill>
                <a:srgbClr val="000000"/>
              </a:solidFill>
              <a:latin typeface="Arial"/>
              <a:ea typeface="Arial"/>
              <a:cs typeface="Arial"/>
              <a:sym typeface="Arial"/>
            </a:endParaRPr>
          </a:p>
        </p:txBody>
      </p:sp>
      <p:sp>
        <p:nvSpPr>
          <p:cNvPr id="737" name="Google Shape;737;p43"/>
          <p:cNvSpPr txBox="1"/>
          <p:nvPr/>
        </p:nvSpPr>
        <p:spPr>
          <a:xfrm>
            <a:off x="7562088" y="30632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9.8</a:t>
            </a:r>
            <a:endParaRPr b="0" i="0" sz="1400" u="none" cap="none" strike="noStrike">
              <a:solidFill>
                <a:srgbClr val="000000"/>
              </a:solidFill>
              <a:latin typeface="Arial"/>
              <a:ea typeface="Arial"/>
              <a:cs typeface="Arial"/>
              <a:sym typeface="Arial"/>
            </a:endParaRPr>
          </a:p>
        </p:txBody>
      </p:sp>
      <p:sp>
        <p:nvSpPr>
          <p:cNvPr id="738" name="Google Shape;738;p43"/>
          <p:cNvSpPr txBox="1"/>
          <p:nvPr/>
        </p:nvSpPr>
        <p:spPr>
          <a:xfrm>
            <a:off x="8101583" y="30632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4.0</a:t>
            </a:r>
            <a:endParaRPr b="0" i="0" sz="1400" u="none" cap="none" strike="noStrike">
              <a:solidFill>
                <a:srgbClr val="000000"/>
              </a:solidFill>
              <a:latin typeface="Arial"/>
              <a:ea typeface="Arial"/>
              <a:cs typeface="Arial"/>
              <a:sym typeface="Arial"/>
            </a:endParaRPr>
          </a:p>
        </p:txBody>
      </p:sp>
      <p:sp>
        <p:nvSpPr>
          <p:cNvPr id="739" name="Google Shape;739;p43"/>
          <p:cNvSpPr txBox="1"/>
          <p:nvPr/>
        </p:nvSpPr>
        <p:spPr>
          <a:xfrm>
            <a:off x="6071616" y="3291840"/>
            <a:ext cx="91440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Hilbert</a:t>
            </a:r>
            <a:endParaRPr b="0" i="0" sz="1400" u="none" cap="none" strike="noStrike">
              <a:solidFill>
                <a:srgbClr val="000000"/>
              </a:solidFill>
              <a:latin typeface="Arial"/>
              <a:ea typeface="Arial"/>
              <a:cs typeface="Arial"/>
              <a:sym typeface="Arial"/>
            </a:endParaRPr>
          </a:p>
        </p:txBody>
      </p:sp>
      <p:sp>
        <p:nvSpPr>
          <p:cNvPr id="740" name="Google Shape;740;p43"/>
          <p:cNvSpPr txBox="1"/>
          <p:nvPr/>
        </p:nvSpPr>
        <p:spPr>
          <a:xfrm>
            <a:off x="7059168" y="32918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0.0</a:t>
            </a:r>
            <a:endParaRPr b="0" i="0" sz="1400" u="none" cap="none" strike="noStrike">
              <a:solidFill>
                <a:srgbClr val="000000"/>
              </a:solidFill>
              <a:latin typeface="Arial"/>
              <a:ea typeface="Arial"/>
              <a:cs typeface="Arial"/>
              <a:sym typeface="Arial"/>
            </a:endParaRPr>
          </a:p>
        </p:txBody>
      </p:sp>
      <p:sp>
        <p:nvSpPr>
          <p:cNvPr id="741" name="Google Shape;741;p43"/>
          <p:cNvSpPr txBox="1"/>
          <p:nvPr/>
        </p:nvSpPr>
        <p:spPr>
          <a:xfrm>
            <a:off x="7562088" y="32918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29.0</a:t>
            </a:r>
            <a:endParaRPr b="0" i="0" sz="1400" u="none" cap="none" strike="noStrike">
              <a:solidFill>
                <a:srgbClr val="000000"/>
              </a:solidFill>
              <a:latin typeface="Arial"/>
              <a:ea typeface="Arial"/>
              <a:cs typeface="Arial"/>
              <a:sym typeface="Arial"/>
            </a:endParaRPr>
          </a:p>
        </p:txBody>
      </p:sp>
      <p:sp>
        <p:nvSpPr>
          <p:cNvPr id="742" name="Google Shape;742;p43"/>
          <p:cNvSpPr txBox="1"/>
          <p:nvPr/>
        </p:nvSpPr>
        <p:spPr>
          <a:xfrm>
            <a:off x="8101583" y="3291840"/>
            <a:ext cx="512064" cy="18288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12.8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7" name="Shape 747"/>
        <p:cNvGrpSpPr/>
        <p:nvPr/>
      </p:nvGrpSpPr>
      <p:grpSpPr>
        <a:xfrm>
          <a:off x="0" y="0"/>
          <a:ext cx="0" cy="0"/>
          <a:chOff x="0" y="0"/>
          <a:chExt cx="0" cy="0"/>
        </a:xfrm>
      </p:grpSpPr>
      <p:sp>
        <p:nvSpPr>
          <p:cNvPr id="748" name="Google Shape;748;p44"/>
          <p:cNvSpPr txBox="1"/>
          <p:nvPr/>
        </p:nvSpPr>
        <p:spPr>
          <a:xfrm>
            <a:off x="411491" y="260604"/>
            <a:ext cx="82983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Learned reordering converges to a near-raster order</a:t>
            </a:r>
            <a:endParaRPr b="0" i="0" sz="1100" u="none" cap="none" strike="noStrike">
              <a:solidFill>
                <a:srgbClr val="000000"/>
              </a:solidFill>
              <a:latin typeface="Arial"/>
              <a:ea typeface="Arial"/>
              <a:cs typeface="Arial"/>
              <a:sym typeface="Arial"/>
            </a:endParaRPr>
          </a:p>
        </p:txBody>
      </p:sp>
      <p:sp>
        <p:nvSpPr>
          <p:cNvPr id="749" name="Google Shape;749;p44"/>
          <p:cNvSpPr txBox="1"/>
          <p:nvPr/>
        </p:nvSpPr>
        <p:spPr>
          <a:xfrm>
            <a:off x="411491" y="768096"/>
            <a:ext cx="8298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REOrder's policy is trained with LoRA (REINFORCE), then the order is frozen and LoRA keeps training</a:t>
            </a:r>
            <a:endParaRPr b="0" i="0" sz="1100" u="none" cap="none" strike="noStrike">
              <a:solidFill>
                <a:srgbClr val="000000"/>
              </a:solidFill>
              <a:latin typeface="Arial"/>
              <a:ea typeface="Arial"/>
              <a:cs typeface="Arial"/>
              <a:sym typeface="Arial"/>
            </a:endParaRPr>
          </a:p>
        </p:txBody>
      </p:sp>
      <p:sp>
        <p:nvSpPr>
          <p:cNvPr id="750" name="Google Shape;750;p44"/>
          <p:cNvSpPr/>
          <p:nvPr/>
        </p:nvSpPr>
        <p:spPr>
          <a:xfrm>
            <a:off x="411491" y="1337310"/>
            <a:ext cx="185100" cy="185100"/>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1" name="Google Shape;751;p44"/>
          <p:cNvSpPr/>
          <p:nvPr/>
        </p:nvSpPr>
        <p:spPr>
          <a:xfrm>
            <a:off x="467042" y="1392860"/>
            <a:ext cx="74100" cy="74100"/>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2" name="Google Shape;752;p44"/>
          <p:cNvSpPr/>
          <p:nvPr/>
        </p:nvSpPr>
        <p:spPr>
          <a:xfrm>
            <a:off x="596662" y="1337310"/>
            <a:ext cx="185100" cy="185100"/>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3" name="Google Shape;753;p44"/>
          <p:cNvSpPr/>
          <p:nvPr/>
        </p:nvSpPr>
        <p:spPr>
          <a:xfrm>
            <a:off x="781833" y="1337310"/>
            <a:ext cx="185100" cy="185100"/>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4" name="Google Shape;754;p44"/>
          <p:cNvSpPr/>
          <p:nvPr/>
        </p:nvSpPr>
        <p:spPr>
          <a:xfrm>
            <a:off x="967004" y="1337310"/>
            <a:ext cx="185100" cy="185100"/>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5" name="Google Shape;755;p44"/>
          <p:cNvSpPr/>
          <p:nvPr/>
        </p:nvSpPr>
        <p:spPr>
          <a:xfrm>
            <a:off x="1152175" y="1337310"/>
            <a:ext cx="185100" cy="185100"/>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6" name="Google Shape;756;p44"/>
          <p:cNvSpPr/>
          <p:nvPr/>
        </p:nvSpPr>
        <p:spPr>
          <a:xfrm>
            <a:off x="1337346" y="1337310"/>
            <a:ext cx="185100" cy="185100"/>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7" name="Google Shape;757;p44"/>
          <p:cNvSpPr/>
          <p:nvPr/>
        </p:nvSpPr>
        <p:spPr>
          <a:xfrm>
            <a:off x="1522517" y="1337310"/>
            <a:ext cx="185100" cy="185100"/>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8" name="Google Shape;758;p44"/>
          <p:cNvSpPr/>
          <p:nvPr/>
        </p:nvSpPr>
        <p:spPr>
          <a:xfrm>
            <a:off x="1707688" y="1337310"/>
            <a:ext cx="185100" cy="185100"/>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9" name="Google Shape;759;p44"/>
          <p:cNvSpPr/>
          <p:nvPr/>
        </p:nvSpPr>
        <p:spPr>
          <a:xfrm>
            <a:off x="411491" y="1522475"/>
            <a:ext cx="185100" cy="185100"/>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0" name="Google Shape;760;p44"/>
          <p:cNvSpPr/>
          <p:nvPr/>
        </p:nvSpPr>
        <p:spPr>
          <a:xfrm>
            <a:off x="596662" y="1522475"/>
            <a:ext cx="185100" cy="185100"/>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1" name="Google Shape;761;p44"/>
          <p:cNvSpPr/>
          <p:nvPr/>
        </p:nvSpPr>
        <p:spPr>
          <a:xfrm>
            <a:off x="781833" y="1522475"/>
            <a:ext cx="185100" cy="185100"/>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2" name="Google Shape;762;p44"/>
          <p:cNvSpPr/>
          <p:nvPr/>
        </p:nvSpPr>
        <p:spPr>
          <a:xfrm>
            <a:off x="967004" y="1522475"/>
            <a:ext cx="185100" cy="185100"/>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3" name="Google Shape;763;p44"/>
          <p:cNvSpPr/>
          <p:nvPr/>
        </p:nvSpPr>
        <p:spPr>
          <a:xfrm>
            <a:off x="1152175" y="1522475"/>
            <a:ext cx="185100" cy="185100"/>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4" name="Google Shape;764;p44"/>
          <p:cNvSpPr/>
          <p:nvPr/>
        </p:nvSpPr>
        <p:spPr>
          <a:xfrm>
            <a:off x="1337346" y="1522475"/>
            <a:ext cx="185100" cy="185100"/>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5" name="Google Shape;765;p44"/>
          <p:cNvSpPr/>
          <p:nvPr/>
        </p:nvSpPr>
        <p:spPr>
          <a:xfrm>
            <a:off x="1522517" y="1522475"/>
            <a:ext cx="185100" cy="185100"/>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6" name="Google Shape;766;p44"/>
          <p:cNvSpPr/>
          <p:nvPr/>
        </p:nvSpPr>
        <p:spPr>
          <a:xfrm>
            <a:off x="1707688" y="1522475"/>
            <a:ext cx="185100" cy="185100"/>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7" name="Google Shape;767;p44"/>
          <p:cNvSpPr/>
          <p:nvPr/>
        </p:nvSpPr>
        <p:spPr>
          <a:xfrm>
            <a:off x="411491" y="1707642"/>
            <a:ext cx="185100" cy="185100"/>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8" name="Google Shape;768;p44"/>
          <p:cNvSpPr/>
          <p:nvPr/>
        </p:nvSpPr>
        <p:spPr>
          <a:xfrm>
            <a:off x="596662" y="1707642"/>
            <a:ext cx="185100" cy="185100"/>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9" name="Google Shape;769;p44"/>
          <p:cNvSpPr/>
          <p:nvPr/>
        </p:nvSpPr>
        <p:spPr>
          <a:xfrm>
            <a:off x="781833" y="1707642"/>
            <a:ext cx="185100" cy="185100"/>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0" name="Google Shape;770;p44"/>
          <p:cNvSpPr/>
          <p:nvPr/>
        </p:nvSpPr>
        <p:spPr>
          <a:xfrm>
            <a:off x="967004" y="1707642"/>
            <a:ext cx="185100" cy="185100"/>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1" name="Google Shape;771;p44"/>
          <p:cNvSpPr/>
          <p:nvPr/>
        </p:nvSpPr>
        <p:spPr>
          <a:xfrm>
            <a:off x="1152175" y="1707642"/>
            <a:ext cx="185100" cy="185100"/>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2" name="Google Shape;772;p44"/>
          <p:cNvSpPr/>
          <p:nvPr/>
        </p:nvSpPr>
        <p:spPr>
          <a:xfrm>
            <a:off x="1337346" y="1707642"/>
            <a:ext cx="185100" cy="185100"/>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3" name="Google Shape;773;p44"/>
          <p:cNvSpPr/>
          <p:nvPr/>
        </p:nvSpPr>
        <p:spPr>
          <a:xfrm>
            <a:off x="1522517" y="1707642"/>
            <a:ext cx="185100" cy="185100"/>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4" name="Google Shape;774;p44"/>
          <p:cNvSpPr/>
          <p:nvPr/>
        </p:nvSpPr>
        <p:spPr>
          <a:xfrm>
            <a:off x="1707688" y="1707642"/>
            <a:ext cx="185100" cy="185100"/>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5" name="Google Shape;775;p44"/>
          <p:cNvSpPr/>
          <p:nvPr/>
        </p:nvSpPr>
        <p:spPr>
          <a:xfrm>
            <a:off x="411491" y="1892808"/>
            <a:ext cx="185100" cy="185100"/>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6" name="Google Shape;776;p44"/>
          <p:cNvSpPr/>
          <p:nvPr/>
        </p:nvSpPr>
        <p:spPr>
          <a:xfrm>
            <a:off x="596662" y="1892808"/>
            <a:ext cx="185100" cy="185100"/>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7" name="Google Shape;777;p44"/>
          <p:cNvSpPr/>
          <p:nvPr/>
        </p:nvSpPr>
        <p:spPr>
          <a:xfrm>
            <a:off x="781833" y="1892808"/>
            <a:ext cx="185100" cy="185100"/>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8" name="Google Shape;778;p44"/>
          <p:cNvSpPr/>
          <p:nvPr/>
        </p:nvSpPr>
        <p:spPr>
          <a:xfrm>
            <a:off x="967004" y="1892808"/>
            <a:ext cx="185100" cy="185100"/>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9" name="Google Shape;779;p44"/>
          <p:cNvSpPr/>
          <p:nvPr/>
        </p:nvSpPr>
        <p:spPr>
          <a:xfrm>
            <a:off x="1152175" y="1892808"/>
            <a:ext cx="185100" cy="185100"/>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0" name="Google Shape;780;p44"/>
          <p:cNvSpPr/>
          <p:nvPr/>
        </p:nvSpPr>
        <p:spPr>
          <a:xfrm>
            <a:off x="1337346" y="1892808"/>
            <a:ext cx="185100" cy="185100"/>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1" name="Google Shape;781;p44"/>
          <p:cNvSpPr/>
          <p:nvPr/>
        </p:nvSpPr>
        <p:spPr>
          <a:xfrm>
            <a:off x="1522517" y="1892808"/>
            <a:ext cx="185100" cy="185100"/>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2" name="Google Shape;782;p44"/>
          <p:cNvSpPr/>
          <p:nvPr/>
        </p:nvSpPr>
        <p:spPr>
          <a:xfrm>
            <a:off x="1707688" y="1892808"/>
            <a:ext cx="185100" cy="185100"/>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3" name="Google Shape;783;p44"/>
          <p:cNvSpPr/>
          <p:nvPr/>
        </p:nvSpPr>
        <p:spPr>
          <a:xfrm>
            <a:off x="411491" y="2077974"/>
            <a:ext cx="185100" cy="185100"/>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4" name="Google Shape;784;p44"/>
          <p:cNvSpPr/>
          <p:nvPr/>
        </p:nvSpPr>
        <p:spPr>
          <a:xfrm>
            <a:off x="596662" y="2077974"/>
            <a:ext cx="185100" cy="185100"/>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5" name="Google Shape;785;p44"/>
          <p:cNvSpPr/>
          <p:nvPr/>
        </p:nvSpPr>
        <p:spPr>
          <a:xfrm>
            <a:off x="781833" y="2077974"/>
            <a:ext cx="185100" cy="185100"/>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6" name="Google Shape;786;p44"/>
          <p:cNvSpPr/>
          <p:nvPr/>
        </p:nvSpPr>
        <p:spPr>
          <a:xfrm>
            <a:off x="967004" y="2077974"/>
            <a:ext cx="185100" cy="185100"/>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7" name="Google Shape;787;p44"/>
          <p:cNvSpPr/>
          <p:nvPr/>
        </p:nvSpPr>
        <p:spPr>
          <a:xfrm>
            <a:off x="1152175" y="2077974"/>
            <a:ext cx="185100" cy="185100"/>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8" name="Google Shape;788;p44"/>
          <p:cNvSpPr/>
          <p:nvPr/>
        </p:nvSpPr>
        <p:spPr>
          <a:xfrm>
            <a:off x="1337346" y="2077974"/>
            <a:ext cx="185100" cy="185100"/>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9" name="Google Shape;789;p44"/>
          <p:cNvSpPr/>
          <p:nvPr/>
        </p:nvSpPr>
        <p:spPr>
          <a:xfrm>
            <a:off x="1522517" y="2077974"/>
            <a:ext cx="185100" cy="185100"/>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0" name="Google Shape;790;p44"/>
          <p:cNvSpPr/>
          <p:nvPr/>
        </p:nvSpPr>
        <p:spPr>
          <a:xfrm>
            <a:off x="1707688" y="2077974"/>
            <a:ext cx="185100" cy="185100"/>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1" name="Google Shape;791;p44"/>
          <p:cNvSpPr/>
          <p:nvPr/>
        </p:nvSpPr>
        <p:spPr>
          <a:xfrm>
            <a:off x="411491" y="2263140"/>
            <a:ext cx="185100" cy="185100"/>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2" name="Google Shape;792;p44"/>
          <p:cNvSpPr/>
          <p:nvPr/>
        </p:nvSpPr>
        <p:spPr>
          <a:xfrm>
            <a:off x="596662" y="2263140"/>
            <a:ext cx="185100" cy="185100"/>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3" name="Google Shape;793;p44"/>
          <p:cNvSpPr/>
          <p:nvPr/>
        </p:nvSpPr>
        <p:spPr>
          <a:xfrm>
            <a:off x="781833" y="2263140"/>
            <a:ext cx="185100" cy="185100"/>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4" name="Google Shape;794;p44"/>
          <p:cNvSpPr/>
          <p:nvPr/>
        </p:nvSpPr>
        <p:spPr>
          <a:xfrm>
            <a:off x="967004" y="2263140"/>
            <a:ext cx="185100" cy="185100"/>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5" name="Google Shape;795;p44"/>
          <p:cNvSpPr/>
          <p:nvPr/>
        </p:nvSpPr>
        <p:spPr>
          <a:xfrm>
            <a:off x="1152175" y="2263140"/>
            <a:ext cx="185100" cy="185100"/>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6" name="Google Shape;796;p44"/>
          <p:cNvSpPr/>
          <p:nvPr/>
        </p:nvSpPr>
        <p:spPr>
          <a:xfrm>
            <a:off x="1337346" y="2263140"/>
            <a:ext cx="185100" cy="185100"/>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7" name="Google Shape;797;p44"/>
          <p:cNvSpPr/>
          <p:nvPr/>
        </p:nvSpPr>
        <p:spPr>
          <a:xfrm>
            <a:off x="1522517" y="2263140"/>
            <a:ext cx="185100" cy="185100"/>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8" name="Google Shape;798;p44"/>
          <p:cNvSpPr/>
          <p:nvPr/>
        </p:nvSpPr>
        <p:spPr>
          <a:xfrm>
            <a:off x="1707688" y="2263140"/>
            <a:ext cx="185100" cy="185100"/>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9" name="Google Shape;799;p44"/>
          <p:cNvSpPr/>
          <p:nvPr/>
        </p:nvSpPr>
        <p:spPr>
          <a:xfrm>
            <a:off x="411491" y="2448306"/>
            <a:ext cx="185100" cy="185100"/>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0" name="Google Shape;800;p44"/>
          <p:cNvSpPr/>
          <p:nvPr/>
        </p:nvSpPr>
        <p:spPr>
          <a:xfrm>
            <a:off x="596662" y="2448306"/>
            <a:ext cx="185100" cy="185100"/>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1" name="Google Shape;801;p44"/>
          <p:cNvSpPr/>
          <p:nvPr/>
        </p:nvSpPr>
        <p:spPr>
          <a:xfrm>
            <a:off x="781833" y="2448306"/>
            <a:ext cx="185100" cy="185100"/>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2" name="Google Shape;802;p44"/>
          <p:cNvSpPr/>
          <p:nvPr/>
        </p:nvSpPr>
        <p:spPr>
          <a:xfrm>
            <a:off x="967004" y="2448306"/>
            <a:ext cx="185100" cy="185100"/>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3" name="Google Shape;803;p44"/>
          <p:cNvSpPr/>
          <p:nvPr/>
        </p:nvSpPr>
        <p:spPr>
          <a:xfrm>
            <a:off x="1152175" y="2448306"/>
            <a:ext cx="185100" cy="185100"/>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4" name="Google Shape;804;p44"/>
          <p:cNvSpPr/>
          <p:nvPr/>
        </p:nvSpPr>
        <p:spPr>
          <a:xfrm>
            <a:off x="1337346" y="2448306"/>
            <a:ext cx="185100" cy="185100"/>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5" name="Google Shape;805;p44"/>
          <p:cNvSpPr/>
          <p:nvPr/>
        </p:nvSpPr>
        <p:spPr>
          <a:xfrm>
            <a:off x="1522517" y="2448306"/>
            <a:ext cx="185100" cy="185100"/>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6" name="Google Shape;806;p44"/>
          <p:cNvSpPr/>
          <p:nvPr/>
        </p:nvSpPr>
        <p:spPr>
          <a:xfrm>
            <a:off x="1707688" y="2448306"/>
            <a:ext cx="185100" cy="185100"/>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7" name="Google Shape;807;p44"/>
          <p:cNvSpPr/>
          <p:nvPr/>
        </p:nvSpPr>
        <p:spPr>
          <a:xfrm>
            <a:off x="411491" y="2633472"/>
            <a:ext cx="185100" cy="185100"/>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8" name="Google Shape;808;p44"/>
          <p:cNvSpPr/>
          <p:nvPr/>
        </p:nvSpPr>
        <p:spPr>
          <a:xfrm>
            <a:off x="596662" y="2633472"/>
            <a:ext cx="185100" cy="185100"/>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9" name="Google Shape;809;p44"/>
          <p:cNvSpPr/>
          <p:nvPr/>
        </p:nvSpPr>
        <p:spPr>
          <a:xfrm>
            <a:off x="781833" y="2633472"/>
            <a:ext cx="185100" cy="185100"/>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0" name="Google Shape;810;p44"/>
          <p:cNvSpPr/>
          <p:nvPr/>
        </p:nvSpPr>
        <p:spPr>
          <a:xfrm>
            <a:off x="967004" y="2633472"/>
            <a:ext cx="185100" cy="185100"/>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1" name="Google Shape;811;p44"/>
          <p:cNvSpPr/>
          <p:nvPr/>
        </p:nvSpPr>
        <p:spPr>
          <a:xfrm>
            <a:off x="1152175" y="2633472"/>
            <a:ext cx="185100" cy="185100"/>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2" name="Google Shape;812;p44"/>
          <p:cNvSpPr/>
          <p:nvPr/>
        </p:nvSpPr>
        <p:spPr>
          <a:xfrm>
            <a:off x="1337346" y="2633472"/>
            <a:ext cx="185100" cy="185100"/>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3" name="Google Shape;813;p44"/>
          <p:cNvSpPr/>
          <p:nvPr/>
        </p:nvSpPr>
        <p:spPr>
          <a:xfrm>
            <a:off x="1522517" y="2633472"/>
            <a:ext cx="185100" cy="185100"/>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4" name="Google Shape;814;p44"/>
          <p:cNvSpPr/>
          <p:nvPr/>
        </p:nvSpPr>
        <p:spPr>
          <a:xfrm>
            <a:off x="1707688" y="2633472"/>
            <a:ext cx="185100" cy="185100"/>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5" name="Google Shape;815;p44"/>
          <p:cNvSpPr txBox="1"/>
          <p:nvPr/>
        </p:nvSpPr>
        <p:spPr>
          <a:xfrm>
            <a:off x="342909" y="2873502"/>
            <a:ext cx="16185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1 policy</a:t>
            </a:r>
            <a:endParaRPr b="0" i="0" sz="1100" u="none" cap="none" strike="noStrike">
              <a:solidFill>
                <a:srgbClr val="000000"/>
              </a:solidFill>
              <a:latin typeface="Arial"/>
              <a:ea typeface="Arial"/>
              <a:cs typeface="Arial"/>
              <a:sym typeface="Arial"/>
            </a:endParaRPr>
          </a:p>
        </p:txBody>
      </p:sp>
      <p:sp>
        <p:nvSpPr>
          <p:cNvPr id="816" name="Google Shape;816;p44"/>
          <p:cNvSpPr/>
          <p:nvPr/>
        </p:nvSpPr>
        <p:spPr>
          <a:xfrm>
            <a:off x="2160328" y="1337310"/>
            <a:ext cx="185100" cy="185100"/>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7" name="Google Shape;817;p44"/>
          <p:cNvSpPr/>
          <p:nvPr/>
        </p:nvSpPr>
        <p:spPr>
          <a:xfrm>
            <a:off x="2345499" y="1337310"/>
            <a:ext cx="185100" cy="185100"/>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8" name="Google Shape;818;p44"/>
          <p:cNvSpPr/>
          <p:nvPr/>
        </p:nvSpPr>
        <p:spPr>
          <a:xfrm>
            <a:off x="2401050" y="1392860"/>
            <a:ext cx="74100" cy="74100"/>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9" name="Google Shape;819;p44"/>
          <p:cNvSpPr/>
          <p:nvPr/>
        </p:nvSpPr>
        <p:spPr>
          <a:xfrm>
            <a:off x="2530669" y="1337310"/>
            <a:ext cx="185100" cy="185100"/>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0" name="Google Shape;820;p44"/>
          <p:cNvSpPr/>
          <p:nvPr/>
        </p:nvSpPr>
        <p:spPr>
          <a:xfrm>
            <a:off x="2715840" y="1337310"/>
            <a:ext cx="185100" cy="185100"/>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1" name="Google Shape;821;p44"/>
          <p:cNvSpPr/>
          <p:nvPr/>
        </p:nvSpPr>
        <p:spPr>
          <a:xfrm>
            <a:off x="2901011" y="1337310"/>
            <a:ext cx="185100" cy="185100"/>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2" name="Google Shape;822;p44"/>
          <p:cNvSpPr/>
          <p:nvPr/>
        </p:nvSpPr>
        <p:spPr>
          <a:xfrm>
            <a:off x="3086182" y="1337310"/>
            <a:ext cx="185100" cy="185100"/>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3" name="Google Shape;823;p44"/>
          <p:cNvSpPr/>
          <p:nvPr/>
        </p:nvSpPr>
        <p:spPr>
          <a:xfrm>
            <a:off x="3271353" y="1337310"/>
            <a:ext cx="185100" cy="185100"/>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4" name="Google Shape;824;p44"/>
          <p:cNvSpPr/>
          <p:nvPr/>
        </p:nvSpPr>
        <p:spPr>
          <a:xfrm>
            <a:off x="3456524" y="1337310"/>
            <a:ext cx="185100" cy="185100"/>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5" name="Google Shape;825;p44"/>
          <p:cNvSpPr/>
          <p:nvPr/>
        </p:nvSpPr>
        <p:spPr>
          <a:xfrm>
            <a:off x="2160328" y="1522475"/>
            <a:ext cx="185100" cy="185100"/>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6" name="Google Shape;826;p44"/>
          <p:cNvSpPr/>
          <p:nvPr/>
        </p:nvSpPr>
        <p:spPr>
          <a:xfrm>
            <a:off x="2345499" y="1522475"/>
            <a:ext cx="185100" cy="185100"/>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7" name="Google Shape;827;p44"/>
          <p:cNvSpPr/>
          <p:nvPr/>
        </p:nvSpPr>
        <p:spPr>
          <a:xfrm>
            <a:off x="2530669" y="1522475"/>
            <a:ext cx="185100" cy="185100"/>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8" name="Google Shape;828;p44"/>
          <p:cNvSpPr/>
          <p:nvPr/>
        </p:nvSpPr>
        <p:spPr>
          <a:xfrm>
            <a:off x="2715840" y="1522475"/>
            <a:ext cx="185100" cy="185100"/>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9" name="Google Shape;829;p44"/>
          <p:cNvSpPr/>
          <p:nvPr/>
        </p:nvSpPr>
        <p:spPr>
          <a:xfrm>
            <a:off x="2901011" y="1522475"/>
            <a:ext cx="185100" cy="185100"/>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0" name="Google Shape;830;p44"/>
          <p:cNvSpPr/>
          <p:nvPr/>
        </p:nvSpPr>
        <p:spPr>
          <a:xfrm>
            <a:off x="3086182" y="1522475"/>
            <a:ext cx="185100" cy="185100"/>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1" name="Google Shape;831;p44"/>
          <p:cNvSpPr/>
          <p:nvPr/>
        </p:nvSpPr>
        <p:spPr>
          <a:xfrm>
            <a:off x="3271353" y="1522475"/>
            <a:ext cx="185100" cy="185100"/>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2" name="Google Shape;832;p44"/>
          <p:cNvSpPr/>
          <p:nvPr/>
        </p:nvSpPr>
        <p:spPr>
          <a:xfrm>
            <a:off x="3456524" y="1522475"/>
            <a:ext cx="185100" cy="185100"/>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3" name="Google Shape;833;p44"/>
          <p:cNvSpPr/>
          <p:nvPr/>
        </p:nvSpPr>
        <p:spPr>
          <a:xfrm>
            <a:off x="2160328" y="1707642"/>
            <a:ext cx="185100" cy="185100"/>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4" name="Google Shape;834;p44"/>
          <p:cNvSpPr/>
          <p:nvPr/>
        </p:nvSpPr>
        <p:spPr>
          <a:xfrm>
            <a:off x="2345499" y="1707642"/>
            <a:ext cx="185100" cy="185100"/>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5" name="Google Shape;835;p44"/>
          <p:cNvSpPr/>
          <p:nvPr/>
        </p:nvSpPr>
        <p:spPr>
          <a:xfrm>
            <a:off x="2530669" y="1707642"/>
            <a:ext cx="185100" cy="185100"/>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6" name="Google Shape;836;p44"/>
          <p:cNvSpPr/>
          <p:nvPr/>
        </p:nvSpPr>
        <p:spPr>
          <a:xfrm>
            <a:off x="2715840" y="1707642"/>
            <a:ext cx="185100" cy="185100"/>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7" name="Google Shape;837;p44"/>
          <p:cNvSpPr/>
          <p:nvPr/>
        </p:nvSpPr>
        <p:spPr>
          <a:xfrm>
            <a:off x="2901011" y="1707642"/>
            <a:ext cx="185100" cy="185100"/>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8" name="Google Shape;838;p44"/>
          <p:cNvSpPr/>
          <p:nvPr/>
        </p:nvSpPr>
        <p:spPr>
          <a:xfrm>
            <a:off x="3086182" y="1707642"/>
            <a:ext cx="185100" cy="185100"/>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39" name="Google Shape;839;p44"/>
          <p:cNvSpPr/>
          <p:nvPr/>
        </p:nvSpPr>
        <p:spPr>
          <a:xfrm>
            <a:off x="3271353" y="1707642"/>
            <a:ext cx="185100" cy="185100"/>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0" name="Google Shape;840;p44"/>
          <p:cNvSpPr/>
          <p:nvPr/>
        </p:nvSpPr>
        <p:spPr>
          <a:xfrm>
            <a:off x="3456524" y="1707642"/>
            <a:ext cx="185100" cy="185100"/>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1" name="Google Shape;841;p44"/>
          <p:cNvSpPr/>
          <p:nvPr/>
        </p:nvSpPr>
        <p:spPr>
          <a:xfrm>
            <a:off x="2160328" y="1892808"/>
            <a:ext cx="185100" cy="185100"/>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2" name="Google Shape;842;p44"/>
          <p:cNvSpPr/>
          <p:nvPr/>
        </p:nvSpPr>
        <p:spPr>
          <a:xfrm>
            <a:off x="2345499" y="1892808"/>
            <a:ext cx="185100" cy="185100"/>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3" name="Google Shape;843;p44"/>
          <p:cNvSpPr/>
          <p:nvPr/>
        </p:nvSpPr>
        <p:spPr>
          <a:xfrm>
            <a:off x="2530669" y="1892808"/>
            <a:ext cx="185100" cy="185100"/>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4" name="Google Shape;844;p44"/>
          <p:cNvSpPr/>
          <p:nvPr/>
        </p:nvSpPr>
        <p:spPr>
          <a:xfrm>
            <a:off x="2715840" y="1892808"/>
            <a:ext cx="185100" cy="185100"/>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5" name="Google Shape;845;p44"/>
          <p:cNvSpPr/>
          <p:nvPr/>
        </p:nvSpPr>
        <p:spPr>
          <a:xfrm>
            <a:off x="2901011" y="1892808"/>
            <a:ext cx="185100" cy="185100"/>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6" name="Google Shape;846;p44"/>
          <p:cNvSpPr/>
          <p:nvPr/>
        </p:nvSpPr>
        <p:spPr>
          <a:xfrm>
            <a:off x="3086182" y="1892808"/>
            <a:ext cx="185100" cy="185100"/>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7" name="Google Shape;847;p44"/>
          <p:cNvSpPr/>
          <p:nvPr/>
        </p:nvSpPr>
        <p:spPr>
          <a:xfrm>
            <a:off x="3271353" y="1892808"/>
            <a:ext cx="185100" cy="185100"/>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8" name="Google Shape;848;p44"/>
          <p:cNvSpPr/>
          <p:nvPr/>
        </p:nvSpPr>
        <p:spPr>
          <a:xfrm>
            <a:off x="3456524" y="1892808"/>
            <a:ext cx="185100" cy="185100"/>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49" name="Google Shape;849;p44"/>
          <p:cNvSpPr/>
          <p:nvPr/>
        </p:nvSpPr>
        <p:spPr>
          <a:xfrm>
            <a:off x="2160328" y="2077974"/>
            <a:ext cx="185100" cy="185100"/>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0" name="Google Shape;850;p44"/>
          <p:cNvSpPr/>
          <p:nvPr/>
        </p:nvSpPr>
        <p:spPr>
          <a:xfrm>
            <a:off x="2345499" y="2077974"/>
            <a:ext cx="185100" cy="185100"/>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1" name="Google Shape;851;p44"/>
          <p:cNvSpPr/>
          <p:nvPr/>
        </p:nvSpPr>
        <p:spPr>
          <a:xfrm>
            <a:off x="2530669" y="2077974"/>
            <a:ext cx="185100" cy="185100"/>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2" name="Google Shape;852;p44"/>
          <p:cNvSpPr/>
          <p:nvPr/>
        </p:nvSpPr>
        <p:spPr>
          <a:xfrm>
            <a:off x="2715840" y="2077974"/>
            <a:ext cx="185100" cy="185100"/>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3" name="Google Shape;853;p44"/>
          <p:cNvSpPr/>
          <p:nvPr/>
        </p:nvSpPr>
        <p:spPr>
          <a:xfrm>
            <a:off x="2901011" y="2077974"/>
            <a:ext cx="185100" cy="185100"/>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4" name="Google Shape;854;p44"/>
          <p:cNvSpPr/>
          <p:nvPr/>
        </p:nvSpPr>
        <p:spPr>
          <a:xfrm>
            <a:off x="3086182" y="2077974"/>
            <a:ext cx="185100" cy="185100"/>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5" name="Google Shape;855;p44"/>
          <p:cNvSpPr/>
          <p:nvPr/>
        </p:nvSpPr>
        <p:spPr>
          <a:xfrm>
            <a:off x="3271353" y="2077974"/>
            <a:ext cx="185100" cy="185100"/>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6" name="Google Shape;856;p44"/>
          <p:cNvSpPr/>
          <p:nvPr/>
        </p:nvSpPr>
        <p:spPr>
          <a:xfrm>
            <a:off x="3456524" y="2077974"/>
            <a:ext cx="185100" cy="185100"/>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7" name="Google Shape;857;p44"/>
          <p:cNvSpPr/>
          <p:nvPr/>
        </p:nvSpPr>
        <p:spPr>
          <a:xfrm>
            <a:off x="2160328" y="2263140"/>
            <a:ext cx="185100" cy="185100"/>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8" name="Google Shape;858;p44"/>
          <p:cNvSpPr/>
          <p:nvPr/>
        </p:nvSpPr>
        <p:spPr>
          <a:xfrm>
            <a:off x="2345499" y="2263140"/>
            <a:ext cx="185100" cy="185100"/>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59" name="Google Shape;859;p44"/>
          <p:cNvSpPr/>
          <p:nvPr/>
        </p:nvSpPr>
        <p:spPr>
          <a:xfrm>
            <a:off x="2530669" y="2263140"/>
            <a:ext cx="185100" cy="185100"/>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0" name="Google Shape;860;p44"/>
          <p:cNvSpPr/>
          <p:nvPr/>
        </p:nvSpPr>
        <p:spPr>
          <a:xfrm>
            <a:off x="2715840" y="2263140"/>
            <a:ext cx="185100" cy="185100"/>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1" name="Google Shape;861;p44"/>
          <p:cNvSpPr/>
          <p:nvPr/>
        </p:nvSpPr>
        <p:spPr>
          <a:xfrm>
            <a:off x="2901011" y="2263140"/>
            <a:ext cx="185100" cy="185100"/>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2" name="Google Shape;862;p44"/>
          <p:cNvSpPr/>
          <p:nvPr/>
        </p:nvSpPr>
        <p:spPr>
          <a:xfrm>
            <a:off x="3086182" y="2263140"/>
            <a:ext cx="185100" cy="185100"/>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3" name="Google Shape;863;p44"/>
          <p:cNvSpPr/>
          <p:nvPr/>
        </p:nvSpPr>
        <p:spPr>
          <a:xfrm>
            <a:off x="3271353" y="2263140"/>
            <a:ext cx="185100" cy="185100"/>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4" name="Google Shape;864;p44"/>
          <p:cNvSpPr/>
          <p:nvPr/>
        </p:nvSpPr>
        <p:spPr>
          <a:xfrm>
            <a:off x="3456524" y="2263140"/>
            <a:ext cx="185100" cy="185100"/>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5" name="Google Shape;865;p44"/>
          <p:cNvSpPr/>
          <p:nvPr/>
        </p:nvSpPr>
        <p:spPr>
          <a:xfrm>
            <a:off x="2160328" y="2448306"/>
            <a:ext cx="185100" cy="185100"/>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6" name="Google Shape;866;p44"/>
          <p:cNvSpPr/>
          <p:nvPr/>
        </p:nvSpPr>
        <p:spPr>
          <a:xfrm>
            <a:off x="2345499" y="2448306"/>
            <a:ext cx="185100" cy="185100"/>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7" name="Google Shape;867;p44"/>
          <p:cNvSpPr/>
          <p:nvPr/>
        </p:nvSpPr>
        <p:spPr>
          <a:xfrm>
            <a:off x="2530669" y="2448306"/>
            <a:ext cx="185100" cy="185100"/>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8" name="Google Shape;868;p44"/>
          <p:cNvSpPr/>
          <p:nvPr/>
        </p:nvSpPr>
        <p:spPr>
          <a:xfrm>
            <a:off x="2715840" y="2448306"/>
            <a:ext cx="185100" cy="185100"/>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69" name="Google Shape;869;p44"/>
          <p:cNvSpPr/>
          <p:nvPr/>
        </p:nvSpPr>
        <p:spPr>
          <a:xfrm>
            <a:off x="2901011" y="2448306"/>
            <a:ext cx="185100" cy="185100"/>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0" name="Google Shape;870;p44"/>
          <p:cNvSpPr/>
          <p:nvPr/>
        </p:nvSpPr>
        <p:spPr>
          <a:xfrm>
            <a:off x="3086182" y="2448306"/>
            <a:ext cx="185100" cy="185100"/>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1" name="Google Shape;871;p44"/>
          <p:cNvSpPr/>
          <p:nvPr/>
        </p:nvSpPr>
        <p:spPr>
          <a:xfrm>
            <a:off x="3271353" y="2448306"/>
            <a:ext cx="185100" cy="185100"/>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2" name="Google Shape;872;p44"/>
          <p:cNvSpPr/>
          <p:nvPr/>
        </p:nvSpPr>
        <p:spPr>
          <a:xfrm>
            <a:off x="3456524" y="2448306"/>
            <a:ext cx="185100" cy="185100"/>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3" name="Google Shape;873;p44"/>
          <p:cNvSpPr/>
          <p:nvPr/>
        </p:nvSpPr>
        <p:spPr>
          <a:xfrm>
            <a:off x="2160328" y="2633472"/>
            <a:ext cx="185100" cy="185100"/>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4" name="Google Shape;874;p44"/>
          <p:cNvSpPr/>
          <p:nvPr/>
        </p:nvSpPr>
        <p:spPr>
          <a:xfrm>
            <a:off x="2345499" y="2633472"/>
            <a:ext cx="185100" cy="185100"/>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5" name="Google Shape;875;p44"/>
          <p:cNvSpPr/>
          <p:nvPr/>
        </p:nvSpPr>
        <p:spPr>
          <a:xfrm>
            <a:off x="2530669" y="2633472"/>
            <a:ext cx="185100" cy="185100"/>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6" name="Google Shape;876;p44"/>
          <p:cNvSpPr/>
          <p:nvPr/>
        </p:nvSpPr>
        <p:spPr>
          <a:xfrm>
            <a:off x="2715840" y="2633472"/>
            <a:ext cx="185100" cy="185100"/>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7" name="Google Shape;877;p44"/>
          <p:cNvSpPr/>
          <p:nvPr/>
        </p:nvSpPr>
        <p:spPr>
          <a:xfrm>
            <a:off x="2901011" y="2633472"/>
            <a:ext cx="185100" cy="185100"/>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8" name="Google Shape;878;p44"/>
          <p:cNvSpPr/>
          <p:nvPr/>
        </p:nvSpPr>
        <p:spPr>
          <a:xfrm>
            <a:off x="3086182" y="2633472"/>
            <a:ext cx="185100" cy="185100"/>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79" name="Google Shape;879;p44"/>
          <p:cNvSpPr/>
          <p:nvPr/>
        </p:nvSpPr>
        <p:spPr>
          <a:xfrm>
            <a:off x="3271353" y="2633472"/>
            <a:ext cx="185100" cy="185100"/>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0" name="Google Shape;880;p44"/>
          <p:cNvSpPr/>
          <p:nvPr/>
        </p:nvSpPr>
        <p:spPr>
          <a:xfrm>
            <a:off x="3456524" y="2633472"/>
            <a:ext cx="185100" cy="185100"/>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1" name="Google Shape;881;p44"/>
          <p:cNvSpPr txBox="1"/>
          <p:nvPr/>
        </p:nvSpPr>
        <p:spPr>
          <a:xfrm>
            <a:off x="2091746" y="2873502"/>
            <a:ext cx="16185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2 policy</a:t>
            </a:r>
            <a:endParaRPr b="0" i="0" sz="1100" u="none" cap="none" strike="noStrike">
              <a:solidFill>
                <a:srgbClr val="000000"/>
              </a:solidFill>
              <a:latin typeface="Arial"/>
              <a:ea typeface="Arial"/>
              <a:cs typeface="Arial"/>
              <a:sym typeface="Arial"/>
            </a:endParaRPr>
          </a:p>
        </p:txBody>
      </p:sp>
      <p:sp>
        <p:nvSpPr>
          <p:cNvPr id="882" name="Google Shape;882;p44"/>
          <p:cNvSpPr/>
          <p:nvPr/>
        </p:nvSpPr>
        <p:spPr>
          <a:xfrm>
            <a:off x="3909163" y="1337310"/>
            <a:ext cx="185100" cy="185100"/>
          </a:xfrm>
          <a:prstGeom prst="rect">
            <a:avLst/>
          </a:prstGeom>
          <a:solidFill>
            <a:srgbClr val="3A241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3" name="Google Shape;883;p44"/>
          <p:cNvSpPr/>
          <p:nvPr/>
        </p:nvSpPr>
        <p:spPr>
          <a:xfrm>
            <a:off x="3964715" y="1392860"/>
            <a:ext cx="74100" cy="74100"/>
          </a:xfrm>
          <a:prstGeom prst="ellipse">
            <a:avLst/>
          </a:prstGeom>
          <a:solidFill>
            <a:srgbClr val="FFCE9E"/>
          </a:solidFill>
          <a:ln>
            <a:noFill/>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4" name="Google Shape;884;p44"/>
          <p:cNvSpPr/>
          <p:nvPr/>
        </p:nvSpPr>
        <p:spPr>
          <a:xfrm>
            <a:off x="4094334" y="1337310"/>
            <a:ext cx="185100" cy="185100"/>
          </a:xfrm>
          <a:prstGeom prst="rect">
            <a:avLst/>
          </a:prstGeom>
          <a:solidFill>
            <a:srgbClr val="3D271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5" name="Google Shape;885;p44"/>
          <p:cNvSpPr/>
          <p:nvPr/>
        </p:nvSpPr>
        <p:spPr>
          <a:xfrm>
            <a:off x="4279505" y="1337310"/>
            <a:ext cx="185100" cy="185100"/>
          </a:xfrm>
          <a:prstGeom prst="rect">
            <a:avLst/>
          </a:prstGeom>
          <a:solidFill>
            <a:srgbClr val="402A1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6" name="Google Shape;886;p44"/>
          <p:cNvSpPr/>
          <p:nvPr/>
        </p:nvSpPr>
        <p:spPr>
          <a:xfrm>
            <a:off x="4464677" y="1337310"/>
            <a:ext cx="185100" cy="185100"/>
          </a:xfrm>
          <a:prstGeom prst="rect">
            <a:avLst/>
          </a:prstGeom>
          <a:solidFill>
            <a:srgbClr val="46302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7" name="Google Shape;887;p44"/>
          <p:cNvSpPr/>
          <p:nvPr/>
        </p:nvSpPr>
        <p:spPr>
          <a:xfrm>
            <a:off x="4649847" y="1337310"/>
            <a:ext cx="185100" cy="185100"/>
          </a:xfrm>
          <a:prstGeom prst="rect">
            <a:avLst/>
          </a:prstGeom>
          <a:solidFill>
            <a:srgbClr val="432D1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8" name="Google Shape;888;p44"/>
          <p:cNvSpPr/>
          <p:nvPr/>
        </p:nvSpPr>
        <p:spPr>
          <a:xfrm>
            <a:off x="4835018" y="1337310"/>
            <a:ext cx="185100" cy="185100"/>
          </a:xfrm>
          <a:prstGeom prst="rect">
            <a:avLst/>
          </a:prstGeom>
          <a:solidFill>
            <a:srgbClr val="49332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89" name="Google Shape;889;p44"/>
          <p:cNvSpPr/>
          <p:nvPr/>
        </p:nvSpPr>
        <p:spPr>
          <a:xfrm>
            <a:off x="5020189" y="1337310"/>
            <a:ext cx="185100" cy="185100"/>
          </a:xfrm>
          <a:prstGeom prst="rect">
            <a:avLst/>
          </a:prstGeom>
          <a:solidFill>
            <a:srgbClr val="4F3A2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0" name="Google Shape;890;p44"/>
          <p:cNvSpPr/>
          <p:nvPr/>
        </p:nvSpPr>
        <p:spPr>
          <a:xfrm>
            <a:off x="5205361" y="1337310"/>
            <a:ext cx="185100" cy="185100"/>
          </a:xfrm>
          <a:prstGeom prst="rect">
            <a:avLst/>
          </a:prstGeom>
          <a:solidFill>
            <a:srgbClr val="4C372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1" name="Google Shape;891;p44"/>
          <p:cNvSpPr/>
          <p:nvPr/>
        </p:nvSpPr>
        <p:spPr>
          <a:xfrm>
            <a:off x="3909163" y="1522475"/>
            <a:ext cx="185100" cy="185100"/>
          </a:xfrm>
          <a:prstGeom prst="rect">
            <a:avLst/>
          </a:prstGeom>
          <a:solidFill>
            <a:srgbClr val="533D2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2" name="Google Shape;892;p44"/>
          <p:cNvSpPr/>
          <p:nvPr/>
        </p:nvSpPr>
        <p:spPr>
          <a:xfrm>
            <a:off x="4094334" y="1522475"/>
            <a:ext cx="185100" cy="185100"/>
          </a:xfrm>
          <a:prstGeom prst="rect">
            <a:avLst/>
          </a:prstGeom>
          <a:solidFill>
            <a:srgbClr val="56402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3" name="Google Shape;893;p44"/>
          <p:cNvSpPr/>
          <p:nvPr/>
        </p:nvSpPr>
        <p:spPr>
          <a:xfrm>
            <a:off x="4279505" y="1522475"/>
            <a:ext cx="185100" cy="185100"/>
          </a:xfrm>
          <a:prstGeom prst="rect">
            <a:avLst/>
          </a:prstGeom>
          <a:solidFill>
            <a:srgbClr val="5C463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4" name="Google Shape;894;p44"/>
          <p:cNvSpPr/>
          <p:nvPr/>
        </p:nvSpPr>
        <p:spPr>
          <a:xfrm>
            <a:off x="4464677" y="1522475"/>
            <a:ext cx="185100" cy="185100"/>
          </a:xfrm>
          <a:prstGeom prst="rect">
            <a:avLst/>
          </a:prstGeom>
          <a:solidFill>
            <a:srgbClr val="5F493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5" name="Google Shape;895;p44"/>
          <p:cNvSpPr/>
          <p:nvPr/>
        </p:nvSpPr>
        <p:spPr>
          <a:xfrm>
            <a:off x="4649847" y="1522475"/>
            <a:ext cx="185100" cy="185100"/>
          </a:xfrm>
          <a:prstGeom prst="rect">
            <a:avLst/>
          </a:prstGeom>
          <a:solidFill>
            <a:srgbClr val="59433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6" name="Google Shape;896;p44"/>
          <p:cNvSpPr/>
          <p:nvPr/>
        </p:nvSpPr>
        <p:spPr>
          <a:xfrm>
            <a:off x="4835018" y="1522475"/>
            <a:ext cx="185100" cy="185100"/>
          </a:xfrm>
          <a:prstGeom prst="rect">
            <a:avLst/>
          </a:prstGeom>
          <a:solidFill>
            <a:srgbClr val="624C3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7" name="Google Shape;897;p44"/>
          <p:cNvSpPr/>
          <p:nvPr/>
        </p:nvSpPr>
        <p:spPr>
          <a:xfrm>
            <a:off x="5020189" y="1522475"/>
            <a:ext cx="185100" cy="185100"/>
          </a:xfrm>
          <a:prstGeom prst="rect">
            <a:avLst/>
          </a:prstGeom>
          <a:solidFill>
            <a:srgbClr val="68524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8" name="Google Shape;898;p44"/>
          <p:cNvSpPr/>
          <p:nvPr/>
        </p:nvSpPr>
        <p:spPr>
          <a:xfrm>
            <a:off x="5205361" y="1522475"/>
            <a:ext cx="185100" cy="185100"/>
          </a:xfrm>
          <a:prstGeom prst="rect">
            <a:avLst/>
          </a:prstGeom>
          <a:solidFill>
            <a:srgbClr val="654F3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99" name="Google Shape;899;p44"/>
          <p:cNvSpPr/>
          <p:nvPr/>
        </p:nvSpPr>
        <p:spPr>
          <a:xfrm>
            <a:off x="3909163" y="1707642"/>
            <a:ext cx="185100" cy="185100"/>
          </a:xfrm>
          <a:prstGeom prst="rect">
            <a:avLst/>
          </a:prstGeom>
          <a:solidFill>
            <a:srgbClr val="6B564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0" name="Google Shape;900;p44"/>
          <p:cNvSpPr/>
          <p:nvPr/>
        </p:nvSpPr>
        <p:spPr>
          <a:xfrm>
            <a:off x="4094334" y="1707642"/>
            <a:ext cx="185100" cy="185100"/>
          </a:xfrm>
          <a:prstGeom prst="rect">
            <a:avLst/>
          </a:prstGeom>
          <a:solidFill>
            <a:srgbClr val="745F4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1" name="Google Shape;901;p44"/>
          <p:cNvSpPr/>
          <p:nvPr/>
        </p:nvSpPr>
        <p:spPr>
          <a:xfrm>
            <a:off x="4279505" y="1707642"/>
            <a:ext cx="185100" cy="185100"/>
          </a:xfrm>
          <a:prstGeom prst="rect">
            <a:avLst/>
          </a:prstGeom>
          <a:solidFill>
            <a:srgbClr val="715C4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2" name="Google Shape;902;p44"/>
          <p:cNvSpPr/>
          <p:nvPr/>
        </p:nvSpPr>
        <p:spPr>
          <a:xfrm>
            <a:off x="4464677" y="1707642"/>
            <a:ext cx="185100" cy="185100"/>
          </a:xfrm>
          <a:prstGeom prst="rect">
            <a:avLst/>
          </a:prstGeom>
          <a:solidFill>
            <a:srgbClr val="6E594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3" name="Google Shape;903;p44"/>
          <p:cNvSpPr/>
          <p:nvPr/>
        </p:nvSpPr>
        <p:spPr>
          <a:xfrm>
            <a:off x="4649847" y="1707642"/>
            <a:ext cx="185100" cy="185100"/>
          </a:xfrm>
          <a:prstGeom prst="rect">
            <a:avLst/>
          </a:prstGeom>
          <a:solidFill>
            <a:srgbClr val="77624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4" name="Google Shape;904;p44"/>
          <p:cNvSpPr/>
          <p:nvPr/>
        </p:nvSpPr>
        <p:spPr>
          <a:xfrm>
            <a:off x="4835018" y="1707642"/>
            <a:ext cx="185100" cy="185100"/>
          </a:xfrm>
          <a:prstGeom prst="rect">
            <a:avLst/>
          </a:prstGeom>
          <a:solidFill>
            <a:srgbClr val="7D685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5" name="Google Shape;905;p44"/>
          <p:cNvSpPr/>
          <p:nvPr/>
        </p:nvSpPr>
        <p:spPr>
          <a:xfrm>
            <a:off x="5020189" y="1707642"/>
            <a:ext cx="185100" cy="185100"/>
          </a:xfrm>
          <a:prstGeom prst="rect">
            <a:avLst/>
          </a:prstGeom>
          <a:solidFill>
            <a:srgbClr val="7A655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6" name="Google Shape;906;p44"/>
          <p:cNvSpPr/>
          <p:nvPr/>
        </p:nvSpPr>
        <p:spPr>
          <a:xfrm>
            <a:off x="5205361" y="1707642"/>
            <a:ext cx="185100" cy="185100"/>
          </a:xfrm>
          <a:prstGeom prst="rect">
            <a:avLst/>
          </a:prstGeom>
          <a:solidFill>
            <a:srgbClr val="87715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7" name="Google Shape;907;p44"/>
          <p:cNvSpPr/>
          <p:nvPr/>
        </p:nvSpPr>
        <p:spPr>
          <a:xfrm>
            <a:off x="3909163" y="1892808"/>
            <a:ext cx="185100" cy="185100"/>
          </a:xfrm>
          <a:prstGeom prst="rect">
            <a:avLst/>
          </a:prstGeom>
          <a:solidFill>
            <a:srgbClr val="846E5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8" name="Google Shape;908;p44"/>
          <p:cNvSpPr/>
          <p:nvPr/>
        </p:nvSpPr>
        <p:spPr>
          <a:xfrm>
            <a:off x="4094334" y="1892808"/>
            <a:ext cx="185100" cy="185100"/>
          </a:xfrm>
          <a:prstGeom prst="rect">
            <a:avLst/>
          </a:prstGeom>
          <a:solidFill>
            <a:srgbClr val="806B5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09" name="Google Shape;909;p44"/>
          <p:cNvSpPr/>
          <p:nvPr/>
        </p:nvSpPr>
        <p:spPr>
          <a:xfrm>
            <a:off x="4279505" y="1892808"/>
            <a:ext cx="185100" cy="185100"/>
          </a:xfrm>
          <a:prstGeom prst="rect">
            <a:avLst/>
          </a:prstGeom>
          <a:solidFill>
            <a:srgbClr val="8A746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0" name="Google Shape;910;p44"/>
          <p:cNvSpPr/>
          <p:nvPr/>
        </p:nvSpPr>
        <p:spPr>
          <a:xfrm>
            <a:off x="4464677" y="1892808"/>
            <a:ext cx="185100" cy="185100"/>
          </a:xfrm>
          <a:prstGeom prst="rect">
            <a:avLst/>
          </a:prstGeom>
          <a:solidFill>
            <a:srgbClr val="8D786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1" name="Google Shape;911;p44"/>
          <p:cNvSpPr/>
          <p:nvPr/>
        </p:nvSpPr>
        <p:spPr>
          <a:xfrm>
            <a:off x="4649847" y="1892808"/>
            <a:ext cx="185100" cy="185100"/>
          </a:xfrm>
          <a:prstGeom prst="rect">
            <a:avLst/>
          </a:prstGeom>
          <a:solidFill>
            <a:srgbClr val="937E6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2" name="Google Shape;912;p44"/>
          <p:cNvSpPr/>
          <p:nvPr/>
        </p:nvSpPr>
        <p:spPr>
          <a:xfrm>
            <a:off x="4835018" y="1892808"/>
            <a:ext cx="185100" cy="185100"/>
          </a:xfrm>
          <a:prstGeom prst="rect">
            <a:avLst/>
          </a:prstGeom>
          <a:solidFill>
            <a:srgbClr val="96816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3" name="Google Shape;913;p44"/>
          <p:cNvSpPr/>
          <p:nvPr/>
        </p:nvSpPr>
        <p:spPr>
          <a:xfrm>
            <a:off x="5020189" y="1892808"/>
            <a:ext cx="185100" cy="185100"/>
          </a:xfrm>
          <a:prstGeom prst="rect">
            <a:avLst/>
          </a:prstGeom>
          <a:solidFill>
            <a:srgbClr val="907B6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4" name="Google Shape;914;p44"/>
          <p:cNvSpPr/>
          <p:nvPr/>
        </p:nvSpPr>
        <p:spPr>
          <a:xfrm>
            <a:off x="5205361" y="1892808"/>
            <a:ext cx="185100" cy="185100"/>
          </a:xfrm>
          <a:prstGeom prst="rect">
            <a:avLst/>
          </a:prstGeom>
          <a:solidFill>
            <a:srgbClr val="99847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5" name="Google Shape;915;p44"/>
          <p:cNvSpPr/>
          <p:nvPr/>
        </p:nvSpPr>
        <p:spPr>
          <a:xfrm>
            <a:off x="3909163" y="2077974"/>
            <a:ext cx="185100" cy="185100"/>
          </a:xfrm>
          <a:prstGeom prst="rect">
            <a:avLst/>
          </a:prstGeom>
          <a:solidFill>
            <a:srgbClr val="9F8A7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6" name="Google Shape;916;p44"/>
          <p:cNvSpPr/>
          <p:nvPr/>
        </p:nvSpPr>
        <p:spPr>
          <a:xfrm>
            <a:off x="4094334" y="2077974"/>
            <a:ext cx="185100" cy="185100"/>
          </a:xfrm>
          <a:prstGeom prst="rect">
            <a:avLst/>
          </a:prstGeom>
          <a:solidFill>
            <a:srgbClr val="9C877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7" name="Google Shape;917;p44"/>
          <p:cNvSpPr/>
          <p:nvPr/>
        </p:nvSpPr>
        <p:spPr>
          <a:xfrm>
            <a:off x="4279505" y="2077974"/>
            <a:ext cx="185100" cy="185100"/>
          </a:xfrm>
          <a:prstGeom prst="rect">
            <a:avLst/>
          </a:prstGeom>
          <a:solidFill>
            <a:srgbClr val="A5907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8" name="Google Shape;918;p44"/>
          <p:cNvSpPr/>
          <p:nvPr/>
        </p:nvSpPr>
        <p:spPr>
          <a:xfrm>
            <a:off x="4464677" y="2077974"/>
            <a:ext cx="185100" cy="185100"/>
          </a:xfrm>
          <a:prstGeom prst="rect">
            <a:avLst/>
          </a:prstGeom>
          <a:solidFill>
            <a:srgbClr val="A28D7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19" name="Google Shape;919;p44"/>
          <p:cNvSpPr/>
          <p:nvPr/>
        </p:nvSpPr>
        <p:spPr>
          <a:xfrm>
            <a:off x="4649847" y="2077974"/>
            <a:ext cx="185100" cy="185100"/>
          </a:xfrm>
          <a:prstGeom prst="rect">
            <a:avLst/>
          </a:prstGeom>
          <a:solidFill>
            <a:srgbClr val="A8937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0" name="Google Shape;920;p44"/>
          <p:cNvSpPr/>
          <p:nvPr/>
        </p:nvSpPr>
        <p:spPr>
          <a:xfrm>
            <a:off x="4835018" y="2077974"/>
            <a:ext cx="185100" cy="185100"/>
          </a:xfrm>
          <a:prstGeom prst="rect">
            <a:avLst/>
          </a:prstGeom>
          <a:solidFill>
            <a:srgbClr val="AE9A8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1" name="Google Shape;921;p44"/>
          <p:cNvSpPr/>
          <p:nvPr/>
        </p:nvSpPr>
        <p:spPr>
          <a:xfrm>
            <a:off x="5020189" y="2077974"/>
            <a:ext cx="185100" cy="185100"/>
          </a:xfrm>
          <a:prstGeom prst="rect">
            <a:avLst/>
          </a:prstGeom>
          <a:solidFill>
            <a:srgbClr val="B19D8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2" name="Google Shape;922;p44"/>
          <p:cNvSpPr/>
          <p:nvPr/>
        </p:nvSpPr>
        <p:spPr>
          <a:xfrm>
            <a:off x="5205361" y="2077974"/>
            <a:ext cx="185100" cy="185100"/>
          </a:xfrm>
          <a:prstGeom prst="rect">
            <a:avLst/>
          </a:prstGeom>
          <a:solidFill>
            <a:srgbClr val="B5A08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3" name="Google Shape;923;p44"/>
          <p:cNvSpPr/>
          <p:nvPr/>
        </p:nvSpPr>
        <p:spPr>
          <a:xfrm>
            <a:off x="3909163" y="2263140"/>
            <a:ext cx="185100" cy="185100"/>
          </a:xfrm>
          <a:prstGeom prst="rect">
            <a:avLst/>
          </a:prstGeom>
          <a:solidFill>
            <a:srgbClr val="AB978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4" name="Google Shape;924;p44"/>
          <p:cNvSpPr/>
          <p:nvPr/>
        </p:nvSpPr>
        <p:spPr>
          <a:xfrm>
            <a:off x="4094334" y="2263140"/>
            <a:ext cx="185100" cy="185100"/>
          </a:xfrm>
          <a:prstGeom prst="rect">
            <a:avLst/>
          </a:prstGeom>
          <a:solidFill>
            <a:srgbClr val="BEA99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5" name="Google Shape;925;p44"/>
          <p:cNvSpPr/>
          <p:nvPr/>
        </p:nvSpPr>
        <p:spPr>
          <a:xfrm>
            <a:off x="4279505" y="2263140"/>
            <a:ext cx="185100" cy="185100"/>
          </a:xfrm>
          <a:prstGeom prst="rect">
            <a:avLst/>
          </a:prstGeom>
          <a:solidFill>
            <a:srgbClr val="B8A38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6" name="Google Shape;926;p44"/>
          <p:cNvSpPr/>
          <p:nvPr/>
        </p:nvSpPr>
        <p:spPr>
          <a:xfrm>
            <a:off x="4464677" y="2263140"/>
            <a:ext cx="185100" cy="185100"/>
          </a:xfrm>
          <a:prstGeom prst="rect">
            <a:avLst/>
          </a:prstGeom>
          <a:solidFill>
            <a:srgbClr val="BBA69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7" name="Google Shape;927;p44"/>
          <p:cNvSpPr/>
          <p:nvPr/>
        </p:nvSpPr>
        <p:spPr>
          <a:xfrm>
            <a:off x="4649847" y="2263140"/>
            <a:ext cx="185100" cy="185100"/>
          </a:xfrm>
          <a:prstGeom prst="rect">
            <a:avLst/>
          </a:prstGeom>
          <a:solidFill>
            <a:srgbClr val="C1AC9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8" name="Google Shape;928;p44"/>
          <p:cNvSpPr/>
          <p:nvPr/>
        </p:nvSpPr>
        <p:spPr>
          <a:xfrm>
            <a:off x="4835018" y="2263140"/>
            <a:ext cx="185100" cy="185100"/>
          </a:xfrm>
          <a:prstGeom prst="rect">
            <a:avLst/>
          </a:prstGeom>
          <a:solidFill>
            <a:srgbClr val="CAB5A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29" name="Google Shape;929;p44"/>
          <p:cNvSpPr/>
          <p:nvPr/>
        </p:nvSpPr>
        <p:spPr>
          <a:xfrm>
            <a:off x="5020189" y="2263140"/>
            <a:ext cx="185100" cy="185100"/>
          </a:xfrm>
          <a:prstGeom prst="rect">
            <a:avLst/>
          </a:prstGeom>
          <a:solidFill>
            <a:srgbClr val="C4AF9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0" name="Google Shape;930;p44"/>
          <p:cNvSpPr/>
          <p:nvPr/>
        </p:nvSpPr>
        <p:spPr>
          <a:xfrm>
            <a:off x="5205361" y="2263140"/>
            <a:ext cx="185100" cy="185100"/>
          </a:xfrm>
          <a:prstGeom prst="rect">
            <a:avLst/>
          </a:prstGeom>
          <a:solidFill>
            <a:srgbClr val="C7B29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1" name="Google Shape;931;p44"/>
          <p:cNvSpPr/>
          <p:nvPr/>
        </p:nvSpPr>
        <p:spPr>
          <a:xfrm>
            <a:off x="3909163" y="2448306"/>
            <a:ext cx="185100" cy="185100"/>
          </a:xfrm>
          <a:prstGeom prst="rect">
            <a:avLst/>
          </a:prstGeom>
          <a:solidFill>
            <a:srgbClr val="CDB9A2"/>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2" name="Google Shape;932;p44"/>
          <p:cNvSpPr/>
          <p:nvPr/>
        </p:nvSpPr>
        <p:spPr>
          <a:xfrm>
            <a:off x="4094334" y="2448306"/>
            <a:ext cx="185100" cy="185100"/>
          </a:xfrm>
          <a:prstGeom prst="rect">
            <a:avLst/>
          </a:prstGeom>
          <a:solidFill>
            <a:srgbClr val="D0BCA5"/>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3" name="Google Shape;933;p44"/>
          <p:cNvSpPr/>
          <p:nvPr/>
        </p:nvSpPr>
        <p:spPr>
          <a:xfrm>
            <a:off x="4279505" y="2448306"/>
            <a:ext cx="185100" cy="185100"/>
          </a:xfrm>
          <a:prstGeom prst="rect">
            <a:avLst/>
          </a:prstGeom>
          <a:solidFill>
            <a:srgbClr val="D6C2AB"/>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4" name="Google Shape;934;p44"/>
          <p:cNvSpPr/>
          <p:nvPr/>
        </p:nvSpPr>
        <p:spPr>
          <a:xfrm>
            <a:off x="4464677" y="2448306"/>
            <a:ext cx="185100" cy="185100"/>
          </a:xfrm>
          <a:prstGeom prst="rect">
            <a:avLst/>
          </a:prstGeom>
          <a:solidFill>
            <a:srgbClr val="D9C5AE"/>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5" name="Google Shape;935;p44"/>
          <p:cNvSpPr/>
          <p:nvPr/>
        </p:nvSpPr>
        <p:spPr>
          <a:xfrm>
            <a:off x="4649847" y="2448306"/>
            <a:ext cx="185100" cy="185100"/>
          </a:xfrm>
          <a:prstGeom prst="rect">
            <a:avLst/>
          </a:prstGeom>
          <a:solidFill>
            <a:srgbClr val="D3BFA8"/>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6" name="Google Shape;936;p44"/>
          <p:cNvSpPr/>
          <p:nvPr/>
        </p:nvSpPr>
        <p:spPr>
          <a:xfrm>
            <a:off x="4835018" y="2448306"/>
            <a:ext cx="185100" cy="185100"/>
          </a:xfrm>
          <a:prstGeom prst="rect">
            <a:avLst/>
          </a:prstGeom>
          <a:solidFill>
            <a:srgbClr val="DCC8B1"/>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7" name="Google Shape;937;p44"/>
          <p:cNvSpPr/>
          <p:nvPr/>
        </p:nvSpPr>
        <p:spPr>
          <a:xfrm>
            <a:off x="5020189" y="2448306"/>
            <a:ext cx="185100" cy="185100"/>
          </a:xfrm>
          <a:prstGeom prst="rect">
            <a:avLst/>
          </a:prstGeom>
          <a:solidFill>
            <a:srgbClr val="DFCBB4"/>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8" name="Google Shape;938;p44"/>
          <p:cNvSpPr/>
          <p:nvPr/>
        </p:nvSpPr>
        <p:spPr>
          <a:xfrm>
            <a:off x="5205361" y="2448306"/>
            <a:ext cx="185100" cy="185100"/>
          </a:xfrm>
          <a:prstGeom prst="rect">
            <a:avLst/>
          </a:prstGeom>
          <a:solidFill>
            <a:srgbClr val="E9D4BD"/>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39" name="Google Shape;939;p44"/>
          <p:cNvSpPr/>
          <p:nvPr/>
        </p:nvSpPr>
        <p:spPr>
          <a:xfrm>
            <a:off x="3909163" y="2633472"/>
            <a:ext cx="185100" cy="185100"/>
          </a:xfrm>
          <a:prstGeom prst="rect">
            <a:avLst/>
          </a:prstGeom>
          <a:solidFill>
            <a:srgbClr val="E2CEB7"/>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0" name="Google Shape;940;p44"/>
          <p:cNvSpPr/>
          <p:nvPr/>
        </p:nvSpPr>
        <p:spPr>
          <a:xfrm>
            <a:off x="4094334" y="2633472"/>
            <a:ext cx="185100" cy="185100"/>
          </a:xfrm>
          <a:prstGeom prst="rect">
            <a:avLst/>
          </a:prstGeom>
          <a:solidFill>
            <a:srgbClr val="E6D1BA"/>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1" name="Google Shape;941;p44"/>
          <p:cNvSpPr/>
          <p:nvPr/>
        </p:nvSpPr>
        <p:spPr>
          <a:xfrm>
            <a:off x="4279505" y="2633472"/>
            <a:ext cx="185100" cy="185100"/>
          </a:xfrm>
          <a:prstGeom prst="rect">
            <a:avLst/>
          </a:prstGeom>
          <a:solidFill>
            <a:srgbClr val="ECD8C0"/>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2" name="Google Shape;942;p44"/>
          <p:cNvSpPr/>
          <p:nvPr/>
        </p:nvSpPr>
        <p:spPr>
          <a:xfrm>
            <a:off x="4464677" y="2633472"/>
            <a:ext cx="185100" cy="185100"/>
          </a:xfrm>
          <a:prstGeom prst="rect">
            <a:avLst/>
          </a:prstGeom>
          <a:solidFill>
            <a:srgbClr val="F2DEC6"/>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3" name="Google Shape;943;p44"/>
          <p:cNvSpPr/>
          <p:nvPr/>
        </p:nvSpPr>
        <p:spPr>
          <a:xfrm>
            <a:off x="4649847" y="2633472"/>
            <a:ext cx="185100" cy="185100"/>
          </a:xfrm>
          <a:prstGeom prst="rect">
            <a:avLst/>
          </a:prstGeom>
          <a:solidFill>
            <a:srgbClr val="EFDBC3"/>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4" name="Google Shape;944;p44"/>
          <p:cNvSpPr/>
          <p:nvPr/>
        </p:nvSpPr>
        <p:spPr>
          <a:xfrm>
            <a:off x="4835018" y="2633472"/>
            <a:ext cx="185100" cy="185100"/>
          </a:xfrm>
          <a:prstGeom prst="rect">
            <a:avLst/>
          </a:prstGeom>
          <a:solidFill>
            <a:srgbClr val="F5E1C9"/>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5" name="Google Shape;945;p44"/>
          <p:cNvSpPr/>
          <p:nvPr/>
        </p:nvSpPr>
        <p:spPr>
          <a:xfrm>
            <a:off x="5020189" y="2633472"/>
            <a:ext cx="185100" cy="185100"/>
          </a:xfrm>
          <a:prstGeom prst="rect">
            <a:avLst/>
          </a:prstGeom>
          <a:solidFill>
            <a:srgbClr val="FBE7CF"/>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6" name="Google Shape;946;p44"/>
          <p:cNvSpPr/>
          <p:nvPr/>
        </p:nvSpPr>
        <p:spPr>
          <a:xfrm>
            <a:off x="5205361" y="2633472"/>
            <a:ext cx="185100" cy="185100"/>
          </a:xfrm>
          <a:prstGeom prst="rect">
            <a:avLst/>
          </a:prstGeom>
          <a:solidFill>
            <a:srgbClr val="F8E4CC"/>
          </a:solidFill>
          <a:ln cap="flat" cmpd="sng" w="9525">
            <a:solidFill>
              <a:srgbClr val="FFFFF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7" name="Google Shape;947;p44"/>
          <p:cNvSpPr txBox="1"/>
          <p:nvPr/>
        </p:nvSpPr>
        <p:spPr>
          <a:xfrm>
            <a:off x="3840582" y="2873502"/>
            <a:ext cx="1618500" cy="169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3 policy</a:t>
            </a:r>
            <a:endParaRPr b="0" i="0" sz="1100" u="none" cap="none" strike="noStrike">
              <a:solidFill>
                <a:srgbClr val="000000"/>
              </a:solidFill>
              <a:latin typeface="Arial"/>
              <a:ea typeface="Arial"/>
              <a:cs typeface="Arial"/>
              <a:sym typeface="Arial"/>
            </a:endParaRPr>
          </a:p>
        </p:txBody>
      </p:sp>
      <p:sp>
        <p:nvSpPr>
          <p:cNvPr id="948" name="Google Shape;948;p44"/>
          <p:cNvSpPr/>
          <p:nvPr/>
        </p:nvSpPr>
        <p:spPr>
          <a:xfrm>
            <a:off x="5760874" y="1268730"/>
            <a:ext cx="2969700" cy="209160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9" name="Google Shape;949;p44"/>
          <p:cNvSpPr txBox="1"/>
          <p:nvPr/>
        </p:nvSpPr>
        <p:spPr>
          <a:xfrm>
            <a:off x="5932328" y="1371600"/>
            <a:ext cx="26748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it" sz="1300" u="none" cap="none" strike="noStrike">
                <a:solidFill>
                  <a:srgbClr val="221C17"/>
                </a:solidFill>
                <a:latin typeface="Cambria"/>
                <a:ea typeface="Cambria"/>
                <a:cs typeface="Cambria"/>
                <a:sym typeface="Cambria"/>
              </a:rPr>
              <a:t>Learned (frozen) vs raster (exact match)</a:t>
            </a:r>
            <a:endParaRPr b="0" i="0" sz="1100" u="none" cap="none" strike="noStrike">
              <a:solidFill>
                <a:srgbClr val="000000"/>
              </a:solidFill>
              <a:latin typeface="Arial"/>
              <a:ea typeface="Arial"/>
              <a:cs typeface="Arial"/>
              <a:sym typeface="Arial"/>
            </a:endParaRPr>
          </a:p>
        </p:txBody>
      </p:sp>
      <p:sp>
        <p:nvSpPr>
          <p:cNvPr id="950" name="Google Shape;950;p44"/>
          <p:cNvSpPr txBox="1"/>
          <p:nvPr/>
        </p:nvSpPr>
        <p:spPr>
          <a:xfrm>
            <a:off x="6789601" y="1714500"/>
            <a:ext cx="8916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Learned</a:t>
            </a:r>
            <a:endParaRPr b="0" i="0" sz="1100" u="none" cap="none" strike="noStrike">
              <a:solidFill>
                <a:srgbClr val="000000"/>
              </a:solidFill>
              <a:latin typeface="Arial"/>
              <a:ea typeface="Arial"/>
              <a:cs typeface="Arial"/>
              <a:sym typeface="Arial"/>
            </a:endParaRPr>
          </a:p>
        </p:txBody>
      </p:sp>
      <p:sp>
        <p:nvSpPr>
          <p:cNvPr id="951" name="Google Shape;951;p44"/>
          <p:cNvSpPr txBox="1"/>
          <p:nvPr/>
        </p:nvSpPr>
        <p:spPr>
          <a:xfrm>
            <a:off x="7681165" y="1714500"/>
            <a:ext cx="891600" cy="153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000"/>
              <a:buFont typeface="Arial"/>
              <a:buNone/>
            </a:pPr>
            <a:r>
              <a:rPr b="1" i="0" lang="it" sz="1000" u="none" cap="none" strike="noStrike">
                <a:solidFill>
                  <a:srgbClr val="6B625A"/>
                </a:solidFill>
                <a:latin typeface="Calibri"/>
                <a:ea typeface="Calibri"/>
                <a:cs typeface="Calibri"/>
                <a:sym typeface="Calibri"/>
              </a:rPr>
              <a:t>Raster</a:t>
            </a:r>
            <a:endParaRPr b="0" i="0" sz="1100" u="none" cap="none" strike="noStrike">
              <a:solidFill>
                <a:srgbClr val="000000"/>
              </a:solidFill>
              <a:latin typeface="Arial"/>
              <a:ea typeface="Arial"/>
              <a:cs typeface="Arial"/>
              <a:sym typeface="Arial"/>
            </a:endParaRPr>
          </a:p>
        </p:txBody>
      </p:sp>
      <p:sp>
        <p:nvSpPr>
          <p:cNvPr id="952" name="Google Shape;952;p44"/>
          <p:cNvSpPr txBox="1"/>
          <p:nvPr/>
        </p:nvSpPr>
        <p:spPr>
          <a:xfrm>
            <a:off x="5932328" y="2023110"/>
            <a:ext cx="891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1</a:t>
            </a:r>
            <a:endParaRPr b="0" i="0" sz="1100" u="none" cap="none" strike="noStrike">
              <a:solidFill>
                <a:srgbClr val="000000"/>
              </a:solidFill>
              <a:latin typeface="Arial"/>
              <a:ea typeface="Arial"/>
              <a:cs typeface="Arial"/>
              <a:sym typeface="Arial"/>
            </a:endParaRPr>
          </a:p>
        </p:txBody>
      </p:sp>
      <p:sp>
        <p:nvSpPr>
          <p:cNvPr id="953" name="Google Shape;953;p44"/>
          <p:cNvSpPr txBox="1"/>
          <p:nvPr/>
        </p:nvSpPr>
        <p:spPr>
          <a:xfrm>
            <a:off x="6789601" y="202311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1" i="0" lang="it" sz="1200" u="none" cap="none" strike="noStrike">
                <a:solidFill>
                  <a:srgbClr val="B5652A"/>
                </a:solidFill>
                <a:latin typeface="Calibri"/>
                <a:ea typeface="Calibri"/>
                <a:cs typeface="Calibri"/>
                <a:sym typeface="Calibri"/>
              </a:rPr>
              <a:t>96.75%</a:t>
            </a:r>
            <a:endParaRPr b="0" i="0" sz="1100" u="none" cap="none" strike="noStrike">
              <a:solidFill>
                <a:srgbClr val="000000"/>
              </a:solidFill>
              <a:latin typeface="Arial"/>
              <a:ea typeface="Arial"/>
              <a:cs typeface="Arial"/>
              <a:sym typeface="Arial"/>
            </a:endParaRPr>
          </a:p>
        </p:txBody>
      </p:sp>
      <p:sp>
        <p:nvSpPr>
          <p:cNvPr id="954" name="Google Shape;954;p44"/>
          <p:cNvSpPr txBox="1"/>
          <p:nvPr/>
        </p:nvSpPr>
        <p:spPr>
          <a:xfrm>
            <a:off x="7681165" y="202311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0" i="0" lang="it" sz="1200" u="none" cap="none" strike="noStrike">
                <a:solidFill>
                  <a:srgbClr val="221C17"/>
                </a:solidFill>
                <a:latin typeface="Calibri"/>
                <a:ea typeface="Calibri"/>
                <a:cs typeface="Calibri"/>
                <a:sym typeface="Calibri"/>
              </a:rPr>
              <a:t>97.00%</a:t>
            </a:r>
            <a:endParaRPr b="0" i="0" sz="1100" u="none" cap="none" strike="noStrike">
              <a:solidFill>
                <a:srgbClr val="000000"/>
              </a:solidFill>
              <a:latin typeface="Arial"/>
              <a:ea typeface="Arial"/>
              <a:cs typeface="Arial"/>
              <a:sym typeface="Arial"/>
            </a:endParaRPr>
          </a:p>
        </p:txBody>
      </p:sp>
      <p:sp>
        <p:nvSpPr>
          <p:cNvPr id="955" name="Google Shape;955;p44"/>
          <p:cNvSpPr txBox="1"/>
          <p:nvPr/>
        </p:nvSpPr>
        <p:spPr>
          <a:xfrm>
            <a:off x="5932328" y="2434590"/>
            <a:ext cx="891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2</a:t>
            </a:r>
            <a:endParaRPr b="0" i="0" sz="1100" u="none" cap="none" strike="noStrike">
              <a:solidFill>
                <a:srgbClr val="000000"/>
              </a:solidFill>
              <a:latin typeface="Arial"/>
              <a:ea typeface="Arial"/>
              <a:cs typeface="Arial"/>
              <a:sym typeface="Arial"/>
            </a:endParaRPr>
          </a:p>
        </p:txBody>
      </p:sp>
      <p:sp>
        <p:nvSpPr>
          <p:cNvPr id="956" name="Google Shape;956;p44"/>
          <p:cNvSpPr txBox="1"/>
          <p:nvPr/>
        </p:nvSpPr>
        <p:spPr>
          <a:xfrm>
            <a:off x="6789601" y="243459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1" i="0" lang="it" sz="1200" u="none" cap="none" strike="noStrike">
                <a:solidFill>
                  <a:srgbClr val="B5652A"/>
                </a:solidFill>
                <a:latin typeface="Calibri"/>
                <a:ea typeface="Calibri"/>
                <a:cs typeface="Calibri"/>
                <a:sym typeface="Calibri"/>
              </a:rPr>
              <a:t>59.50%</a:t>
            </a:r>
            <a:endParaRPr b="0" i="0" sz="1100" u="none" cap="none" strike="noStrike">
              <a:solidFill>
                <a:srgbClr val="000000"/>
              </a:solidFill>
              <a:latin typeface="Arial"/>
              <a:ea typeface="Arial"/>
              <a:cs typeface="Arial"/>
              <a:sym typeface="Arial"/>
            </a:endParaRPr>
          </a:p>
        </p:txBody>
      </p:sp>
      <p:sp>
        <p:nvSpPr>
          <p:cNvPr id="957" name="Google Shape;957;p44"/>
          <p:cNvSpPr txBox="1"/>
          <p:nvPr/>
        </p:nvSpPr>
        <p:spPr>
          <a:xfrm>
            <a:off x="7681165" y="243459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0" i="0" lang="it" sz="1200" u="none" cap="none" strike="noStrike">
                <a:solidFill>
                  <a:srgbClr val="221C17"/>
                </a:solidFill>
                <a:latin typeface="Calibri"/>
                <a:ea typeface="Calibri"/>
                <a:cs typeface="Calibri"/>
                <a:sym typeface="Calibri"/>
              </a:rPr>
              <a:t>60.25%</a:t>
            </a:r>
            <a:endParaRPr b="0" i="0" sz="1100" u="none" cap="none" strike="noStrike">
              <a:solidFill>
                <a:srgbClr val="000000"/>
              </a:solidFill>
              <a:latin typeface="Arial"/>
              <a:ea typeface="Arial"/>
              <a:cs typeface="Arial"/>
              <a:sym typeface="Arial"/>
            </a:endParaRPr>
          </a:p>
        </p:txBody>
      </p:sp>
      <p:sp>
        <p:nvSpPr>
          <p:cNvPr id="958" name="Google Shape;958;p44"/>
          <p:cNvSpPr txBox="1"/>
          <p:nvPr/>
        </p:nvSpPr>
        <p:spPr>
          <a:xfrm>
            <a:off x="5932328" y="2846070"/>
            <a:ext cx="891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Task 3</a:t>
            </a:r>
            <a:endParaRPr b="0" i="0" sz="1100" u="none" cap="none" strike="noStrike">
              <a:solidFill>
                <a:srgbClr val="000000"/>
              </a:solidFill>
              <a:latin typeface="Arial"/>
              <a:ea typeface="Arial"/>
              <a:cs typeface="Arial"/>
              <a:sym typeface="Arial"/>
            </a:endParaRPr>
          </a:p>
        </p:txBody>
      </p:sp>
      <p:sp>
        <p:nvSpPr>
          <p:cNvPr id="959" name="Google Shape;959;p44"/>
          <p:cNvSpPr txBox="1"/>
          <p:nvPr/>
        </p:nvSpPr>
        <p:spPr>
          <a:xfrm>
            <a:off x="6789601" y="284607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1" i="0" lang="it" sz="1200" u="none" cap="none" strike="noStrike">
                <a:solidFill>
                  <a:srgbClr val="B5652A"/>
                </a:solidFill>
                <a:latin typeface="Calibri"/>
                <a:ea typeface="Calibri"/>
                <a:cs typeface="Calibri"/>
                <a:sym typeface="Calibri"/>
              </a:rPr>
              <a:t>75.00%</a:t>
            </a:r>
            <a:endParaRPr b="0" i="0" sz="1100" u="none" cap="none" strike="noStrike">
              <a:solidFill>
                <a:srgbClr val="000000"/>
              </a:solidFill>
              <a:latin typeface="Arial"/>
              <a:ea typeface="Arial"/>
              <a:cs typeface="Arial"/>
              <a:sym typeface="Arial"/>
            </a:endParaRPr>
          </a:p>
        </p:txBody>
      </p:sp>
      <p:sp>
        <p:nvSpPr>
          <p:cNvPr id="960" name="Google Shape;960;p44"/>
          <p:cNvSpPr txBox="1"/>
          <p:nvPr/>
        </p:nvSpPr>
        <p:spPr>
          <a:xfrm>
            <a:off x="7681165" y="2846070"/>
            <a:ext cx="891600" cy="1848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1200"/>
              <a:buFont typeface="Arial"/>
              <a:buNone/>
            </a:pPr>
            <a:r>
              <a:rPr b="0" i="0" lang="it" sz="1200" u="none" cap="none" strike="noStrike">
                <a:solidFill>
                  <a:srgbClr val="221C17"/>
                </a:solidFill>
                <a:latin typeface="Calibri"/>
                <a:ea typeface="Calibri"/>
                <a:cs typeface="Calibri"/>
                <a:sym typeface="Calibri"/>
              </a:rPr>
              <a:t>79.75%</a:t>
            </a:r>
            <a:endParaRPr b="0" i="0" sz="1100" u="none" cap="none" strike="noStrike">
              <a:solidFill>
                <a:srgbClr val="000000"/>
              </a:solidFill>
              <a:latin typeface="Arial"/>
              <a:ea typeface="Arial"/>
              <a:cs typeface="Arial"/>
              <a:sym typeface="Arial"/>
            </a:endParaRPr>
          </a:p>
        </p:txBody>
      </p:sp>
      <p:sp>
        <p:nvSpPr>
          <p:cNvPr id="961" name="Google Shape;961;p44"/>
          <p:cNvSpPr txBox="1"/>
          <p:nvPr/>
        </p:nvSpPr>
        <p:spPr>
          <a:xfrm>
            <a:off x="411491" y="3600450"/>
            <a:ext cx="82983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0"/>
              </a:spcBef>
              <a:spcAft>
                <a:spcPts val="0"/>
              </a:spcAft>
              <a:buClr>
                <a:srgbClr val="000000"/>
              </a:buClr>
              <a:buSzPts val="1100"/>
              <a:buFont typeface="Arial"/>
              <a:buNone/>
            </a:pPr>
            <a:r>
              <a:rPr b="0" i="0" lang="it" sz="1100" u="none" cap="none" strike="noStrike">
                <a:solidFill>
                  <a:srgbClr val="000000"/>
                </a:solidFill>
                <a:latin typeface="Arial"/>
                <a:ea typeface="Arial"/>
                <a:cs typeface="Arial"/>
                <a:sym typeface="Arial"/>
              </a:rPr>
              <a:t>Freezing the order helps (Task 3: 57.25% → 75.00%), but the learned order never beats raster.</a:t>
            </a:r>
            <a:endParaRPr b="0" i="0" sz="1100" u="none" cap="none" strike="noStrike">
              <a:solidFill>
                <a:srgbClr val="000000"/>
              </a:solidFill>
              <a:latin typeface="Arial"/>
              <a:ea typeface="Arial"/>
              <a:cs typeface="Arial"/>
              <a:sym typeface="Arial"/>
            </a:endParaRPr>
          </a:p>
        </p:txBody>
      </p:sp>
      <p:sp>
        <p:nvSpPr>
          <p:cNvPr id="962" name="Google Shape;962;p44"/>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63" name="Google Shape;963;p44"/>
          <p:cNvSpPr txBox="1"/>
          <p:nvPr/>
        </p:nvSpPr>
        <p:spPr>
          <a:xfrm>
            <a:off x="8044648" y="4800600"/>
            <a:ext cx="6858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8</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8" name="Shape 968"/>
        <p:cNvGrpSpPr/>
        <p:nvPr/>
      </p:nvGrpSpPr>
      <p:grpSpPr>
        <a:xfrm>
          <a:off x="0" y="0"/>
          <a:ext cx="0" cy="0"/>
          <a:chOff x="0" y="0"/>
          <a:chExt cx="0" cy="0"/>
        </a:xfrm>
      </p:grpSpPr>
      <p:sp>
        <p:nvSpPr>
          <p:cNvPr id="969" name="Google Shape;969;p45"/>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One token per square is not enough; more tokens help</a:t>
            </a:r>
            <a:endParaRPr b="0" i="0" sz="1100" u="none" cap="none" strike="noStrike">
              <a:solidFill>
                <a:srgbClr val="000000"/>
              </a:solidFill>
              <a:latin typeface="Arial"/>
              <a:ea typeface="Arial"/>
              <a:cs typeface="Arial"/>
              <a:sym typeface="Arial"/>
            </a:endParaRPr>
          </a:p>
        </p:txBody>
      </p:sp>
      <p:sp>
        <p:nvSpPr>
          <p:cNvPr id="970" name="Google Shape;970;p45"/>
          <p:cNvSpPr txBox="1"/>
          <p:nvPr/>
        </p:nvSpPr>
        <p:spPr>
          <a:xfrm>
            <a:off x="411491" y="768096"/>
            <a:ext cx="8298300" cy="30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Raster LoRA, same recipe: 256px (1 token per square) vs 512px (2×2 tokens per square)</a:t>
            </a:r>
            <a:endParaRPr b="0" i="0" sz="1100" u="none" cap="none" strike="noStrike">
              <a:solidFill>
                <a:srgbClr val="000000"/>
              </a:solidFill>
              <a:latin typeface="Arial"/>
              <a:ea typeface="Arial"/>
              <a:cs typeface="Arial"/>
              <a:sym typeface="Arial"/>
            </a:endParaRPr>
          </a:p>
        </p:txBody>
      </p:sp>
      <p:pic>
        <p:nvPicPr>
          <p:cNvPr id="971" name="Google Shape;971;p45"/>
          <p:cNvPicPr preferRelativeResize="0"/>
          <p:nvPr/>
        </p:nvPicPr>
        <p:blipFill rotWithShape="1">
          <a:blip r:embed="rId3">
            <a:alphaModFix/>
          </a:blip>
          <a:srcRect b="0" l="0" r="0" t="0"/>
          <a:stretch/>
        </p:blipFill>
        <p:spPr>
          <a:xfrm>
            <a:off x="411491" y="1200150"/>
            <a:ext cx="5212219" cy="3429000"/>
          </a:xfrm>
          <a:prstGeom prst="rect">
            <a:avLst/>
          </a:prstGeom>
          <a:noFill/>
          <a:ln>
            <a:noFill/>
          </a:ln>
        </p:spPr>
      </p:pic>
      <p:sp>
        <p:nvSpPr>
          <p:cNvPr id="972" name="Google Shape;972;p45"/>
          <p:cNvSpPr/>
          <p:nvPr/>
        </p:nvSpPr>
        <p:spPr>
          <a:xfrm>
            <a:off x="5897950" y="1104651"/>
            <a:ext cx="2832300" cy="366810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73" name="Google Shape;973;p45"/>
          <p:cNvSpPr txBox="1"/>
          <p:nvPr/>
        </p:nvSpPr>
        <p:spPr>
          <a:xfrm>
            <a:off x="6045404" y="1176650"/>
            <a:ext cx="2537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221C17"/>
                </a:solidFill>
                <a:latin typeface="Cambria"/>
                <a:ea typeface="Cambria"/>
                <a:cs typeface="Cambria"/>
                <a:sym typeface="Cambria"/>
              </a:rPr>
              <a:t>Patch geometry</a:t>
            </a:r>
            <a:endParaRPr b="0" i="0" sz="1100" u="none" cap="none" strike="noStrike">
              <a:solidFill>
                <a:srgbClr val="000000"/>
              </a:solidFill>
              <a:latin typeface="Arial"/>
              <a:ea typeface="Arial"/>
              <a:cs typeface="Arial"/>
              <a:sym typeface="Arial"/>
            </a:endParaRPr>
          </a:p>
        </p:txBody>
      </p:sp>
      <p:sp>
        <p:nvSpPr>
          <p:cNvPr id="974" name="Google Shape;974;p45"/>
          <p:cNvSpPr txBox="1"/>
          <p:nvPr/>
        </p:nvSpPr>
        <p:spPr>
          <a:xfrm>
            <a:off x="6011029" y="1560138"/>
            <a:ext cx="1028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rgbClr val="B5652A"/>
                </a:solidFill>
                <a:latin typeface="Cambria"/>
                <a:ea typeface="Cambria"/>
                <a:cs typeface="Cambria"/>
                <a:sym typeface="Cambria"/>
              </a:rPr>
              <a:t>+2.00</a:t>
            </a:r>
            <a:endParaRPr b="0" i="0" sz="1100" u="none" cap="none" strike="noStrike">
              <a:solidFill>
                <a:srgbClr val="000000"/>
              </a:solidFill>
              <a:latin typeface="Arial"/>
              <a:ea typeface="Arial"/>
              <a:cs typeface="Arial"/>
              <a:sym typeface="Arial"/>
            </a:endParaRPr>
          </a:p>
        </p:txBody>
      </p:sp>
      <p:sp>
        <p:nvSpPr>
          <p:cNvPr id="975" name="Google Shape;975;p45"/>
          <p:cNvSpPr txBox="1"/>
          <p:nvPr/>
        </p:nvSpPr>
        <p:spPr>
          <a:xfrm>
            <a:off x="7039757" y="1642434"/>
            <a:ext cx="1577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Points on Task 1 Board Exact Match</a:t>
            </a:r>
            <a:endParaRPr b="0" i="0" sz="1100" u="none" cap="none" strike="noStrike">
              <a:solidFill>
                <a:srgbClr val="000000"/>
              </a:solidFill>
              <a:latin typeface="Arial"/>
              <a:ea typeface="Arial"/>
              <a:cs typeface="Arial"/>
              <a:sym typeface="Arial"/>
            </a:endParaRPr>
          </a:p>
        </p:txBody>
      </p:sp>
      <p:sp>
        <p:nvSpPr>
          <p:cNvPr id="976" name="Google Shape;976;p45"/>
          <p:cNvSpPr txBox="1"/>
          <p:nvPr/>
        </p:nvSpPr>
        <p:spPr>
          <a:xfrm>
            <a:off x="6011029" y="2382171"/>
            <a:ext cx="1028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rgbClr val="B5652A"/>
                </a:solidFill>
                <a:latin typeface="Cambria"/>
                <a:ea typeface="Cambria"/>
                <a:cs typeface="Cambria"/>
                <a:sym typeface="Cambria"/>
              </a:rPr>
              <a:t>+1.75</a:t>
            </a:r>
            <a:endParaRPr b="0" i="0" sz="1100" u="none" cap="none" strike="noStrike">
              <a:solidFill>
                <a:srgbClr val="000000"/>
              </a:solidFill>
              <a:latin typeface="Arial"/>
              <a:ea typeface="Arial"/>
              <a:cs typeface="Arial"/>
              <a:sym typeface="Arial"/>
            </a:endParaRPr>
          </a:p>
        </p:txBody>
      </p:sp>
      <p:sp>
        <p:nvSpPr>
          <p:cNvPr id="977" name="Google Shape;977;p45"/>
          <p:cNvSpPr txBox="1"/>
          <p:nvPr/>
        </p:nvSpPr>
        <p:spPr>
          <a:xfrm>
            <a:off x="7039757" y="2464467"/>
            <a:ext cx="1577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Points on Task 2 Move Exact Match</a:t>
            </a:r>
            <a:endParaRPr b="0" i="0" sz="1100" u="none" cap="none" strike="noStrike">
              <a:solidFill>
                <a:srgbClr val="000000"/>
              </a:solidFill>
              <a:latin typeface="Arial"/>
              <a:ea typeface="Arial"/>
              <a:cs typeface="Arial"/>
              <a:sym typeface="Arial"/>
            </a:endParaRPr>
          </a:p>
        </p:txBody>
      </p:sp>
      <p:sp>
        <p:nvSpPr>
          <p:cNvPr id="978" name="Google Shape;978;p45"/>
          <p:cNvSpPr txBox="1"/>
          <p:nvPr/>
        </p:nvSpPr>
        <p:spPr>
          <a:xfrm>
            <a:off x="6069500" y="3934986"/>
            <a:ext cx="2537400" cy="677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6B625A"/>
                </a:solidFill>
                <a:latin typeface="Calibri"/>
                <a:ea typeface="Calibri"/>
                <a:cs typeface="Calibri"/>
                <a:sym typeface="Calibri"/>
              </a:rPr>
              <a:t>1:1 alignment removes tokens that straddle squares, but four tokens per square carry more detail, and that matters most when comparing two frames.</a:t>
            </a:r>
            <a:endParaRPr b="0" i="0" sz="1100" u="none" cap="none" strike="noStrike">
              <a:solidFill>
                <a:srgbClr val="000000"/>
              </a:solidFill>
              <a:latin typeface="Arial"/>
              <a:ea typeface="Arial"/>
              <a:cs typeface="Arial"/>
              <a:sym typeface="Arial"/>
            </a:endParaRPr>
          </a:p>
        </p:txBody>
      </p:sp>
      <p:sp>
        <p:nvSpPr>
          <p:cNvPr id="979" name="Google Shape;979;p45"/>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980" name="Google Shape;980;p45"/>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9</a:t>
            </a:r>
            <a:endParaRPr b="0" i="0" sz="1100" u="none" cap="none" strike="noStrike">
              <a:solidFill>
                <a:srgbClr val="000000"/>
              </a:solidFill>
              <a:latin typeface="Arial"/>
              <a:ea typeface="Arial"/>
              <a:cs typeface="Arial"/>
              <a:sym typeface="Arial"/>
            </a:endParaRPr>
          </a:p>
        </p:txBody>
      </p:sp>
      <p:sp>
        <p:nvSpPr>
          <p:cNvPr id="981" name="Google Shape;981;p45"/>
          <p:cNvSpPr txBox="1"/>
          <p:nvPr/>
        </p:nvSpPr>
        <p:spPr>
          <a:xfrm>
            <a:off x="6035129" y="3237833"/>
            <a:ext cx="10287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it" sz="2400" u="none" cap="none" strike="noStrike">
                <a:solidFill>
                  <a:srgbClr val="B5652A"/>
                </a:solidFill>
                <a:latin typeface="Cambria"/>
                <a:ea typeface="Cambria"/>
                <a:cs typeface="Cambria"/>
                <a:sym typeface="Cambria"/>
              </a:rPr>
              <a:t>+7.75</a:t>
            </a:r>
            <a:endParaRPr b="0" i="0" sz="1100" u="none" cap="none" strike="noStrike">
              <a:solidFill>
                <a:srgbClr val="000000"/>
              </a:solidFill>
              <a:latin typeface="Arial"/>
              <a:ea typeface="Arial"/>
              <a:cs typeface="Arial"/>
              <a:sym typeface="Arial"/>
            </a:endParaRPr>
          </a:p>
        </p:txBody>
      </p:sp>
      <p:sp>
        <p:nvSpPr>
          <p:cNvPr id="982" name="Google Shape;982;p45"/>
          <p:cNvSpPr txBox="1"/>
          <p:nvPr/>
        </p:nvSpPr>
        <p:spPr>
          <a:xfrm>
            <a:off x="7063857" y="3320129"/>
            <a:ext cx="15774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Points on Task 3 Move Exact Match</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1C17"/>
        </a:solidFill>
      </p:bgPr>
    </p:bg>
    <p:spTree>
      <p:nvGrpSpPr>
        <p:cNvPr id="987" name="Shape 987"/>
        <p:cNvGrpSpPr/>
        <p:nvPr/>
      </p:nvGrpSpPr>
      <p:grpSpPr>
        <a:xfrm>
          <a:off x="0" y="0"/>
          <a:ext cx="0" cy="0"/>
          <a:chOff x="0" y="0"/>
          <a:chExt cx="0" cy="0"/>
        </a:xfrm>
      </p:grpSpPr>
      <p:sp>
        <p:nvSpPr>
          <p:cNvPr id="988" name="Google Shape;988;p46"/>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FFFFFF"/>
                </a:solidFill>
                <a:latin typeface="Cambria"/>
                <a:ea typeface="Cambria"/>
                <a:cs typeface="Cambria"/>
                <a:sym typeface="Cambria"/>
              </a:rPr>
              <a:t>Conclusions</a:t>
            </a:r>
            <a:endParaRPr b="0" i="0" sz="1100" u="none" cap="none" strike="noStrike">
              <a:solidFill>
                <a:srgbClr val="000000"/>
              </a:solidFill>
              <a:latin typeface="Arial"/>
              <a:ea typeface="Arial"/>
              <a:cs typeface="Arial"/>
              <a:sym typeface="Arial"/>
            </a:endParaRPr>
          </a:p>
        </p:txBody>
      </p:sp>
      <p:sp>
        <p:nvSpPr>
          <p:cNvPr id="989" name="Google Shape;989;p46"/>
          <p:cNvSpPr/>
          <p:nvPr/>
        </p:nvSpPr>
        <p:spPr>
          <a:xfrm>
            <a:off x="411491" y="1056132"/>
            <a:ext cx="288044" cy="28803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221C17"/>
                </a:solidFill>
                <a:latin typeface="Cambria"/>
                <a:ea typeface="Cambria"/>
                <a:cs typeface="Cambria"/>
                <a:sym typeface="Cambria"/>
              </a:rPr>
              <a:t>1</a:t>
            </a:r>
            <a:endParaRPr b="0" i="0" sz="1100" u="none" cap="none" strike="noStrike">
              <a:solidFill>
                <a:srgbClr val="000000"/>
              </a:solidFill>
              <a:latin typeface="Arial"/>
              <a:ea typeface="Arial"/>
              <a:cs typeface="Arial"/>
              <a:sym typeface="Arial"/>
            </a:endParaRPr>
          </a:p>
        </p:txBody>
      </p:sp>
      <p:sp>
        <p:nvSpPr>
          <p:cNvPr id="990" name="Google Shape;990;p46"/>
          <p:cNvSpPr txBox="1"/>
          <p:nvPr/>
        </p:nvSpPr>
        <p:spPr>
          <a:xfrm>
            <a:off x="857273" y="1028700"/>
            <a:ext cx="7818328" cy="4800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it" sz="1300" u="none" cap="none" strike="noStrike">
                <a:solidFill>
                  <a:srgbClr val="FFFFFF"/>
                </a:solidFill>
                <a:latin typeface="Calibri"/>
                <a:ea typeface="Calibri"/>
                <a:cs typeface="Calibri"/>
                <a:sym typeface="Calibri"/>
              </a:rPr>
              <a:t>LoRA turns a 0.8B VLM into a reliable board reader: 0% → 97% (T1), 60% / 94% same move (T2), 80% (T3).</a:t>
            </a:r>
            <a:endParaRPr b="0" i="0" sz="1100" u="none" cap="none" strike="noStrike">
              <a:solidFill>
                <a:srgbClr val="000000"/>
              </a:solidFill>
              <a:latin typeface="Arial"/>
              <a:ea typeface="Arial"/>
              <a:cs typeface="Arial"/>
              <a:sym typeface="Arial"/>
            </a:endParaRPr>
          </a:p>
        </p:txBody>
      </p:sp>
      <p:sp>
        <p:nvSpPr>
          <p:cNvPr id="991" name="Google Shape;991;p46"/>
          <p:cNvSpPr/>
          <p:nvPr/>
        </p:nvSpPr>
        <p:spPr>
          <a:xfrm>
            <a:off x="411491" y="1618488"/>
            <a:ext cx="288044" cy="28803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221C17"/>
                </a:solidFill>
                <a:latin typeface="Cambria"/>
                <a:ea typeface="Cambria"/>
                <a:cs typeface="Cambria"/>
                <a:sym typeface="Cambria"/>
              </a:rPr>
              <a:t>2</a:t>
            </a:r>
            <a:endParaRPr b="0" i="0" sz="1100" u="none" cap="none" strike="noStrike">
              <a:solidFill>
                <a:srgbClr val="000000"/>
              </a:solidFill>
              <a:latin typeface="Arial"/>
              <a:ea typeface="Arial"/>
              <a:cs typeface="Arial"/>
              <a:sym typeface="Arial"/>
            </a:endParaRPr>
          </a:p>
        </p:txBody>
      </p:sp>
      <p:sp>
        <p:nvSpPr>
          <p:cNvPr id="992" name="Google Shape;992;p46"/>
          <p:cNvSpPr txBox="1"/>
          <p:nvPr/>
        </p:nvSpPr>
        <p:spPr>
          <a:xfrm>
            <a:off x="857273" y="1591056"/>
            <a:ext cx="7818328" cy="4800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it" sz="1300" u="none" cap="none" strike="noStrike">
                <a:solidFill>
                  <a:srgbClr val="FFFFFF"/>
                </a:solidFill>
                <a:latin typeface="Calibri"/>
                <a:ea typeface="Calibri"/>
                <a:cs typeface="Calibri"/>
                <a:sym typeface="Calibri"/>
              </a:rPr>
              <a:t>Token order matters at inference: a raster-trained model collapses when read in any other order (REOrder's premise holds).</a:t>
            </a:r>
            <a:endParaRPr b="0" i="0" sz="1100" u="none" cap="none" strike="noStrike">
              <a:solidFill>
                <a:srgbClr val="000000"/>
              </a:solidFill>
              <a:latin typeface="Arial"/>
              <a:ea typeface="Arial"/>
              <a:cs typeface="Arial"/>
              <a:sym typeface="Arial"/>
            </a:endParaRPr>
          </a:p>
        </p:txBody>
      </p:sp>
      <p:sp>
        <p:nvSpPr>
          <p:cNvPr id="993" name="Google Shape;993;p46"/>
          <p:cNvSpPr/>
          <p:nvPr/>
        </p:nvSpPr>
        <p:spPr>
          <a:xfrm>
            <a:off x="411491" y="2180843"/>
            <a:ext cx="288044" cy="28803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221C17"/>
                </a:solidFill>
                <a:latin typeface="Cambria"/>
                <a:ea typeface="Cambria"/>
                <a:cs typeface="Cambria"/>
                <a:sym typeface="Cambria"/>
              </a:rPr>
              <a:t>3</a:t>
            </a:r>
            <a:endParaRPr b="0" i="0" sz="1100" u="none" cap="none" strike="noStrike">
              <a:solidFill>
                <a:srgbClr val="000000"/>
              </a:solidFill>
              <a:latin typeface="Arial"/>
              <a:ea typeface="Arial"/>
              <a:cs typeface="Arial"/>
              <a:sym typeface="Arial"/>
            </a:endParaRPr>
          </a:p>
        </p:txBody>
      </p:sp>
      <p:sp>
        <p:nvSpPr>
          <p:cNvPr id="994" name="Google Shape;994;p46"/>
          <p:cNvSpPr txBox="1"/>
          <p:nvPr/>
        </p:nvSpPr>
        <p:spPr>
          <a:xfrm>
            <a:off x="857260" y="2136274"/>
            <a:ext cx="7818300" cy="400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it" sz="1300" u="none" cap="none" strike="noStrike">
                <a:solidFill>
                  <a:srgbClr val="FFFFFF"/>
                </a:solidFill>
                <a:latin typeface="Calibri"/>
                <a:ea typeface="Calibri"/>
                <a:cs typeface="Calibri"/>
                <a:sym typeface="Calibri"/>
              </a:rPr>
              <a:t>When trained with it, no fixed order is a consistent winner: spiral +1.5 (T1), raster (T2), file-wise +0.8 (T3), all near noise.</a:t>
            </a:r>
            <a:endParaRPr b="0" i="0" sz="1100" u="none" cap="none" strike="noStrike">
              <a:solidFill>
                <a:srgbClr val="000000"/>
              </a:solidFill>
              <a:latin typeface="Arial"/>
              <a:ea typeface="Arial"/>
              <a:cs typeface="Arial"/>
              <a:sym typeface="Arial"/>
            </a:endParaRPr>
          </a:p>
        </p:txBody>
      </p:sp>
      <p:sp>
        <p:nvSpPr>
          <p:cNvPr id="995" name="Google Shape;995;p46"/>
          <p:cNvSpPr/>
          <p:nvPr/>
        </p:nvSpPr>
        <p:spPr>
          <a:xfrm>
            <a:off x="411491" y="2743200"/>
            <a:ext cx="288044" cy="28803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221C17"/>
                </a:solidFill>
                <a:latin typeface="Cambria"/>
                <a:ea typeface="Cambria"/>
                <a:cs typeface="Cambria"/>
                <a:sym typeface="Cambria"/>
              </a:rPr>
              <a:t>4</a:t>
            </a:r>
            <a:endParaRPr b="0" i="0" sz="1100" u="none" cap="none" strike="noStrike">
              <a:solidFill>
                <a:srgbClr val="000000"/>
              </a:solidFill>
              <a:latin typeface="Arial"/>
              <a:ea typeface="Arial"/>
              <a:cs typeface="Arial"/>
              <a:sym typeface="Arial"/>
            </a:endParaRPr>
          </a:p>
        </p:txBody>
      </p:sp>
      <p:sp>
        <p:nvSpPr>
          <p:cNvPr id="996" name="Google Shape;996;p46"/>
          <p:cNvSpPr txBox="1"/>
          <p:nvPr/>
        </p:nvSpPr>
        <p:spPr>
          <a:xfrm>
            <a:off x="857273" y="2715768"/>
            <a:ext cx="78183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it" sz="1300" u="none" cap="none" strike="noStrike">
                <a:solidFill>
                  <a:srgbClr val="FFFFFF"/>
                </a:solidFill>
                <a:latin typeface="Calibri"/>
                <a:ea typeface="Calibri"/>
                <a:cs typeface="Calibri"/>
                <a:sym typeface="Calibri"/>
              </a:rPr>
              <a:t>The learned policy settles near raster and does not beat it, even with the order frozen.</a:t>
            </a:r>
            <a:endParaRPr b="0" i="0" sz="1100" u="none" cap="none" strike="noStrike">
              <a:solidFill>
                <a:srgbClr val="000000"/>
              </a:solidFill>
              <a:latin typeface="Arial"/>
              <a:ea typeface="Arial"/>
              <a:cs typeface="Arial"/>
              <a:sym typeface="Arial"/>
            </a:endParaRPr>
          </a:p>
        </p:txBody>
      </p:sp>
      <p:sp>
        <p:nvSpPr>
          <p:cNvPr id="997" name="Google Shape;997;p46"/>
          <p:cNvSpPr/>
          <p:nvPr/>
        </p:nvSpPr>
        <p:spPr>
          <a:xfrm>
            <a:off x="411491" y="3305555"/>
            <a:ext cx="288044" cy="28803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221C17"/>
                </a:solidFill>
                <a:latin typeface="Cambria"/>
                <a:ea typeface="Cambria"/>
                <a:cs typeface="Cambria"/>
                <a:sym typeface="Cambria"/>
              </a:rPr>
              <a:t>5</a:t>
            </a:r>
            <a:endParaRPr b="0" i="0" sz="1100" u="none" cap="none" strike="noStrike">
              <a:solidFill>
                <a:srgbClr val="000000"/>
              </a:solidFill>
              <a:latin typeface="Arial"/>
              <a:ea typeface="Arial"/>
              <a:cs typeface="Arial"/>
              <a:sym typeface="Arial"/>
            </a:endParaRPr>
          </a:p>
        </p:txBody>
      </p:sp>
      <p:sp>
        <p:nvSpPr>
          <p:cNvPr id="998" name="Google Shape;998;p46"/>
          <p:cNvSpPr txBox="1"/>
          <p:nvPr/>
        </p:nvSpPr>
        <p:spPr>
          <a:xfrm>
            <a:off x="857273" y="3278123"/>
            <a:ext cx="7818328" cy="4800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it" sz="1300" u="none" cap="none" strike="noStrike">
                <a:solidFill>
                  <a:srgbClr val="FFFFFF"/>
                </a:solidFill>
                <a:latin typeface="Calibri"/>
                <a:ea typeface="Calibri"/>
                <a:cs typeface="Calibri"/>
                <a:sym typeface="Calibri"/>
              </a:rPr>
              <a:t>Resolution beats alignment: 2×2 tokens per square outperform the 1:1 grid, most on Task 3.</a:t>
            </a:r>
            <a:endParaRPr b="0" i="0" sz="1100" u="none" cap="none" strike="noStrike">
              <a:solidFill>
                <a:srgbClr val="000000"/>
              </a:solidFill>
              <a:latin typeface="Arial"/>
              <a:ea typeface="Arial"/>
              <a:cs typeface="Arial"/>
              <a:sym typeface="Arial"/>
            </a:endParaRPr>
          </a:p>
        </p:txBody>
      </p:sp>
      <p:sp>
        <p:nvSpPr>
          <p:cNvPr id="999" name="Google Shape;999;p46"/>
          <p:cNvSpPr txBox="1"/>
          <p:nvPr/>
        </p:nvSpPr>
        <p:spPr>
          <a:xfrm>
            <a:off x="411491" y="3943350"/>
            <a:ext cx="8298401"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it" sz="1400" u="none" cap="none" strike="noStrike">
                <a:solidFill>
                  <a:srgbClr val="FFCE9E"/>
                </a:solidFill>
                <a:latin typeface="Cambria"/>
                <a:ea typeface="Cambria"/>
                <a:cs typeface="Cambria"/>
                <a:sym typeface="Cambria"/>
              </a:rPr>
              <a:t>Next steps</a:t>
            </a:r>
            <a:endParaRPr b="0" i="0" sz="1100" u="none" cap="none" strike="noStrike">
              <a:solidFill>
                <a:srgbClr val="000000"/>
              </a:solidFill>
              <a:latin typeface="Arial"/>
              <a:ea typeface="Arial"/>
              <a:cs typeface="Arial"/>
              <a:sym typeface="Arial"/>
            </a:endParaRPr>
          </a:p>
        </p:txBody>
      </p:sp>
      <p:sp>
        <p:nvSpPr>
          <p:cNvPr id="1000" name="Google Shape;1000;p46"/>
          <p:cNvSpPr txBox="1"/>
          <p:nvPr/>
        </p:nvSpPr>
        <p:spPr>
          <a:xfrm>
            <a:off x="411491" y="4217670"/>
            <a:ext cx="8298401"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CFC4B8"/>
                </a:solidFill>
                <a:latin typeface="Calibri"/>
                <a:ea typeface="Calibri"/>
                <a:cs typeface="Calibri"/>
                <a:sym typeface="Calibri"/>
              </a:rPr>
              <a:t>Token-level reordering at 512px · SAN normalisation in training targets · multiple seeds</a:t>
            </a:r>
            <a:endParaRPr b="0" i="0" sz="1100" u="none" cap="none" strike="noStrike">
              <a:solidFill>
                <a:srgbClr val="000000"/>
              </a:solidFill>
              <a:latin typeface="Arial"/>
              <a:ea typeface="Arial"/>
              <a:cs typeface="Arial"/>
              <a:sym typeface="Arial"/>
            </a:endParaRPr>
          </a:p>
        </p:txBody>
      </p:sp>
      <p:sp>
        <p:nvSpPr>
          <p:cNvPr id="1001" name="Google Shape;1001;p46"/>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02" name="Google Shape;1002;p46"/>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A89B8E"/>
                </a:solidFill>
                <a:latin typeface="Calibri"/>
                <a:ea typeface="Calibri"/>
                <a:cs typeface="Calibri"/>
                <a:sym typeface="Calibri"/>
              </a:rPr>
              <a:t>10</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7" name="Shape 1007"/>
        <p:cNvGrpSpPr/>
        <p:nvPr/>
      </p:nvGrpSpPr>
      <p:grpSpPr>
        <a:xfrm>
          <a:off x="0" y="0"/>
          <a:ext cx="0" cy="0"/>
          <a:chOff x="0" y="0"/>
          <a:chExt cx="0" cy="0"/>
        </a:xfrm>
      </p:grpSpPr>
      <p:sp>
        <p:nvSpPr>
          <p:cNvPr id="1008" name="Google Shape;1008;p47"/>
          <p:cNvSpPr txBox="1"/>
          <p:nvPr/>
        </p:nvSpPr>
        <p:spPr>
          <a:xfrm>
            <a:off x="3453750" y="2294700"/>
            <a:ext cx="22365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600"/>
              <a:buFont typeface="Arial"/>
              <a:buNone/>
            </a:pPr>
            <a:r>
              <a:rPr b="1" i="0" lang="it" sz="3600" u="none" cap="none" strike="noStrike">
                <a:solidFill>
                  <a:srgbClr val="221C17"/>
                </a:solidFill>
                <a:latin typeface="Cambria"/>
                <a:ea typeface="Cambria"/>
                <a:cs typeface="Cambria"/>
                <a:sym typeface="Cambria"/>
              </a:rPr>
              <a:t>Appendix</a:t>
            </a:r>
            <a:endParaRPr b="0" i="0" sz="2100" u="none" cap="none" strike="noStrike">
              <a:solidFill>
                <a:srgbClr val="000000"/>
              </a:solidFill>
              <a:latin typeface="Arial"/>
              <a:ea typeface="Arial"/>
              <a:cs typeface="Arial"/>
              <a:sym typeface="Arial"/>
            </a:endParaRPr>
          </a:p>
        </p:txBody>
      </p:sp>
      <p:sp>
        <p:nvSpPr>
          <p:cNvPr id="1009" name="Google Shape;1009;p47"/>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10" name="Google Shape;1010;p47"/>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11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5" name="Shape 1015"/>
        <p:cNvGrpSpPr/>
        <p:nvPr/>
      </p:nvGrpSpPr>
      <p:grpSpPr>
        <a:xfrm>
          <a:off x="0" y="0"/>
          <a:ext cx="0" cy="0"/>
          <a:chOff x="0" y="0"/>
          <a:chExt cx="0" cy="0"/>
        </a:xfrm>
      </p:grpSpPr>
      <p:sp>
        <p:nvSpPr>
          <p:cNvPr id="1016" name="Google Shape;1016;p48"/>
          <p:cNvSpPr txBox="1"/>
          <p:nvPr/>
        </p:nvSpPr>
        <p:spPr>
          <a:xfrm>
            <a:off x="411491" y="260604"/>
            <a:ext cx="82983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Division of labour</a:t>
            </a:r>
            <a:endParaRPr b="0" i="0" sz="1100" u="none" cap="none" strike="noStrike">
              <a:solidFill>
                <a:srgbClr val="000000"/>
              </a:solidFill>
              <a:latin typeface="Arial"/>
              <a:ea typeface="Arial"/>
              <a:cs typeface="Arial"/>
              <a:sym typeface="Arial"/>
            </a:endParaRPr>
          </a:p>
        </p:txBody>
      </p:sp>
      <p:sp>
        <p:nvSpPr>
          <p:cNvPr id="1017" name="Google Shape;1017;p48"/>
          <p:cNvSpPr/>
          <p:nvPr/>
        </p:nvSpPr>
        <p:spPr>
          <a:xfrm>
            <a:off x="411491" y="994410"/>
            <a:ext cx="4101300" cy="322320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18" name="Google Shape;1018;p48"/>
          <p:cNvSpPr/>
          <p:nvPr/>
        </p:nvSpPr>
        <p:spPr>
          <a:xfrm>
            <a:off x="617236" y="1165860"/>
            <a:ext cx="205800" cy="20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19" name="Google Shape;1019;p48"/>
          <p:cNvSpPr/>
          <p:nvPr/>
        </p:nvSpPr>
        <p:spPr>
          <a:xfrm>
            <a:off x="822982" y="1165860"/>
            <a:ext cx="205800" cy="20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0" name="Google Shape;1020;p48"/>
          <p:cNvSpPr/>
          <p:nvPr/>
        </p:nvSpPr>
        <p:spPr>
          <a:xfrm>
            <a:off x="617236" y="1371600"/>
            <a:ext cx="205800" cy="20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1" name="Google Shape;1021;p48"/>
          <p:cNvSpPr/>
          <p:nvPr/>
        </p:nvSpPr>
        <p:spPr>
          <a:xfrm>
            <a:off x="822982" y="1371600"/>
            <a:ext cx="205800" cy="20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2" name="Google Shape;1022;p48"/>
          <p:cNvSpPr txBox="1"/>
          <p:nvPr/>
        </p:nvSpPr>
        <p:spPr>
          <a:xfrm>
            <a:off x="1165891" y="1131570"/>
            <a:ext cx="32232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it" sz="1800" u="none" cap="none" strike="noStrike">
                <a:solidFill>
                  <a:srgbClr val="221C17"/>
                </a:solidFill>
                <a:latin typeface="Cambria"/>
                <a:ea typeface="Cambria"/>
                <a:cs typeface="Cambria"/>
                <a:sym typeface="Cambria"/>
              </a:rPr>
              <a:t>Ivo Rambaldi</a:t>
            </a:r>
            <a:endParaRPr b="0" i="0" sz="1100" u="none" cap="none" strike="noStrike">
              <a:solidFill>
                <a:srgbClr val="000000"/>
              </a:solidFill>
              <a:latin typeface="Arial"/>
              <a:ea typeface="Arial"/>
              <a:cs typeface="Arial"/>
              <a:sym typeface="Arial"/>
            </a:endParaRPr>
          </a:p>
        </p:txBody>
      </p:sp>
      <p:sp>
        <p:nvSpPr>
          <p:cNvPr id="1023" name="Google Shape;1023;p48"/>
          <p:cNvSpPr txBox="1"/>
          <p:nvPr/>
        </p:nvSpPr>
        <p:spPr>
          <a:xfrm>
            <a:off x="1165891" y="1474470"/>
            <a:ext cx="32232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Data pipeline, prompting and baseline fine-tuning</a:t>
            </a:r>
            <a:endParaRPr b="0" i="0" sz="1100" u="none" cap="none" strike="noStrike">
              <a:solidFill>
                <a:srgbClr val="000000"/>
              </a:solidFill>
              <a:latin typeface="Arial"/>
              <a:ea typeface="Arial"/>
              <a:cs typeface="Arial"/>
              <a:sym typeface="Arial"/>
            </a:endParaRPr>
          </a:p>
        </p:txBody>
      </p:sp>
      <p:sp>
        <p:nvSpPr>
          <p:cNvPr id="1024" name="Google Shape;1024;p48"/>
          <p:cNvSpPr txBox="1"/>
          <p:nvPr/>
        </p:nvSpPr>
        <p:spPr>
          <a:xfrm>
            <a:off x="617236" y="2023110"/>
            <a:ext cx="3703500" cy="1375200"/>
          </a:xfrm>
          <a:prstGeom prst="rect">
            <a:avLst/>
          </a:prstGeom>
          <a:noFill/>
          <a:ln>
            <a:noFill/>
          </a:ln>
        </p:spPr>
        <p:txBody>
          <a:bodyPr anchorCtr="0" anchor="t" bIns="0" lIns="0" spcFirstLastPara="1" rIns="0" wrap="square" tIns="0">
            <a:spAutoFit/>
          </a:bodyPr>
          <a:lstStyle/>
          <a:p>
            <a:pPr indent="-184150" lvl="0" marL="190500" marR="0" rtl="0" algn="l">
              <a:lnSpc>
                <a:spcPct val="100000"/>
              </a:lnSpc>
              <a:spcBef>
                <a:spcPts val="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Lichess extraction and board rendering with python-chess</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Hugging Face datasets for the three tasks</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Zero-shot and few-shot evaluation of vanilla Qwen with standardised prompts</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LoRA baseline fine-tuning (raster) on all three tasks</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Quantitative and qualitative error analysis of the baseline</a:t>
            </a:r>
            <a:endParaRPr b="0" i="0" sz="1100" u="none" cap="none" strike="noStrike">
              <a:solidFill>
                <a:srgbClr val="000000"/>
              </a:solidFill>
              <a:latin typeface="Arial"/>
              <a:ea typeface="Arial"/>
              <a:cs typeface="Arial"/>
              <a:sym typeface="Arial"/>
            </a:endParaRPr>
          </a:p>
        </p:txBody>
      </p:sp>
      <p:sp>
        <p:nvSpPr>
          <p:cNvPr id="1025" name="Google Shape;1025;p48"/>
          <p:cNvSpPr/>
          <p:nvPr/>
        </p:nvSpPr>
        <p:spPr>
          <a:xfrm>
            <a:off x="4629273" y="994410"/>
            <a:ext cx="4101300" cy="322320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6" name="Google Shape;1026;p48"/>
          <p:cNvSpPr/>
          <p:nvPr/>
        </p:nvSpPr>
        <p:spPr>
          <a:xfrm>
            <a:off x="4835019" y="1165860"/>
            <a:ext cx="205800" cy="20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7" name="Google Shape;1027;p48"/>
          <p:cNvSpPr/>
          <p:nvPr/>
        </p:nvSpPr>
        <p:spPr>
          <a:xfrm>
            <a:off x="5040764" y="1165860"/>
            <a:ext cx="205800" cy="20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8" name="Google Shape;1028;p48"/>
          <p:cNvSpPr/>
          <p:nvPr/>
        </p:nvSpPr>
        <p:spPr>
          <a:xfrm>
            <a:off x="4835019" y="1371600"/>
            <a:ext cx="205800" cy="205800"/>
          </a:xfrm>
          <a:prstGeom prst="rect">
            <a:avLst/>
          </a:prstGeom>
          <a:solidFill>
            <a:srgbClr val="FFCE9E"/>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9" name="Google Shape;1029;p48"/>
          <p:cNvSpPr/>
          <p:nvPr/>
        </p:nvSpPr>
        <p:spPr>
          <a:xfrm>
            <a:off x="5040764" y="1371600"/>
            <a:ext cx="205800" cy="205800"/>
          </a:xfrm>
          <a:prstGeom prst="rect">
            <a:avLst/>
          </a:prstGeom>
          <a:solidFill>
            <a:srgbClr val="D18B4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30" name="Google Shape;1030;p48"/>
          <p:cNvSpPr txBox="1"/>
          <p:nvPr/>
        </p:nvSpPr>
        <p:spPr>
          <a:xfrm>
            <a:off x="5383674" y="1131570"/>
            <a:ext cx="32232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it" sz="1800" u="none" cap="none" strike="noStrike">
                <a:solidFill>
                  <a:srgbClr val="221C17"/>
                </a:solidFill>
                <a:latin typeface="Cambria"/>
                <a:ea typeface="Cambria"/>
                <a:cs typeface="Cambria"/>
                <a:sym typeface="Cambria"/>
              </a:rPr>
              <a:t>Tommaso Bergonzoni</a:t>
            </a:r>
            <a:endParaRPr b="0" i="0" sz="1100" u="none" cap="none" strike="noStrike">
              <a:solidFill>
                <a:srgbClr val="000000"/>
              </a:solidFill>
              <a:latin typeface="Arial"/>
              <a:ea typeface="Arial"/>
              <a:cs typeface="Arial"/>
              <a:sym typeface="Arial"/>
            </a:endParaRPr>
          </a:p>
        </p:txBody>
      </p:sp>
      <p:sp>
        <p:nvSpPr>
          <p:cNvPr id="1031" name="Google Shape;1031;p48"/>
          <p:cNvSpPr txBox="1"/>
          <p:nvPr/>
        </p:nvSpPr>
        <p:spPr>
          <a:xfrm>
            <a:off x="5383674" y="1474470"/>
            <a:ext cx="32232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B5652A"/>
                </a:solidFill>
                <a:latin typeface="Calibri"/>
                <a:ea typeface="Calibri"/>
                <a:cs typeface="Calibri"/>
                <a:sym typeface="Calibri"/>
              </a:rPr>
              <a:t>REOrder framework, learned routing and patch geometry</a:t>
            </a:r>
            <a:endParaRPr b="0" i="0" sz="1100" u="none" cap="none" strike="noStrike">
              <a:solidFill>
                <a:srgbClr val="000000"/>
              </a:solidFill>
              <a:latin typeface="Arial"/>
              <a:ea typeface="Arial"/>
              <a:cs typeface="Arial"/>
              <a:sym typeface="Arial"/>
            </a:endParaRPr>
          </a:p>
        </p:txBody>
      </p:sp>
      <p:sp>
        <p:nvSpPr>
          <p:cNvPr id="1032" name="Google Shape;1032;p48"/>
          <p:cNvSpPr txBox="1"/>
          <p:nvPr/>
        </p:nvSpPr>
        <p:spPr>
          <a:xfrm>
            <a:off x="4835019" y="2023110"/>
            <a:ext cx="3703500" cy="1544400"/>
          </a:xfrm>
          <a:prstGeom prst="rect">
            <a:avLst/>
          </a:prstGeom>
          <a:noFill/>
          <a:ln>
            <a:noFill/>
          </a:ln>
        </p:spPr>
        <p:txBody>
          <a:bodyPr anchorCtr="0" anchor="t" bIns="0" lIns="0" spcFirstLastPara="1" rIns="0" wrap="square" tIns="0">
            <a:spAutoFit/>
          </a:bodyPr>
          <a:lstStyle/>
          <a:p>
            <a:pPr indent="-184150" lvl="0" marL="190500" marR="0" rtl="0" algn="l">
              <a:lnSpc>
                <a:spcPct val="100000"/>
              </a:lnSpc>
              <a:spcBef>
                <a:spcPts val="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Integration of d3tk/REOrder into the VLM pipeline</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Benchmark of training-free scan orders (zigzag, spiral, file/rank-wise, Hilbert)</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Joint training of the learned reordering module with LoRA</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Geometric ablation on resolution and patch size (1:1 patch-to-square)</a:t>
            </a:r>
            <a:endParaRPr b="0" i="0" sz="1100" u="none" cap="none" strike="noStrike">
              <a:solidFill>
                <a:srgbClr val="000000"/>
              </a:solidFill>
              <a:latin typeface="Arial"/>
              <a:ea typeface="Arial"/>
              <a:cs typeface="Arial"/>
              <a:sym typeface="Arial"/>
            </a:endParaRPr>
          </a:p>
          <a:p>
            <a:pPr indent="-184150" lvl="0" marL="190500" marR="0" rtl="0" algn="l">
              <a:lnSpc>
                <a:spcPct val="100000"/>
              </a:lnSpc>
              <a:spcBef>
                <a:spcPts val="700"/>
              </a:spcBef>
              <a:spcAft>
                <a:spcPts val="0"/>
              </a:spcAft>
              <a:buClr>
                <a:srgbClr val="B5652A"/>
              </a:buClr>
              <a:buSzPts val="1100"/>
              <a:buFont typeface="Calibri"/>
              <a:buChar char="■"/>
            </a:pPr>
            <a:r>
              <a:rPr b="0" i="0" lang="it" sz="1100" u="none" cap="none" strike="noStrike">
                <a:solidFill>
                  <a:srgbClr val="221C17"/>
                </a:solidFill>
                <a:latin typeface="Calibri"/>
                <a:ea typeface="Calibri"/>
                <a:cs typeface="Calibri"/>
                <a:sym typeface="Calibri"/>
              </a:rPr>
              <a:t>Comparison of reordering against the baselines</a:t>
            </a:r>
            <a:endParaRPr b="0" i="0" sz="1100" u="none" cap="none" strike="noStrike">
              <a:solidFill>
                <a:srgbClr val="000000"/>
              </a:solidFill>
              <a:latin typeface="Arial"/>
              <a:ea typeface="Arial"/>
              <a:cs typeface="Arial"/>
              <a:sym typeface="Arial"/>
            </a:endParaRPr>
          </a:p>
        </p:txBody>
      </p:sp>
      <p:sp>
        <p:nvSpPr>
          <p:cNvPr id="1033" name="Google Shape;1033;p48"/>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34" name="Google Shape;1034;p48"/>
          <p:cNvSpPr txBox="1"/>
          <p:nvPr/>
        </p:nvSpPr>
        <p:spPr>
          <a:xfrm>
            <a:off x="8044648" y="4800600"/>
            <a:ext cx="6858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12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9" name="Shape 1039"/>
        <p:cNvGrpSpPr/>
        <p:nvPr/>
      </p:nvGrpSpPr>
      <p:grpSpPr>
        <a:xfrm>
          <a:off x="0" y="0"/>
          <a:ext cx="0" cy="0"/>
          <a:chOff x="0" y="0"/>
          <a:chExt cx="0" cy="0"/>
        </a:xfrm>
      </p:grpSpPr>
      <p:sp>
        <p:nvSpPr>
          <p:cNvPr id="1040" name="Google Shape;1040;p49"/>
          <p:cNvSpPr txBox="1"/>
          <p:nvPr/>
        </p:nvSpPr>
        <p:spPr>
          <a:xfrm>
            <a:off x="335291" y="260604"/>
            <a:ext cx="82983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1" name="Google Shape;1041;p49"/>
          <p:cNvSpPr txBox="1"/>
          <p:nvPr/>
        </p:nvSpPr>
        <p:spPr>
          <a:xfrm>
            <a:off x="335291" y="407765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42" name="Google Shape;1042;p49"/>
          <p:cNvSpPr txBox="1"/>
          <p:nvPr/>
        </p:nvSpPr>
        <p:spPr>
          <a:xfrm>
            <a:off x="7968448" y="4800600"/>
            <a:ext cx="685800" cy="1230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13</a:t>
            </a:r>
            <a:endParaRPr b="0" i="0" sz="1100" u="none" cap="none" strike="noStrike">
              <a:solidFill>
                <a:srgbClr val="000000"/>
              </a:solidFill>
              <a:latin typeface="Arial"/>
              <a:ea typeface="Arial"/>
              <a:cs typeface="Arial"/>
              <a:sym typeface="Arial"/>
            </a:endParaRPr>
          </a:p>
        </p:txBody>
      </p:sp>
      <p:sp>
        <p:nvSpPr>
          <p:cNvPr id="1043" name="Google Shape;1043;p49"/>
          <p:cNvSpPr txBox="1"/>
          <p:nvPr/>
        </p:nvSpPr>
        <p:spPr>
          <a:xfrm>
            <a:off x="506746" y="4052085"/>
            <a:ext cx="16116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1044" name="Google Shape;1044;p49"/>
          <p:cNvPicPr preferRelativeResize="0"/>
          <p:nvPr/>
        </p:nvPicPr>
        <p:blipFill rotWithShape="1">
          <a:blip r:embed="rId3">
            <a:alphaModFix/>
          </a:blip>
          <a:srcRect b="0" l="0" r="0" t="0"/>
          <a:stretch/>
        </p:blipFill>
        <p:spPr>
          <a:xfrm>
            <a:off x="106050" y="60050"/>
            <a:ext cx="8807764" cy="4740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9" name="Shape 1049"/>
        <p:cNvGrpSpPr/>
        <p:nvPr/>
      </p:nvGrpSpPr>
      <p:grpSpPr>
        <a:xfrm>
          <a:off x="0" y="0"/>
          <a:ext cx="0" cy="0"/>
          <a:chOff x="0" y="0"/>
          <a:chExt cx="0" cy="0"/>
        </a:xfrm>
      </p:grpSpPr>
      <p:sp>
        <p:nvSpPr>
          <p:cNvPr id="1050" name="Google Shape;1050;p50"/>
          <p:cNvSpPr txBox="1"/>
          <p:nvPr/>
        </p:nvSpPr>
        <p:spPr>
          <a:xfrm>
            <a:off x="411491" y="260604"/>
            <a:ext cx="8298401"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Data pipeline and training recipe</a:t>
            </a:r>
            <a:endParaRPr b="0" i="0" sz="1100" u="none" cap="none" strike="noStrike">
              <a:solidFill>
                <a:srgbClr val="000000"/>
              </a:solidFill>
              <a:latin typeface="Arial"/>
              <a:ea typeface="Arial"/>
              <a:cs typeface="Arial"/>
              <a:sym typeface="Arial"/>
            </a:endParaRPr>
          </a:p>
        </p:txBody>
      </p:sp>
      <p:sp>
        <p:nvSpPr>
          <p:cNvPr id="1051" name="Google Shape;1051;p50"/>
          <p:cNvSpPr txBox="1"/>
          <p:nvPr/>
        </p:nvSpPr>
        <p:spPr>
          <a:xfrm>
            <a:off x="411491" y="768096"/>
            <a:ext cx="8298401"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Everything (datasets, adapters, evaluations) is cached on the Hugging Face Hub under bdatm-project</a:t>
            </a:r>
            <a:endParaRPr b="0" i="0" sz="1100" u="none" cap="none" strike="noStrike">
              <a:solidFill>
                <a:srgbClr val="000000"/>
              </a:solidFill>
              <a:latin typeface="Arial"/>
              <a:ea typeface="Arial"/>
              <a:cs typeface="Arial"/>
              <a:sym typeface="Arial"/>
            </a:endParaRPr>
          </a:p>
        </p:txBody>
      </p:sp>
      <p:sp>
        <p:nvSpPr>
          <p:cNvPr id="1052" name="Google Shape;1052;p50"/>
          <p:cNvSpPr/>
          <p:nvPr/>
        </p:nvSpPr>
        <p:spPr>
          <a:xfrm>
            <a:off x="411491" y="1268730"/>
            <a:ext cx="1577382" cy="120015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53" name="Google Shape;1053;p50"/>
          <p:cNvSpPr/>
          <p:nvPr/>
        </p:nvSpPr>
        <p:spPr>
          <a:xfrm>
            <a:off x="534938" y="1371600"/>
            <a:ext cx="260611" cy="260604"/>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FFFFFF"/>
                </a:solidFill>
                <a:latin typeface="Cambria"/>
                <a:ea typeface="Cambria"/>
                <a:cs typeface="Cambria"/>
                <a:sym typeface="Cambria"/>
              </a:rPr>
              <a:t>1</a:t>
            </a:r>
            <a:endParaRPr b="0" i="0" sz="1100" u="none" cap="none" strike="noStrike">
              <a:solidFill>
                <a:srgbClr val="000000"/>
              </a:solidFill>
              <a:latin typeface="Arial"/>
              <a:ea typeface="Arial"/>
              <a:cs typeface="Arial"/>
              <a:sym typeface="Arial"/>
            </a:endParaRPr>
          </a:p>
        </p:txBody>
      </p:sp>
      <p:sp>
        <p:nvSpPr>
          <p:cNvPr id="1054" name="Google Shape;1054;p50"/>
          <p:cNvSpPr txBox="1"/>
          <p:nvPr/>
        </p:nvSpPr>
        <p:spPr>
          <a:xfrm>
            <a:off x="891563" y="1371600"/>
            <a:ext cx="1028727"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Lichess puzzle DB</a:t>
            </a:r>
            <a:endParaRPr b="0" i="0" sz="1100" u="none" cap="none" strike="noStrike">
              <a:solidFill>
                <a:srgbClr val="000000"/>
              </a:solidFill>
              <a:latin typeface="Arial"/>
              <a:ea typeface="Arial"/>
              <a:cs typeface="Arial"/>
              <a:sym typeface="Arial"/>
            </a:endParaRPr>
          </a:p>
        </p:txBody>
      </p:sp>
      <p:sp>
        <p:nvSpPr>
          <p:cNvPr id="1055" name="Google Shape;1055;p50"/>
          <p:cNvSpPr txBox="1"/>
          <p:nvPr/>
        </p:nvSpPr>
        <p:spPr>
          <a:xfrm>
            <a:off x="534938" y="1748790"/>
            <a:ext cx="1371636"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lichess_db_puzzle.csv</a:t>
            </a:r>
            <a:br>
              <a:rPr b="0" i="0" lang="it" sz="1000" u="none" cap="none" strike="noStrike">
                <a:solidFill>
                  <a:srgbClr val="6B625A"/>
                </a:solidFill>
                <a:latin typeface="Calibri"/>
                <a:ea typeface="Calibri"/>
                <a:cs typeface="Calibri"/>
                <a:sym typeface="Calibri"/>
              </a:rPr>
            </a:br>
            <a:r>
              <a:rPr b="0" i="0" lang="it" sz="1000" u="none" cap="none" strike="noStrike">
                <a:solidFill>
                  <a:srgbClr val="6B625A"/>
                </a:solidFill>
                <a:latin typeface="Calibri"/>
                <a:ea typeface="Calibri"/>
                <a:cs typeface="Calibri"/>
                <a:sym typeface="Calibri"/>
              </a:rPr>
              <a:t>20,000 rows sampled</a:t>
            </a:r>
            <a:endParaRPr b="0" i="0" sz="1100" u="none" cap="none" strike="noStrike">
              <a:solidFill>
                <a:srgbClr val="000000"/>
              </a:solidFill>
              <a:latin typeface="Arial"/>
              <a:ea typeface="Arial"/>
              <a:cs typeface="Arial"/>
              <a:sym typeface="Arial"/>
            </a:endParaRPr>
          </a:p>
        </p:txBody>
      </p:sp>
      <p:sp>
        <p:nvSpPr>
          <p:cNvPr id="1056" name="Google Shape;1056;p50"/>
          <p:cNvSpPr/>
          <p:nvPr/>
        </p:nvSpPr>
        <p:spPr>
          <a:xfrm>
            <a:off x="2091746" y="1268730"/>
            <a:ext cx="1577382" cy="120015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57" name="Google Shape;1057;p50"/>
          <p:cNvSpPr/>
          <p:nvPr/>
        </p:nvSpPr>
        <p:spPr>
          <a:xfrm>
            <a:off x="2215193" y="1371600"/>
            <a:ext cx="260611" cy="260604"/>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FFFFFF"/>
                </a:solidFill>
                <a:latin typeface="Cambria"/>
                <a:ea typeface="Cambria"/>
                <a:cs typeface="Cambria"/>
                <a:sym typeface="Cambria"/>
              </a:rPr>
              <a:t>2</a:t>
            </a:r>
            <a:endParaRPr b="0" i="0" sz="1100" u="none" cap="none" strike="noStrike">
              <a:solidFill>
                <a:srgbClr val="000000"/>
              </a:solidFill>
              <a:latin typeface="Arial"/>
              <a:ea typeface="Arial"/>
              <a:cs typeface="Arial"/>
              <a:sym typeface="Arial"/>
            </a:endParaRPr>
          </a:p>
        </p:txBody>
      </p:sp>
      <p:sp>
        <p:nvSpPr>
          <p:cNvPr id="1058" name="Google Shape;1058;p50"/>
          <p:cNvSpPr txBox="1"/>
          <p:nvPr/>
        </p:nvSpPr>
        <p:spPr>
          <a:xfrm>
            <a:off x="2571819" y="1371600"/>
            <a:ext cx="1028727"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Balance</a:t>
            </a:r>
            <a:endParaRPr b="0" i="0" sz="1100" u="none" cap="none" strike="noStrike">
              <a:solidFill>
                <a:srgbClr val="000000"/>
              </a:solidFill>
              <a:latin typeface="Arial"/>
              <a:ea typeface="Arial"/>
              <a:cs typeface="Arial"/>
              <a:sym typeface="Arial"/>
            </a:endParaRPr>
          </a:p>
        </p:txBody>
      </p:sp>
      <p:sp>
        <p:nvSpPr>
          <p:cNvPr id="1059" name="Google Shape;1059;p50"/>
          <p:cNvSpPr txBox="1"/>
          <p:nvPr/>
        </p:nvSpPr>
        <p:spPr>
          <a:xfrm>
            <a:off x="2215193" y="1748790"/>
            <a:ext cx="1371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2,000 White to move + 2,000 Black to move samples</a:t>
            </a:r>
            <a:endParaRPr b="0" i="0" sz="1100" u="none" cap="none" strike="noStrike">
              <a:solidFill>
                <a:srgbClr val="000000"/>
              </a:solidFill>
              <a:latin typeface="Arial"/>
              <a:ea typeface="Arial"/>
              <a:cs typeface="Arial"/>
              <a:sym typeface="Arial"/>
            </a:endParaRPr>
          </a:p>
        </p:txBody>
      </p:sp>
      <p:sp>
        <p:nvSpPr>
          <p:cNvPr id="1060" name="Google Shape;1060;p50"/>
          <p:cNvSpPr/>
          <p:nvPr/>
        </p:nvSpPr>
        <p:spPr>
          <a:xfrm>
            <a:off x="3772000" y="1268730"/>
            <a:ext cx="1577382" cy="120015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1" name="Google Shape;1061;p50"/>
          <p:cNvSpPr/>
          <p:nvPr/>
        </p:nvSpPr>
        <p:spPr>
          <a:xfrm>
            <a:off x="3895447" y="1371600"/>
            <a:ext cx="260611" cy="260604"/>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FFFFFF"/>
                </a:solidFill>
                <a:latin typeface="Cambria"/>
                <a:ea typeface="Cambria"/>
                <a:cs typeface="Cambria"/>
                <a:sym typeface="Cambria"/>
              </a:rPr>
              <a:t>3</a:t>
            </a:r>
            <a:endParaRPr b="0" i="0" sz="1100" u="none" cap="none" strike="noStrike">
              <a:solidFill>
                <a:srgbClr val="000000"/>
              </a:solidFill>
              <a:latin typeface="Arial"/>
              <a:ea typeface="Arial"/>
              <a:cs typeface="Arial"/>
              <a:sym typeface="Arial"/>
            </a:endParaRPr>
          </a:p>
        </p:txBody>
      </p:sp>
      <p:sp>
        <p:nvSpPr>
          <p:cNvPr id="1062" name="Google Shape;1062;p50"/>
          <p:cNvSpPr txBox="1"/>
          <p:nvPr/>
        </p:nvSpPr>
        <p:spPr>
          <a:xfrm>
            <a:off x="4252073" y="1371600"/>
            <a:ext cx="1028727"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Split</a:t>
            </a:r>
            <a:endParaRPr b="0" i="0" sz="1100" u="none" cap="none" strike="noStrike">
              <a:solidFill>
                <a:srgbClr val="000000"/>
              </a:solidFill>
              <a:latin typeface="Arial"/>
              <a:ea typeface="Arial"/>
              <a:cs typeface="Arial"/>
              <a:sym typeface="Arial"/>
            </a:endParaRPr>
          </a:p>
        </p:txBody>
      </p:sp>
      <p:sp>
        <p:nvSpPr>
          <p:cNvPr id="1063" name="Google Shape;1063;p50"/>
          <p:cNvSpPr txBox="1"/>
          <p:nvPr/>
        </p:nvSpPr>
        <p:spPr>
          <a:xfrm>
            <a:off x="3895447" y="1748790"/>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80 % / 10 % / 10 %</a:t>
            </a:r>
            <a:br>
              <a:rPr b="0" i="0" lang="it" sz="1000" u="none" cap="none" strike="noStrike">
                <a:solidFill>
                  <a:srgbClr val="6B625A"/>
                </a:solidFill>
                <a:latin typeface="Calibri"/>
                <a:ea typeface="Calibri"/>
                <a:cs typeface="Calibri"/>
                <a:sym typeface="Calibri"/>
              </a:rPr>
            </a:br>
            <a:r>
              <a:rPr b="0" i="0" lang="it" sz="1000" u="none" cap="none" strike="noStrike">
                <a:solidFill>
                  <a:srgbClr val="6B625A"/>
                </a:solidFill>
                <a:latin typeface="Calibri"/>
                <a:ea typeface="Calibri"/>
                <a:cs typeface="Calibri"/>
                <a:sym typeface="Calibri"/>
              </a:rPr>
              <a:t>3,200 · 400 · 400</a:t>
            </a:r>
            <a:endParaRPr b="0" i="0" sz="1100" u="none" cap="none" strike="noStrike">
              <a:solidFill>
                <a:srgbClr val="000000"/>
              </a:solidFill>
              <a:latin typeface="Arial"/>
              <a:ea typeface="Arial"/>
              <a:cs typeface="Arial"/>
              <a:sym typeface="Arial"/>
            </a:endParaRPr>
          </a:p>
        </p:txBody>
      </p:sp>
      <p:sp>
        <p:nvSpPr>
          <p:cNvPr id="1064" name="Google Shape;1064;p50"/>
          <p:cNvSpPr/>
          <p:nvPr/>
        </p:nvSpPr>
        <p:spPr>
          <a:xfrm>
            <a:off x="5452255" y="1268730"/>
            <a:ext cx="1577382" cy="120015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5" name="Google Shape;1065;p50"/>
          <p:cNvSpPr/>
          <p:nvPr/>
        </p:nvSpPr>
        <p:spPr>
          <a:xfrm>
            <a:off x="5575702" y="1371600"/>
            <a:ext cx="260611" cy="260604"/>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FFFFFF"/>
                </a:solidFill>
                <a:latin typeface="Cambria"/>
                <a:ea typeface="Cambria"/>
                <a:cs typeface="Cambria"/>
                <a:sym typeface="Cambria"/>
              </a:rPr>
              <a:t>4</a:t>
            </a:r>
            <a:endParaRPr b="0" i="0" sz="1100" u="none" cap="none" strike="noStrike">
              <a:solidFill>
                <a:srgbClr val="000000"/>
              </a:solidFill>
              <a:latin typeface="Arial"/>
              <a:ea typeface="Arial"/>
              <a:cs typeface="Arial"/>
              <a:sym typeface="Arial"/>
            </a:endParaRPr>
          </a:p>
        </p:txBody>
      </p:sp>
      <p:sp>
        <p:nvSpPr>
          <p:cNvPr id="1066" name="Google Shape;1066;p50"/>
          <p:cNvSpPr txBox="1"/>
          <p:nvPr/>
        </p:nvSpPr>
        <p:spPr>
          <a:xfrm>
            <a:off x="5932327" y="1371600"/>
            <a:ext cx="1028727"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Render</a:t>
            </a:r>
            <a:endParaRPr b="0" i="0" sz="1100" u="none" cap="none" strike="noStrike">
              <a:solidFill>
                <a:srgbClr val="000000"/>
              </a:solidFill>
              <a:latin typeface="Arial"/>
              <a:ea typeface="Arial"/>
              <a:cs typeface="Arial"/>
              <a:sym typeface="Arial"/>
            </a:endParaRPr>
          </a:p>
        </p:txBody>
      </p:sp>
      <p:sp>
        <p:nvSpPr>
          <p:cNvPr id="1067" name="Google Shape;1067;p50"/>
          <p:cNvSpPr txBox="1"/>
          <p:nvPr/>
        </p:nvSpPr>
        <p:spPr>
          <a:xfrm>
            <a:off x="5575702" y="1748790"/>
            <a:ext cx="1371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python-chess + cairosvg</a:t>
            </a:r>
            <a:br>
              <a:rPr b="0" i="0" lang="it" sz="1000" u="none" cap="none" strike="noStrike">
                <a:solidFill>
                  <a:srgbClr val="6B625A"/>
                </a:solidFill>
                <a:latin typeface="Calibri"/>
                <a:ea typeface="Calibri"/>
                <a:cs typeface="Calibri"/>
                <a:sym typeface="Calibri"/>
              </a:rPr>
            </a:br>
            <a:r>
              <a:rPr b="0" i="0" lang="it" sz="1000" u="none" cap="none" strike="noStrike">
                <a:solidFill>
                  <a:srgbClr val="6B625A"/>
                </a:solidFill>
                <a:latin typeface="Calibri"/>
                <a:ea typeface="Calibri"/>
                <a:cs typeface="Calibri"/>
                <a:sym typeface="Calibri"/>
              </a:rPr>
              <a:t>512px, 12,000 samples, 16 workers</a:t>
            </a:r>
            <a:endParaRPr b="0" i="0" sz="1100" u="none" cap="none" strike="noStrike">
              <a:solidFill>
                <a:srgbClr val="000000"/>
              </a:solidFill>
              <a:latin typeface="Arial"/>
              <a:ea typeface="Arial"/>
              <a:cs typeface="Arial"/>
              <a:sym typeface="Arial"/>
            </a:endParaRPr>
          </a:p>
        </p:txBody>
      </p:sp>
      <p:sp>
        <p:nvSpPr>
          <p:cNvPr id="1068" name="Google Shape;1068;p50"/>
          <p:cNvSpPr/>
          <p:nvPr/>
        </p:nvSpPr>
        <p:spPr>
          <a:xfrm>
            <a:off x="7132509" y="1268730"/>
            <a:ext cx="1577382" cy="1200150"/>
          </a:xfrm>
          <a:prstGeom prst="roundRect">
            <a:avLst>
              <a:gd fmla="val 6000" name="adj"/>
            </a:avLst>
          </a:prstGeom>
          <a:solidFill>
            <a:srgbClr val="F6F1E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9" name="Google Shape;1069;p50"/>
          <p:cNvSpPr/>
          <p:nvPr/>
        </p:nvSpPr>
        <p:spPr>
          <a:xfrm>
            <a:off x="7255957" y="1371600"/>
            <a:ext cx="260611" cy="260604"/>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rgbClr val="FFFFFF"/>
                </a:solidFill>
                <a:latin typeface="Cambria"/>
                <a:ea typeface="Cambria"/>
                <a:cs typeface="Cambria"/>
                <a:sym typeface="Cambria"/>
              </a:rPr>
              <a:t>5</a:t>
            </a:r>
            <a:endParaRPr b="0" i="0" sz="1100" u="none" cap="none" strike="noStrike">
              <a:solidFill>
                <a:srgbClr val="000000"/>
              </a:solidFill>
              <a:latin typeface="Arial"/>
              <a:ea typeface="Arial"/>
              <a:cs typeface="Arial"/>
              <a:sym typeface="Arial"/>
            </a:endParaRPr>
          </a:p>
        </p:txBody>
      </p:sp>
      <p:sp>
        <p:nvSpPr>
          <p:cNvPr id="1070" name="Google Shape;1070;p50"/>
          <p:cNvSpPr txBox="1"/>
          <p:nvPr/>
        </p:nvSpPr>
        <p:spPr>
          <a:xfrm>
            <a:off x="7612582" y="1371600"/>
            <a:ext cx="1028727"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it" sz="1100" u="none" cap="none" strike="noStrike">
                <a:solidFill>
                  <a:srgbClr val="221C17"/>
                </a:solidFill>
                <a:latin typeface="Calibri"/>
                <a:ea typeface="Calibri"/>
                <a:cs typeface="Calibri"/>
                <a:sym typeface="Calibri"/>
              </a:rPr>
              <a:t>Publish</a:t>
            </a:r>
            <a:endParaRPr b="0" i="0" sz="1100" u="none" cap="none" strike="noStrike">
              <a:solidFill>
                <a:srgbClr val="000000"/>
              </a:solidFill>
              <a:latin typeface="Arial"/>
              <a:ea typeface="Arial"/>
              <a:cs typeface="Arial"/>
              <a:sym typeface="Arial"/>
            </a:endParaRPr>
          </a:p>
        </p:txBody>
      </p:sp>
      <p:sp>
        <p:nvSpPr>
          <p:cNvPr id="1071" name="Google Shape;1071;p50"/>
          <p:cNvSpPr txBox="1"/>
          <p:nvPr/>
        </p:nvSpPr>
        <p:spPr>
          <a:xfrm>
            <a:off x="7255957" y="1748790"/>
            <a:ext cx="1371636"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it" sz="1000" u="none" cap="none" strike="noStrike">
                <a:solidFill>
                  <a:srgbClr val="6B625A"/>
                </a:solidFill>
                <a:latin typeface="Calibri"/>
                <a:ea typeface="Calibri"/>
                <a:cs typeface="Calibri"/>
                <a:sym typeface="Calibri"/>
              </a:rPr>
              <a:t>3 HF datasets</a:t>
            </a:r>
            <a:br>
              <a:rPr b="0" i="0" lang="it" sz="1000" u="none" cap="none" strike="noStrike">
                <a:solidFill>
                  <a:srgbClr val="6B625A"/>
                </a:solidFill>
                <a:latin typeface="Calibri"/>
                <a:ea typeface="Calibri"/>
                <a:cs typeface="Calibri"/>
                <a:sym typeface="Calibri"/>
              </a:rPr>
            </a:br>
            <a:r>
              <a:rPr b="0" i="0" lang="it" sz="1000" u="none" cap="none" strike="noStrike">
                <a:solidFill>
                  <a:srgbClr val="6B625A"/>
                </a:solidFill>
                <a:latin typeface="Calibri"/>
                <a:ea typeface="Calibri"/>
                <a:cs typeface="Calibri"/>
                <a:sym typeface="Calibri"/>
              </a:rPr>
              <a:t>dataset_task1/2/3</a:t>
            </a:r>
            <a:endParaRPr b="0" i="0" sz="1100" u="none" cap="none" strike="noStrike">
              <a:solidFill>
                <a:srgbClr val="000000"/>
              </a:solidFill>
              <a:latin typeface="Arial"/>
              <a:ea typeface="Arial"/>
              <a:cs typeface="Arial"/>
              <a:sym typeface="Arial"/>
            </a:endParaRPr>
          </a:p>
        </p:txBody>
      </p:sp>
      <p:sp>
        <p:nvSpPr>
          <p:cNvPr id="1072" name="Google Shape;1072;p50"/>
          <p:cNvSpPr txBox="1"/>
          <p:nvPr/>
        </p:nvSpPr>
        <p:spPr>
          <a:xfrm>
            <a:off x="411491" y="2708910"/>
            <a:ext cx="4114910"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it" sz="1500" u="none" cap="none" strike="noStrike">
                <a:solidFill>
                  <a:srgbClr val="221C17"/>
                </a:solidFill>
                <a:latin typeface="Cambria"/>
                <a:ea typeface="Cambria"/>
                <a:cs typeface="Cambria"/>
                <a:sym typeface="Cambria"/>
              </a:rPr>
              <a:t>Model and fine-tuning</a:t>
            </a:r>
            <a:endParaRPr b="0" i="0" sz="1100" u="none" cap="none" strike="noStrike">
              <a:solidFill>
                <a:srgbClr val="000000"/>
              </a:solidFill>
              <a:latin typeface="Arial"/>
              <a:ea typeface="Arial"/>
              <a:cs typeface="Arial"/>
              <a:sym typeface="Arial"/>
            </a:endParaRPr>
          </a:p>
        </p:txBody>
      </p:sp>
      <p:sp>
        <p:nvSpPr>
          <p:cNvPr id="1073" name="Google Shape;1073;p50"/>
          <p:cNvSpPr txBox="1"/>
          <p:nvPr/>
        </p:nvSpPr>
        <p:spPr>
          <a:xfrm>
            <a:off x="411491" y="3051810"/>
            <a:ext cx="4046400" cy="1377600"/>
          </a:xfrm>
          <a:prstGeom prst="rect">
            <a:avLst/>
          </a:prstGeom>
          <a:noFill/>
          <a:ln>
            <a:noFill/>
          </a:ln>
        </p:spPr>
        <p:txBody>
          <a:bodyPr anchorCtr="0" anchor="t" bIns="0" lIns="0" spcFirstLastPara="1" rIns="0" wrap="square" tIns="0">
            <a:spAutoFit/>
          </a:bodyPr>
          <a:lstStyle/>
          <a:p>
            <a:pPr indent="-190500" lvl="0" marL="190500" marR="0" rtl="0" algn="l">
              <a:lnSpc>
                <a:spcPct val="100000"/>
              </a:lnSpc>
              <a:spcBef>
                <a:spcPts val="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Base: </a:t>
            </a:r>
            <a:r>
              <a:rPr b="0" i="0" lang="it" sz="1100" u="none" cap="none" strike="noStrike">
                <a:solidFill>
                  <a:srgbClr val="221C17"/>
                </a:solidFill>
                <a:latin typeface="Calibri"/>
                <a:ea typeface="Calibri"/>
                <a:cs typeface="Calibri"/>
                <a:sym typeface="Calibri"/>
              </a:rPr>
              <a:t>Qwen3.5-0.8B (Qwen-VL family), bf16, GPU: one NVIDIA L4 on Colab</a:t>
            </a:r>
            <a:endParaRPr b="0" i="0" sz="1100" u="none" cap="none" strike="noStrike">
              <a:solidFill>
                <a:srgbClr val="000000"/>
              </a:solidFill>
              <a:latin typeface="Arial"/>
              <a:ea typeface="Arial"/>
              <a:cs typeface="Arial"/>
              <a:sym typeface="Arial"/>
            </a:endParaRPr>
          </a:p>
          <a:p>
            <a:pPr indent="-190500" lvl="0" marL="190500" marR="0" rtl="0" algn="l">
              <a:lnSpc>
                <a:spcPct val="100000"/>
              </a:lnSpc>
              <a:spcBef>
                <a:spcPts val="50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LoRA: </a:t>
            </a:r>
            <a:r>
              <a:rPr b="0" i="0" lang="it" sz="1100" u="none" cap="none" strike="noStrike">
                <a:solidFill>
                  <a:srgbClr val="221C17"/>
                </a:solidFill>
                <a:latin typeface="Calibri"/>
                <a:ea typeface="Calibri"/>
                <a:cs typeface="Calibri"/>
                <a:sym typeface="Calibri"/>
              </a:rPr>
              <a:t>r = 16, α = 32, dropout 0.05 on all attention and MLP projections</a:t>
            </a:r>
            <a:endParaRPr b="0" i="0" sz="1100" u="none" cap="none" strike="noStrike">
              <a:solidFill>
                <a:srgbClr val="000000"/>
              </a:solidFill>
              <a:latin typeface="Arial"/>
              <a:ea typeface="Arial"/>
              <a:cs typeface="Arial"/>
              <a:sym typeface="Arial"/>
            </a:endParaRPr>
          </a:p>
          <a:p>
            <a:pPr indent="-190500" lvl="0" marL="190500" marR="0" rtl="0" algn="l">
              <a:lnSpc>
                <a:spcPct val="100000"/>
              </a:lnSpc>
              <a:spcBef>
                <a:spcPts val="50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Optimizer: </a:t>
            </a:r>
            <a:r>
              <a:rPr b="0" i="0" lang="it" sz="1100" u="none" cap="none" strike="noStrike">
                <a:solidFill>
                  <a:srgbClr val="221C17"/>
                </a:solidFill>
                <a:latin typeface="Calibri"/>
                <a:ea typeface="Calibri"/>
                <a:cs typeface="Calibri"/>
                <a:sym typeface="Calibri"/>
              </a:rPr>
              <a:t>lr 2e-4, batch 8, up to 10 epochs, early stopping on validation loss (best epoch kept)</a:t>
            </a:r>
            <a:endParaRPr b="0" i="0" sz="1100" u="none" cap="none" strike="noStrike">
              <a:solidFill>
                <a:srgbClr val="000000"/>
              </a:solidFill>
              <a:latin typeface="Arial"/>
              <a:ea typeface="Arial"/>
              <a:cs typeface="Arial"/>
              <a:sym typeface="Arial"/>
            </a:endParaRPr>
          </a:p>
          <a:p>
            <a:pPr indent="-190500" lvl="0" marL="190500" marR="0" rtl="0" algn="l">
              <a:lnSpc>
                <a:spcPct val="100000"/>
              </a:lnSpc>
              <a:spcBef>
                <a:spcPts val="500"/>
              </a:spcBef>
              <a:spcAft>
                <a:spcPts val="0"/>
              </a:spcAft>
              <a:buClr>
                <a:srgbClr val="B5652A"/>
              </a:buClr>
              <a:buSzPts val="1100"/>
              <a:buFont typeface="Calibri"/>
              <a:buChar char="■"/>
            </a:pPr>
            <a:r>
              <a:rPr b="1" i="0" lang="it" sz="1100" u="none" cap="none" strike="noStrike">
                <a:solidFill>
                  <a:srgbClr val="221C17"/>
                </a:solidFill>
                <a:latin typeface="Calibri"/>
                <a:ea typeface="Calibri"/>
                <a:cs typeface="Calibri"/>
                <a:sym typeface="Calibri"/>
              </a:rPr>
              <a:t>Loss: </a:t>
            </a:r>
            <a:r>
              <a:rPr b="0" i="0" lang="it" sz="1100" u="none" cap="none" strike="noStrike">
                <a:solidFill>
                  <a:srgbClr val="221C17"/>
                </a:solidFill>
                <a:latin typeface="Calibri"/>
                <a:ea typeface="Calibri"/>
                <a:cs typeface="Calibri"/>
                <a:sym typeface="Calibri"/>
              </a:rPr>
              <a:t>cross-entropy on the answer tokens only</a:t>
            </a:r>
            <a:endParaRPr b="0" i="0" sz="1100" u="none" cap="none" strike="noStrike">
              <a:solidFill>
                <a:srgbClr val="000000"/>
              </a:solidFill>
              <a:latin typeface="Arial"/>
              <a:ea typeface="Arial"/>
              <a:cs typeface="Arial"/>
              <a:sym typeface="Arial"/>
            </a:endParaRPr>
          </a:p>
        </p:txBody>
      </p:sp>
      <p:sp>
        <p:nvSpPr>
          <p:cNvPr id="1074" name="Google Shape;1074;p50"/>
          <p:cNvSpPr txBox="1"/>
          <p:nvPr/>
        </p:nvSpPr>
        <p:spPr>
          <a:xfrm>
            <a:off x="4732146" y="2708910"/>
            <a:ext cx="4114910" cy="30861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it" sz="1500" u="none" cap="none" strike="noStrike">
                <a:solidFill>
                  <a:srgbClr val="221C17"/>
                </a:solidFill>
                <a:latin typeface="Cambria"/>
                <a:ea typeface="Cambria"/>
                <a:cs typeface="Cambria"/>
                <a:sym typeface="Cambria"/>
              </a:rPr>
              <a:t>Experiment families (per task)</a:t>
            </a:r>
            <a:endParaRPr b="0" i="0" sz="1100" u="none" cap="none" strike="noStrike">
              <a:solidFill>
                <a:srgbClr val="000000"/>
              </a:solidFill>
              <a:latin typeface="Arial"/>
              <a:ea typeface="Arial"/>
              <a:cs typeface="Arial"/>
              <a:sym typeface="Arial"/>
            </a:endParaRPr>
          </a:p>
        </p:txBody>
      </p:sp>
      <p:sp>
        <p:nvSpPr>
          <p:cNvPr id="1075" name="Google Shape;1075;p50"/>
          <p:cNvSpPr/>
          <p:nvPr/>
        </p:nvSpPr>
        <p:spPr>
          <a:xfrm>
            <a:off x="4732146" y="308610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A</a:t>
            </a:r>
            <a:endParaRPr b="0" i="0" sz="1100" u="none" cap="none" strike="noStrike">
              <a:solidFill>
                <a:srgbClr val="000000"/>
              </a:solidFill>
              <a:latin typeface="Arial"/>
              <a:ea typeface="Arial"/>
              <a:cs typeface="Arial"/>
              <a:sym typeface="Arial"/>
            </a:endParaRPr>
          </a:p>
        </p:txBody>
      </p:sp>
      <p:sp>
        <p:nvSpPr>
          <p:cNvPr id="1076" name="Google Shape;1076;p50"/>
          <p:cNvSpPr txBox="1"/>
          <p:nvPr/>
        </p:nvSpPr>
        <p:spPr>
          <a:xfrm>
            <a:off x="5040764" y="307238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Vanilla zero-shot and 3-shot</a:t>
            </a:r>
            <a:endParaRPr b="0" i="0" sz="1100" u="none" cap="none" strike="noStrike">
              <a:solidFill>
                <a:srgbClr val="000000"/>
              </a:solidFill>
              <a:latin typeface="Arial"/>
              <a:ea typeface="Arial"/>
              <a:cs typeface="Arial"/>
              <a:sym typeface="Arial"/>
            </a:endParaRPr>
          </a:p>
        </p:txBody>
      </p:sp>
      <p:sp>
        <p:nvSpPr>
          <p:cNvPr id="1077" name="Google Shape;1077;p50"/>
          <p:cNvSpPr/>
          <p:nvPr/>
        </p:nvSpPr>
        <p:spPr>
          <a:xfrm>
            <a:off x="4732146" y="336042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B</a:t>
            </a:r>
            <a:endParaRPr b="0" i="0" sz="1100" u="none" cap="none" strike="noStrike">
              <a:solidFill>
                <a:srgbClr val="000000"/>
              </a:solidFill>
              <a:latin typeface="Arial"/>
              <a:ea typeface="Arial"/>
              <a:cs typeface="Arial"/>
              <a:sym typeface="Arial"/>
            </a:endParaRPr>
          </a:p>
        </p:txBody>
      </p:sp>
      <p:sp>
        <p:nvSpPr>
          <p:cNvPr id="1078" name="Google Shape;1078;p50"/>
          <p:cNvSpPr txBox="1"/>
          <p:nvPr/>
        </p:nvSpPr>
        <p:spPr>
          <a:xfrm>
            <a:off x="5040764" y="334670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LoRA baseline, raster order</a:t>
            </a:r>
            <a:endParaRPr b="0" i="0" sz="1100" u="none" cap="none" strike="noStrike">
              <a:solidFill>
                <a:srgbClr val="000000"/>
              </a:solidFill>
              <a:latin typeface="Arial"/>
              <a:ea typeface="Arial"/>
              <a:cs typeface="Arial"/>
              <a:sym typeface="Arial"/>
            </a:endParaRPr>
          </a:p>
        </p:txBody>
      </p:sp>
      <p:sp>
        <p:nvSpPr>
          <p:cNvPr id="1079" name="Google Shape;1079;p50"/>
          <p:cNvSpPr/>
          <p:nvPr/>
        </p:nvSpPr>
        <p:spPr>
          <a:xfrm>
            <a:off x="4732146" y="363474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C</a:t>
            </a:r>
            <a:endParaRPr b="0" i="0" sz="1100" u="none" cap="none" strike="noStrike">
              <a:solidFill>
                <a:srgbClr val="000000"/>
              </a:solidFill>
              <a:latin typeface="Arial"/>
              <a:ea typeface="Arial"/>
              <a:cs typeface="Arial"/>
              <a:sym typeface="Arial"/>
            </a:endParaRPr>
          </a:p>
        </p:txBody>
      </p:sp>
      <p:sp>
        <p:nvSpPr>
          <p:cNvPr id="1080" name="Google Shape;1080;p50"/>
          <p:cNvSpPr txBox="1"/>
          <p:nvPr/>
        </p:nvSpPr>
        <p:spPr>
          <a:xfrm>
            <a:off x="5040764" y="362102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Training-free: raster model read in other orders</a:t>
            </a:r>
            <a:endParaRPr b="0" i="0" sz="1100" u="none" cap="none" strike="noStrike">
              <a:solidFill>
                <a:srgbClr val="000000"/>
              </a:solidFill>
              <a:latin typeface="Arial"/>
              <a:ea typeface="Arial"/>
              <a:cs typeface="Arial"/>
              <a:sym typeface="Arial"/>
            </a:endParaRPr>
          </a:p>
        </p:txBody>
      </p:sp>
      <p:sp>
        <p:nvSpPr>
          <p:cNvPr id="1081" name="Google Shape;1081;p50"/>
          <p:cNvSpPr/>
          <p:nvPr/>
        </p:nvSpPr>
        <p:spPr>
          <a:xfrm>
            <a:off x="4732146" y="390906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D</a:t>
            </a:r>
            <a:endParaRPr b="0" i="0" sz="1100" u="none" cap="none" strike="noStrike">
              <a:solidFill>
                <a:srgbClr val="000000"/>
              </a:solidFill>
              <a:latin typeface="Arial"/>
              <a:ea typeface="Arial"/>
              <a:cs typeface="Arial"/>
              <a:sym typeface="Arial"/>
            </a:endParaRPr>
          </a:p>
        </p:txBody>
      </p:sp>
      <p:sp>
        <p:nvSpPr>
          <p:cNvPr id="1082" name="Google Shape;1082;p50"/>
          <p:cNvSpPr txBox="1"/>
          <p:nvPr/>
        </p:nvSpPr>
        <p:spPr>
          <a:xfrm>
            <a:off x="5040764" y="389534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LoRA trained with each fixed order</a:t>
            </a:r>
            <a:endParaRPr b="0" i="0" sz="1100" u="none" cap="none" strike="noStrike">
              <a:solidFill>
                <a:srgbClr val="000000"/>
              </a:solidFill>
              <a:latin typeface="Arial"/>
              <a:ea typeface="Arial"/>
              <a:cs typeface="Arial"/>
              <a:sym typeface="Arial"/>
            </a:endParaRPr>
          </a:p>
        </p:txBody>
      </p:sp>
      <p:sp>
        <p:nvSpPr>
          <p:cNvPr id="1083" name="Google Shape;1083;p50"/>
          <p:cNvSpPr/>
          <p:nvPr/>
        </p:nvSpPr>
        <p:spPr>
          <a:xfrm>
            <a:off x="4732146" y="418338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E</a:t>
            </a:r>
            <a:endParaRPr b="0" i="0" sz="1100" u="none" cap="none" strike="noStrike">
              <a:solidFill>
                <a:srgbClr val="000000"/>
              </a:solidFill>
              <a:latin typeface="Arial"/>
              <a:ea typeface="Arial"/>
              <a:cs typeface="Arial"/>
              <a:sym typeface="Arial"/>
            </a:endParaRPr>
          </a:p>
        </p:txBody>
      </p:sp>
      <p:sp>
        <p:nvSpPr>
          <p:cNvPr id="1084" name="Google Shape;1084;p50"/>
          <p:cNvSpPr txBox="1"/>
          <p:nvPr/>
        </p:nvSpPr>
        <p:spPr>
          <a:xfrm>
            <a:off x="5040764" y="416966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Learned order (REOrder policy + LoRA)</a:t>
            </a:r>
            <a:endParaRPr b="0" i="0" sz="1100" u="none" cap="none" strike="noStrike">
              <a:solidFill>
                <a:srgbClr val="000000"/>
              </a:solidFill>
              <a:latin typeface="Arial"/>
              <a:ea typeface="Arial"/>
              <a:cs typeface="Arial"/>
              <a:sym typeface="Arial"/>
            </a:endParaRPr>
          </a:p>
        </p:txBody>
      </p:sp>
      <p:sp>
        <p:nvSpPr>
          <p:cNvPr id="1085" name="Google Shape;1085;p50"/>
          <p:cNvSpPr/>
          <p:nvPr/>
        </p:nvSpPr>
        <p:spPr>
          <a:xfrm>
            <a:off x="4732146" y="4457700"/>
            <a:ext cx="219462" cy="219456"/>
          </a:xfrm>
          <a:prstGeom prst="rect">
            <a:avLst/>
          </a:prstGeom>
          <a:solidFill>
            <a:srgbClr val="D18B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it" sz="900" u="none" cap="none" strike="noStrike">
                <a:solidFill>
                  <a:srgbClr val="FFFFFF"/>
                </a:solidFill>
                <a:latin typeface="Cambria"/>
                <a:ea typeface="Cambria"/>
                <a:cs typeface="Cambria"/>
                <a:sym typeface="Cambria"/>
              </a:rPr>
              <a:t>F</a:t>
            </a:r>
            <a:endParaRPr b="0" i="0" sz="1100" u="none" cap="none" strike="noStrike">
              <a:solidFill>
                <a:srgbClr val="000000"/>
              </a:solidFill>
              <a:latin typeface="Arial"/>
              <a:ea typeface="Arial"/>
              <a:cs typeface="Arial"/>
              <a:sym typeface="Arial"/>
            </a:endParaRPr>
          </a:p>
        </p:txBody>
      </p:sp>
      <p:sp>
        <p:nvSpPr>
          <p:cNvPr id="1086" name="Google Shape;1086;p50"/>
          <p:cNvSpPr txBox="1"/>
          <p:nvPr/>
        </p:nvSpPr>
        <p:spPr>
          <a:xfrm>
            <a:off x="5040764" y="4443984"/>
            <a:ext cx="3703419"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0" i="0" lang="it" sz="1100" u="none" cap="none" strike="noStrike">
                <a:solidFill>
                  <a:srgbClr val="221C17"/>
                </a:solidFill>
                <a:latin typeface="Calibri"/>
                <a:ea typeface="Calibri"/>
                <a:cs typeface="Calibri"/>
                <a:sym typeface="Calibri"/>
              </a:rPr>
              <a:t>Resolution: 256px vs 512px</a:t>
            </a:r>
            <a:endParaRPr b="0" i="0" sz="1100" u="none" cap="none" strike="noStrike">
              <a:solidFill>
                <a:srgbClr val="000000"/>
              </a:solidFill>
              <a:latin typeface="Arial"/>
              <a:ea typeface="Arial"/>
              <a:cs typeface="Arial"/>
              <a:sym typeface="Arial"/>
            </a:endParaRPr>
          </a:p>
        </p:txBody>
      </p:sp>
      <p:sp>
        <p:nvSpPr>
          <p:cNvPr id="1087" name="Google Shape;1087;p50"/>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88" name="Google Shape;1088;p50"/>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14</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3" name="Shape 1093"/>
        <p:cNvGrpSpPr/>
        <p:nvPr/>
      </p:nvGrpSpPr>
      <p:grpSpPr>
        <a:xfrm>
          <a:off x="0" y="0"/>
          <a:ext cx="0" cy="0"/>
          <a:chOff x="0" y="0"/>
          <a:chExt cx="0" cy="0"/>
        </a:xfrm>
      </p:grpSpPr>
      <p:sp>
        <p:nvSpPr>
          <p:cNvPr id="1094" name="Google Shape;1094;p51"/>
          <p:cNvSpPr txBox="1"/>
          <p:nvPr/>
        </p:nvSpPr>
        <p:spPr>
          <a:xfrm>
            <a:off x="411491" y="260604"/>
            <a:ext cx="82983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it" sz="2600" u="none" cap="none" strike="noStrike">
                <a:solidFill>
                  <a:srgbClr val="221C17"/>
                </a:solidFill>
                <a:latin typeface="Cambria"/>
                <a:ea typeface="Cambria"/>
                <a:cs typeface="Cambria"/>
                <a:sym typeface="Cambria"/>
              </a:rPr>
              <a:t>Learned reordering setup and training</a:t>
            </a:r>
            <a:endParaRPr b="0" i="0" sz="1100" u="none" cap="none" strike="noStrike">
              <a:solidFill>
                <a:srgbClr val="000000"/>
              </a:solidFill>
              <a:latin typeface="Arial"/>
              <a:ea typeface="Arial"/>
              <a:cs typeface="Arial"/>
              <a:sym typeface="Arial"/>
            </a:endParaRPr>
          </a:p>
        </p:txBody>
      </p:sp>
      <p:sp>
        <p:nvSpPr>
          <p:cNvPr id="1095" name="Google Shape;1095;p51"/>
          <p:cNvSpPr txBox="1"/>
          <p:nvPr/>
        </p:nvSpPr>
        <p:spPr>
          <a:xfrm>
            <a:off x="411491" y="768096"/>
            <a:ext cx="82983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it" sz="1200" u="none" cap="none" strike="noStrike">
                <a:solidFill>
                  <a:srgbClr val="6B625A"/>
                </a:solidFill>
                <a:latin typeface="Calibri"/>
                <a:ea typeface="Calibri"/>
                <a:cs typeface="Calibri"/>
                <a:sym typeface="Calibri"/>
              </a:rPr>
              <a:t>REOrder's Plackett-Luce policy over 64 squares, trained jointly with LoRA by REINFORCE </a:t>
            </a:r>
            <a:endParaRPr b="0" i="0" sz="1100" u="none" cap="none" strike="noStrike">
              <a:solidFill>
                <a:srgbClr val="000000"/>
              </a:solidFill>
              <a:latin typeface="Arial"/>
              <a:ea typeface="Arial"/>
              <a:cs typeface="Arial"/>
              <a:sym typeface="Arial"/>
            </a:endParaRPr>
          </a:p>
        </p:txBody>
      </p:sp>
      <p:sp>
        <p:nvSpPr>
          <p:cNvPr id="1096" name="Google Shape;1096;p51"/>
          <p:cNvSpPr txBox="1"/>
          <p:nvPr/>
        </p:nvSpPr>
        <p:spPr>
          <a:xfrm>
            <a:off x="411491" y="4800600"/>
            <a:ext cx="5486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097" name="Google Shape;1097;p51"/>
          <p:cNvSpPr txBox="1"/>
          <p:nvPr/>
        </p:nvSpPr>
        <p:spPr>
          <a:xfrm>
            <a:off x="8044648" y="4800600"/>
            <a:ext cx="685818" cy="20574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800"/>
              <a:buFont typeface="Arial"/>
              <a:buNone/>
            </a:pPr>
            <a:r>
              <a:rPr b="0" i="0" lang="it" sz="800" u="none" cap="none" strike="noStrike">
                <a:solidFill>
                  <a:srgbClr val="6B625A"/>
                </a:solidFill>
                <a:latin typeface="Calibri"/>
                <a:ea typeface="Calibri"/>
                <a:cs typeface="Calibri"/>
                <a:sym typeface="Calibri"/>
              </a:rPr>
              <a:t>15</a:t>
            </a:r>
            <a:endParaRPr b="0" i="0" sz="1100" u="none" cap="none" strike="noStrike">
              <a:solidFill>
                <a:srgbClr val="000000"/>
              </a:solidFill>
              <a:latin typeface="Arial"/>
              <a:ea typeface="Arial"/>
              <a:cs typeface="Arial"/>
              <a:sym typeface="Arial"/>
            </a:endParaRPr>
          </a:p>
        </p:txBody>
      </p:sp>
      <p:sp>
        <p:nvSpPr>
          <p:cNvPr id="1098" name="Google Shape;1098;p51"/>
          <p:cNvSpPr/>
          <p:nvPr/>
        </p:nvSpPr>
        <p:spPr>
          <a:xfrm>
            <a:off x="299173" y="1250551"/>
            <a:ext cx="1580400" cy="2384400"/>
          </a:xfrm>
          <a:prstGeom prst="roundRect">
            <a:avLst>
              <a:gd fmla="val 6000" name="adj"/>
            </a:avLst>
          </a:prstGeom>
          <a:solidFill>
            <a:srgbClr val="F6F1EB"/>
          </a:solidFill>
          <a:ln>
            <a:noFill/>
          </a:ln>
        </p:spPr>
        <p:txBody>
          <a:bodyPr anchorCtr="0" anchor="ctr" bIns="27725" lIns="55450" spcFirstLastPara="1" rIns="55450" wrap="square" tIns="27725">
            <a:noAutofit/>
          </a:bodyPr>
          <a:lstStyle/>
          <a:p>
            <a:pPr indent="0" lvl="0" marL="0" marR="0" rtl="0" algn="ctr">
              <a:lnSpc>
                <a:spcPct val="100000"/>
              </a:lnSpc>
              <a:spcBef>
                <a:spcPts val="0"/>
              </a:spcBef>
              <a:spcAft>
                <a:spcPts val="0"/>
              </a:spcAft>
              <a:buClr>
                <a:srgbClr val="000000"/>
              </a:buClr>
              <a:buSzPts val="1132"/>
              <a:buFont typeface="Arial"/>
              <a:buNone/>
            </a:pPr>
            <a:r>
              <a:t/>
            </a:r>
            <a:endParaRPr b="0" i="0" sz="1132" u="none" cap="none" strike="noStrike">
              <a:solidFill>
                <a:schemeClr val="dk1"/>
              </a:solidFill>
              <a:latin typeface="Calibri"/>
              <a:ea typeface="Calibri"/>
              <a:cs typeface="Calibri"/>
              <a:sym typeface="Calibri"/>
            </a:endParaRPr>
          </a:p>
        </p:txBody>
      </p:sp>
      <p:sp>
        <p:nvSpPr>
          <p:cNvPr id="1099" name="Google Shape;1099;p51"/>
          <p:cNvSpPr/>
          <p:nvPr/>
        </p:nvSpPr>
        <p:spPr>
          <a:xfrm>
            <a:off x="437803" y="1389177"/>
            <a:ext cx="232800" cy="232800"/>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0"/>
              <a:buFont typeface="Arial"/>
              <a:buNone/>
            </a:pPr>
            <a:r>
              <a:rPr b="1" i="0" lang="it" sz="970" u="none" cap="none" strike="noStrike">
                <a:solidFill>
                  <a:srgbClr val="FFFFFF"/>
                </a:solidFill>
                <a:latin typeface="Cambria"/>
                <a:ea typeface="Cambria"/>
                <a:cs typeface="Cambria"/>
                <a:sym typeface="Cambria"/>
              </a:rPr>
              <a:t>1</a:t>
            </a:r>
            <a:endParaRPr b="0" i="0" sz="889" u="none" cap="none" strike="noStrike">
              <a:solidFill>
                <a:srgbClr val="000000"/>
              </a:solidFill>
              <a:latin typeface="Arial"/>
              <a:ea typeface="Arial"/>
              <a:cs typeface="Arial"/>
              <a:sym typeface="Arial"/>
            </a:endParaRPr>
          </a:p>
        </p:txBody>
      </p:sp>
      <p:sp>
        <p:nvSpPr>
          <p:cNvPr id="1100" name="Google Shape;1100;p51"/>
          <p:cNvSpPr txBox="1"/>
          <p:nvPr/>
        </p:nvSpPr>
        <p:spPr>
          <a:xfrm>
            <a:off x="437803" y="1721881"/>
            <a:ext cx="1303200" cy="34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32"/>
              <a:buFont typeface="Arial"/>
              <a:buNone/>
            </a:pPr>
            <a:r>
              <a:rPr b="1" i="0" lang="it" sz="1132" u="none" cap="none" strike="noStrike">
                <a:solidFill>
                  <a:srgbClr val="221C17"/>
                </a:solidFill>
                <a:latin typeface="Cambria"/>
                <a:ea typeface="Cambria"/>
                <a:cs typeface="Cambria"/>
                <a:sym typeface="Cambria"/>
              </a:rPr>
              <a:t>Warm-up in raster order</a:t>
            </a:r>
            <a:endParaRPr b="0" i="0" sz="889" u="none" cap="none" strike="noStrike">
              <a:solidFill>
                <a:srgbClr val="000000"/>
              </a:solidFill>
              <a:latin typeface="Arial"/>
              <a:ea typeface="Arial"/>
              <a:cs typeface="Arial"/>
              <a:sym typeface="Arial"/>
            </a:endParaRPr>
          </a:p>
        </p:txBody>
      </p:sp>
      <p:sp>
        <p:nvSpPr>
          <p:cNvPr id="1101" name="Google Shape;1101;p51"/>
          <p:cNvSpPr txBox="1"/>
          <p:nvPr/>
        </p:nvSpPr>
        <p:spPr>
          <a:xfrm>
            <a:off x="437803" y="2137761"/>
            <a:ext cx="1303200" cy="1048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970"/>
              </a:spcBef>
              <a:spcAft>
                <a:spcPts val="0"/>
              </a:spcAft>
              <a:buClr>
                <a:schemeClr val="dk1"/>
              </a:buClr>
              <a:buSzPts val="889"/>
              <a:buFont typeface="Arial"/>
              <a:buNone/>
            </a:pPr>
            <a:r>
              <a:rPr b="0" i="0" lang="it" sz="889" u="none" cap="none" strike="noStrike">
                <a:solidFill>
                  <a:srgbClr val="221C17"/>
                </a:solidFill>
                <a:latin typeface="Calibri"/>
                <a:ea typeface="Calibri"/>
                <a:cs typeface="Calibri"/>
                <a:sym typeface="Calibri"/>
              </a:rPr>
              <a:t>The first epoch trains only LoRA, reading tokens in raster order, so the model learns the task before the order starts changing.</a:t>
            </a:r>
            <a:endParaRPr b="0" i="0" sz="889" u="none" cap="none" strike="noStrike">
              <a:solidFill>
                <a:srgbClr val="221C17"/>
              </a:solidFill>
              <a:latin typeface="Calibri"/>
              <a:ea typeface="Calibri"/>
              <a:cs typeface="Calibri"/>
              <a:sym typeface="Calibri"/>
            </a:endParaRPr>
          </a:p>
          <a:p>
            <a:pPr indent="0" lvl="0" marL="0" marR="0" rtl="0" algn="l">
              <a:lnSpc>
                <a:spcPct val="100000"/>
              </a:lnSpc>
              <a:spcBef>
                <a:spcPts val="970"/>
              </a:spcBef>
              <a:spcAft>
                <a:spcPts val="0"/>
              </a:spcAft>
              <a:buClr>
                <a:srgbClr val="000000"/>
              </a:buClr>
              <a:buSzPts val="889"/>
              <a:buFont typeface="Arial"/>
              <a:buNone/>
            </a:pPr>
            <a:r>
              <a:t/>
            </a:r>
            <a:endParaRPr b="0" i="0" sz="889" u="none" cap="none" strike="noStrike">
              <a:solidFill>
                <a:srgbClr val="221C17"/>
              </a:solidFill>
              <a:latin typeface="Calibri"/>
              <a:ea typeface="Calibri"/>
              <a:cs typeface="Calibri"/>
              <a:sym typeface="Calibri"/>
            </a:endParaRPr>
          </a:p>
        </p:txBody>
      </p:sp>
      <p:sp>
        <p:nvSpPr>
          <p:cNvPr id="1102" name="Google Shape;1102;p51"/>
          <p:cNvSpPr/>
          <p:nvPr/>
        </p:nvSpPr>
        <p:spPr>
          <a:xfrm>
            <a:off x="2034816" y="1250551"/>
            <a:ext cx="1580400" cy="2384400"/>
          </a:xfrm>
          <a:prstGeom prst="roundRect">
            <a:avLst>
              <a:gd fmla="val 6000" name="adj"/>
            </a:avLst>
          </a:prstGeom>
          <a:solidFill>
            <a:srgbClr val="F6F1EB"/>
          </a:solidFill>
          <a:ln>
            <a:noFill/>
          </a:ln>
        </p:spPr>
        <p:txBody>
          <a:bodyPr anchorCtr="0" anchor="ctr" bIns="27725" lIns="55450" spcFirstLastPara="1" rIns="55450" wrap="square" tIns="27725">
            <a:noAutofit/>
          </a:bodyPr>
          <a:lstStyle/>
          <a:p>
            <a:pPr indent="0" lvl="0" marL="0" marR="0" rtl="0" algn="ctr">
              <a:lnSpc>
                <a:spcPct val="100000"/>
              </a:lnSpc>
              <a:spcBef>
                <a:spcPts val="0"/>
              </a:spcBef>
              <a:spcAft>
                <a:spcPts val="0"/>
              </a:spcAft>
              <a:buClr>
                <a:srgbClr val="000000"/>
              </a:buClr>
              <a:buSzPts val="1132"/>
              <a:buFont typeface="Arial"/>
              <a:buNone/>
            </a:pPr>
            <a:r>
              <a:t/>
            </a:r>
            <a:endParaRPr b="0" i="0" sz="1132" u="none" cap="none" strike="noStrike">
              <a:solidFill>
                <a:schemeClr val="dk1"/>
              </a:solidFill>
              <a:latin typeface="Calibri"/>
              <a:ea typeface="Calibri"/>
              <a:cs typeface="Calibri"/>
              <a:sym typeface="Calibri"/>
            </a:endParaRPr>
          </a:p>
        </p:txBody>
      </p:sp>
      <p:sp>
        <p:nvSpPr>
          <p:cNvPr id="1103" name="Google Shape;1103;p51"/>
          <p:cNvSpPr/>
          <p:nvPr/>
        </p:nvSpPr>
        <p:spPr>
          <a:xfrm>
            <a:off x="2173446" y="1389177"/>
            <a:ext cx="232800" cy="232800"/>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0"/>
              <a:buFont typeface="Arial"/>
              <a:buNone/>
            </a:pPr>
            <a:r>
              <a:rPr b="1" i="0" lang="it" sz="970" u="none" cap="none" strike="noStrike">
                <a:solidFill>
                  <a:srgbClr val="FFFFFF"/>
                </a:solidFill>
                <a:latin typeface="Cambria"/>
                <a:ea typeface="Cambria"/>
                <a:cs typeface="Cambria"/>
                <a:sym typeface="Cambria"/>
              </a:rPr>
              <a:t>2</a:t>
            </a:r>
            <a:endParaRPr b="0" i="0" sz="889" u="none" cap="none" strike="noStrike">
              <a:solidFill>
                <a:srgbClr val="000000"/>
              </a:solidFill>
              <a:latin typeface="Arial"/>
              <a:ea typeface="Arial"/>
              <a:cs typeface="Arial"/>
              <a:sym typeface="Arial"/>
            </a:endParaRPr>
          </a:p>
        </p:txBody>
      </p:sp>
      <p:sp>
        <p:nvSpPr>
          <p:cNvPr id="1104" name="Google Shape;1104;p51"/>
          <p:cNvSpPr txBox="1"/>
          <p:nvPr/>
        </p:nvSpPr>
        <p:spPr>
          <a:xfrm>
            <a:off x="2173446" y="1721881"/>
            <a:ext cx="1303200" cy="34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32"/>
              <a:buFont typeface="Arial"/>
              <a:buNone/>
            </a:pPr>
            <a:r>
              <a:rPr b="1" i="0" lang="it" sz="1132" u="none" cap="none" strike="noStrike">
                <a:solidFill>
                  <a:srgbClr val="221C17"/>
                </a:solidFill>
                <a:latin typeface="Cambria"/>
                <a:ea typeface="Cambria"/>
                <a:cs typeface="Cambria"/>
                <a:sym typeface="Cambria"/>
              </a:rPr>
              <a:t>Policy proposes orders</a:t>
            </a:r>
            <a:endParaRPr b="0" i="0" sz="889" u="none" cap="none" strike="noStrike">
              <a:solidFill>
                <a:srgbClr val="000000"/>
              </a:solidFill>
              <a:latin typeface="Arial"/>
              <a:ea typeface="Arial"/>
              <a:cs typeface="Arial"/>
              <a:sym typeface="Arial"/>
            </a:endParaRPr>
          </a:p>
        </p:txBody>
      </p:sp>
      <p:sp>
        <p:nvSpPr>
          <p:cNvPr id="1105" name="Google Shape;1105;p51"/>
          <p:cNvSpPr txBox="1"/>
          <p:nvPr/>
        </p:nvSpPr>
        <p:spPr>
          <a:xfrm>
            <a:off x="2173446" y="2137761"/>
            <a:ext cx="1303200" cy="95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9"/>
              <a:buFont typeface="Arial"/>
              <a:buNone/>
            </a:pPr>
            <a:r>
              <a:rPr b="0" i="0" lang="it" sz="889" u="none" cap="none" strike="noStrike">
                <a:solidFill>
                  <a:srgbClr val="221C17"/>
                </a:solidFill>
                <a:latin typeface="Calibri"/>
                <a:ea typeface="Calibri"/>
                <a:cs typeface="Calibri"/>
                <a:sym typeface="Calibri"/>
              </a:rPr>
              <a:t>A policy gives each of the 64 squares a score; sorting the scores gives a reading order. Noise is added at first to explore new orders, then removed so the policy settles on its best one.</a:t>
            </a:r>
            <a:endParaRPr b="0" i="0" sz="889" u="none" cap="none" strike="noStrike">
              <a:solidFill>
                <a:srgbClr val="000000"/>
              </a:solidFill>
              <a:latin typeface="Arial"/>
              <a:ea typeface="Arial"/>
              <a:cs typeface="Arial"/>
              <a:sym typeface="Arial"/>
            </a:endParaRPr>
          </a:p>
        </p:txBody>
      </p:sp>
      <p:sp>
        <p:nvSpPr>
          <p:cNvPr id="1106" name="Google Shape;1106;p51"/>
          <p:cNvSpPr/>
          <p:nvPr/>
        </p:nvSpPr>
        <p:spPr>
          <a:xfrm>
            <a:off x="3770459" y="1250551"/>
            <a:ext cx="1580400" cy="2384400"/>
          </a:xfrm>
          <a:prstGeom prst="roundRect">
            <a:avLst>
              <a:gd fmla="val 6000" name="adj"/>
            </a:avLst>
          </a:prstGeom>
          <a:solidFill>
            <a:srgbClr val="F6F1EB"/>
          </a:solidFill>
          <a:ln>
            <a:noFill/>
          </a:ln>
        </p:spPr>
        <p:txBody>
          <a:bodyPr anchorCtr="0" anchor="ctr" bIns="27725" lIns="55450" spcFirstLastPara="1" rIns="55450" wrap="square" tIns="27725">
            <a:noAutofit/>
          </a:bodyPr>
          <a:lstStyle/>
          <a:p>
            <a:pPr indent="0" lvl="0" marL="0" marR="0" rtl="0" algn="ctr">
              <a:lnSpc>
                <a:spcPct val="100000"/>
              </a:lnSpc>
              <a:spcBef>
                <a:spcPts val="0"/>
              </a:spcBef>
              <a:spcAft>
                <a:spcPts val="0"/>
              </a:spcAft>
              <a:buClr>
                <a:srgbClr val="000000"/>
              </a:buClr>
              <a:buSzPts val="1132"/>
              <a:buFont typeface="Arial"/>
              <a:buNone/>
            </a:pPr>
            <a:r>
              <a:t/>
            </a:r>
            <a:endParaRPr b="0" i="0" sz="1132" u="none" cap="none" strike="noStrike">
              <a:solidFill>
                <a:schemeClr val="dk1"/>
              </a:solidFill>
              <a:latin typeface="Calibri"/>
              <a:ea typeface="Calibri"/>
              <a:cs typeface="Calibri"/>
              <a:sym typeface="Calibri"/>
            </a:endParaRPr>
          </a:p>
        </p:txBody>
      </p:sp>
      <p:sp>
        <p:nvSpPr>
          <p:cNvPr id="1107" name="Google Shape;1107;p51"/>
          <p:cNvSpPr/>
          <p:nvPr/>
        </p:nvSpPr>
        <p:spPr>
          <a:xfrm>
            <a:off x="3909089" y="1389177"/>
            <a:ext cx="232800" cy="232800"/>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0"/>
              <a:buFont typeface="Arial"/>
              <a:buNone/>
            </a:pPr>
            <a:r>
              <a:rPr b="1" i="0" lang="it" sz="970" u="none" cap="none" strike="noStrike">
                <a:solidFill>
                  <a:srgbClr val="FFFFFF"/>
                </a:solidFill>
                <a:latin typeface="Cambria"/>
                <a:ea typeface="Cambria"/>
                <a:cs typeface="Cambria"/>
                <a:sym typeface="Cambria"/>
              </a:rPr>
              <a:t>3</a:t>
            </a:r>
            <a:endParaRPr b="0" i="0" sz="889" u="none" cap="none" strike="noStrike">
              <a:solidFill>
                <a:srgbClr val="000000"/>
              </a:solidFill>
              <a:latin typeface="Arial"/>
              <a:ea typeface="Arial"/>
              <a:cs typeface="Arial"/>
              <a:sym typeface="Arial"/>
            </a:endParaRPr>
          </a:p>
        </p:txBody>
      </p:sp>
      <p:sp>
        <p:nvSpPr>
          <p:cNvPr id="1108" name="Google Shape;1108;p51"/>
          <p:cNvSpPr txBox="1"/>
          <p:nvPr/>
        </p:nvSpPr>
        <p:spPr>
          <a:xfrm>
            <a:off x="3909089" y="1721881"/>
            <a:ext cx="1303200" cy="34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32"/>
              <a:buFont typeface="Arial"/>
              <a:buNone/>
            </a:pPr>
            <a:r>
              <a:rPr b="1" i="0" lang="it" sz="1132" u="none" cap="none" strike="noStrike">
                <a:solidFill>
                  <a:srgbClr val="221C17"/>
                </a:solidFill>
                <a:latin typeface="Cambria"/>
                <a:ea typeface="Cambria"/>
                <a:cs typeface="Cambria"/>
                <a:sym typeface="Cambria"/>
              </a:rPr>
              <a:t>Reward = how well the model answers</a:t>
            </a:r>
            <a:endParaRPr b="0" i="0" sz="889" u="none" cap="none" strike="noStrike">
              <a:solidFill>
                <a:srgbClr val="000000"/>
              </a:solidFill>
              <a:latin typeface="Arial"/>
              <a:ea typeface="Arial"/>
              <a:cs typeface="Arial"/>
              <a:sym typeface="Arial"/>
            </a:endParaRPr>
          </a:p>
        </p:txBody>
      </p:sp>
      <p:sp>
        <p:nvSpPr>
          <p:cNvPr id="1109" name="Google Shape;1109;p51"/>
          <p:cNvSpPr txBox="1"/>
          <p:nvPr/>
        </p:nvSpPr>
        <p:spPr>
          <a:xfrm>
            <a:off x="3909089" y="2137761"/>
            <a:ext cx="1303200" cy="68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9"/>
              <a:buFont typeface="Arial"/>
              <a:buNone/>
            </a:pPr>
            <a:r>
              <a:rPr b="0" i="0" lang="it" sz="889" u="none" cap="none" strike="noStrike">
                <a:solidFill>
                  <a:srgbClr val="221C17"/>
                </a:solidFill>
                <a:latin typeface="Calibri"/>
                <a:ea typeface="Calibri"/>
                <a:cs typeface="Calibri"/>
                <a:sym typeface="Calibri"/>
              </a:rPr>
              <a:t>An order gets a high reward if, reading the tokens in that order, the model gives high probability to the correct answer.</a:t>
            </a:r>
            <a:endParaRPr b="0" i="0" sz="889" u="none" cap="none" strike="noStrike">
              <a:solidFill>
                <a:srgbClr val="000000"/>
              </a:solidFill>
              <a:latin typeface="Arial"/>
              <a:ea typeface="Arial"/>
              <a:cs typeface="Arial"/>
              <a:sym typeface="Arial"/>
            </a:endParaRPr>
          </a:p>
        </p:txBody>
      </p:sp>
      <p:sp>
        <p:nvSpPr>
          <p:cNvPr id="1110" name="Google Shape;1110;p51"/>
          <p:cNvSpPr/>
          <p:nvPr/>
        </p:nvSpPr>
        <p:spPr>
          <a:xfrm>
            <a:off x="5506103" y="1250551"/>
            <a:ext cx="1580400" cy="2384400"/>
          </a:xfrm>
          <a:prstGeom prst="roundRect">
            <a:avLst>
              <a:gd fmla="val 6000" name="adj"/>
            </a:avLst>
          </a:prstGeom>
          <a:solidFill>
            <a:srgbClr val="F6F1EB"/>
          </a:solidFill>
          <a:ln>
            <a:noFill/>
          </a:ln>
        </p:spPr>
        <p:txBody>
          <a:bodyPr anchorCtr="0" anchor="ctr" bIns="27725" lIns="55450" spcFirstLastPara="1" rIns="55450" wrap="square" tIns="27725">
            <a:noAutofit/>
          </a:bodyPr>
          <a:lstStyle/>
          <a:p>
            <a:pPr indent="0" lvl="0" marL="0" marR="0" rtl="0" algn="ctr">
              <a:lnSpc>
                <a:spcPct val="100000"/>
              </a:lnSpc>
              <a:spcBef>
                <a:spcPts val="0"/>
              </a:spcBef>
              <a:spcAft>
                <a:spcPts val="0"/>
              </a:spcAft>
              <a:buClr>
                <a:srgbClr val="000000"/>
              </a:buClr>
              <a:buSzPts val="1132"/>
              <a:buFont typeface="Arial"/>
              <a:buNone/>
            </a:pPr>
            <a:r>
              <a:t/>
            </a:r>
            <a:endParaRPr b="0" i="0" sz="1132" u="none" cap="none" strike="noStrike">
              <a:solidFill>
                <a:schemeClr val="dk1"/>
              </a:solidFill>
              <a:latin typeface="Calibri"/>
              <a:ea typeface="Calibri"/>
              <a:cs typeface="Calibri"/>
              <a:sym typeface="Calibri"/>
            </a:endParaRPr>
          </a:p>
        </p:txBody>
      </p:sp>
      <p:sp>
        <p:nvSpPr>
          <p:cNvPr id="1111" name="Google Shape;1111;p51"/>
          <p:cNvSpPr/>
          <p:nvPr/>
        </p:nvSpPr>
        <p:spPr>
          <a:xfrm>
            <a:off x="5644732" y="1389177"/>
            <a:ext cx="232800" cy="232800"/>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0"/>
              <a:buFont typeface="Arial"/>
              <a:buNone/>
            </a:pPr>
            <a:r>
              <a:rPr b="1" i="0" lang="it" sz="970" u="none" cap="none" strike="noStrike">
                <a:solidFill>
                  <a:srgbClr val="FFFFFF"/>
                </a:solidFill>
                <a:latin typeface="Cambria"/>
                <a:ea typeface="Cambria"/>
                <a:cs typeface="Cambria"/>
                <a:sym typeface="Cambria"/>
              </a:rPr>
              <a:t>4</a:t>
            </a:r>
            <a:endParaRPr b="0" i="0" sz="889" u="none" cap="none" strike="noStrike">
              <a:solidFill>
                <a:srgbClr val="000000"/>
              </a:solidFill>
              <a:latin typeface="Arial"/>
              <a:ea typeface="Arial"/>
              <a:cs typeface="Arial"/>
              <a:sym typeface="Arial"/>
            </a:endParaRPr>
          </a:p>
        </p:txBody>
      </p:sp>
      <p:sp>
        <p:nvSpPr>
          <p:cNvPr id="1112" name="Google Shape;1112;p51"/>
          <p:cNvSpPr txBox="1"/>
          <p:nvPr/>
        </p:nvSpPr>
        <p:spPr>
          <a:xfrm>
            <a:off x="5644729" y="1721873"/>
            <a:ext cx="1363800" cy="34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32"/>
              <a:buFont typeface="Arial"/>
              <a:buNone/>
            </a:pPr>
            <a:r>
              <a:rPr b="1" i="0" lang="it" sz="1132" u="none" cap="none" strike="noStrike">
                <a:solidFill>
                  <a:srgbClr val="221C17"/>
                </a:solidFill>
                <a:latin typeface="Cambria"/>
                <a:ea typeface="Cambria"/>
                <a:cs typeface="Cambria"/>
                <a:sym typeface="Cambria"/>
              </a:rPr>
              <a:t>Compare two orders on the same puzzle</a:t>
            </a:r>
            <a:endParaRPr b="0" i="0" sz="889" u="none" cap="none" strike="noStrike">
              <a:solidFill>
                <a:srgbClr val="000000"/>
              </a:solidFill>
              <a:latin typeface="Arial"/>
              <a:ea typeface="Arial"/>
              <a:cs typeface="Arial"/>
              <a:sym typeface="Arial"/>
            </a:endParaRPr>
          </a:p>
        </p:txBody>
      </p:sp>
      <p:sp>
        <p:nvSpPr>
          <p:cNvPr id="1113" name="Google Shape;1113;p51"/>
          <p:cNvSpPr txBox="1"/>
          <p:nvPr/>
        </p:nvSpPr>
        <p:spPr>
          <a:xfrm>
            <a:off x="5644732" y="2137761"/>
            <a:ext cx="1303200" cy="82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9"/>
              <a:buFont typeface="Arial"/>
              <a:buNone/>
            </a:pPr>
            <a:r>
              <a:rPr b="0" i="0" lang="it" sz="889" u="none" cap="none" strike="noStrike">
                <a:solidFill>
                  <a:srgbClr val="221C17"/>
                </a:solidFill>
                <a:latin typeface="Calibri"/>
                <a:ea typeface="Calibri"/>
                <a:cs typeface="Calibri"/>
                <a:sym typeface="Calibri"/>
              </a:rPr>
              <a:t>Each puzzle is read with two orders and each one is scored against the other. Easy and hard puzzles count the same, so only the effect of the order is learned.</a:t>
            </a:r>
            <a:endParaRPr b="0" i="0" sz="889" u="none" cap="none" strike="noStrike">
              <a:solidFill>
                <a:srgbClr val="000000"/>
              </a:solidFill>
              <a:latin typeface="Arial"/>
              <a:ea typeface="Arial"/>
              <a:cs typeface="Arial"/>
              <a:sym typeface="Arial"/>
            </a:endParaRPr>
          </a:p>
        </p:txBody>
      </p:sp>
      <p:sp>
        <p:nvSpPr>
          <p:cNvPr id="1114" name="Google Shape;1114;p51"/>
          <p:cNvSpPr/>
          <p:nvPr/>
        </p:nvSpPr>
        <p:spPr>
          <a:xfrm>
            <a:off x="7241737" y="1250551"/>
            <a:ext cx="1580400" cy="2384400"/>
          </a:xfrm>
          <a:prstGeom prst="roundRect">
            <a:avLst>
              <a:gd fmla="val 6000" name="adj"/>
            </a:avLst>
          </a:prstGeom>
          <a:solidFill>
            <a:srgbClr val="F6F1EB"/>
          </a:solidFill>
          <a:ln>
            <a:noFill/>
          </a:ln>
        </p:spPr>
        <p:txBody>
          <a:bodyPr anchorCtr="0" anchor="ctr" bIns="27725" lIns="55450" spcFirstLastPara="1" rIns="55450" wrap="square" tIns="27725">
            <a:noAutofit/>
          </a:bodyPr>
          <a:lstStyle/>
          <a:p>
            <a:pPr indent="0" lvl="0" marL="0" marR="0" rtl="0" algn="ctr">
              <a:lnSpc>
                <a:spcPct val="100000"/>
              </a:lnSpc>
              <a:spcBef>
                <a:spcPts val="0"/>
              </a:spcBef>
              <a:spcAft>
                <a:spcPts val="0"/>
              </a:spcAft>
              <a:buClr>
                <a:srgbClr val="000000"/>
              </a:buClr>
              <a:buSzPts val="1132"/>
              <a:buFont typeface="Arial"/>
              <a:buNone/>
            </a:pPr>
            <a:r>
              <a:t/>
            </a:r>
            <a:endParaRPr b="0" i="0" sz="1132" u="none" cap="none" strike="noStrike">
              <a:solidFill>
                <a:schemeClr val="dk1"/>
              </a:solidFill>
              <a:latin typeface="Calibri"/>
              <a:ea typeface="Calibri"/>
              <a:cs typeface="Calibri"/>
              <a:sym typeface="Calibri"/>
            </a:endParaRPr>
          </a:p>
        </p:txBody>
      </p:sp>
      <p:sp>
        <p:nvSpPr>
          <p:cNvPr id="1115" name="Google Shape;1115;p51"/>
          <p:cNvSpPr/>
          <p:nvPr/>
        </p:nvSpPr>
        <p:spPr>
          <a:xfrm>
            <a:off x="7380357" y="1389177"/>
            <a:ext cx="232800" cy="232800"/>
          </a:xfrm>
          <a:prstGeom prst="rect">
            <a:avLst/>
          </a:prstGeom>
          <a:solidFill>
            <a:srgbClr val="B5652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70"/>
              <a:buFont typeface="Arial"/>
              <a:buNone/>
            </a:pPr>
            <a:r>
              <a:rPr b="1" i="0" lang="it" sz="970" u="none" cap="none" strike="noStrike">
                <a:solidFill>
                  <a:srgbClr val="FFFFFF"/>
                </a:solidFill>
                <a:latin typeface="Cambria"/>
                <a:ea typeface="Cambria"/>
                <a:cs typeface="Cambria"/>
                <a:sym typeface="Cambria"/>
              </a:rPr>
              <a:t>5</a:t>
            </a:r>
            <a:endParaRPr b="0" i="0" sz="889" u="none" cap="none" strike="noStrike">
              <a:solidFill>
                <a:srgbClr val="000000"/>
              </a:solidFill>
              <a:latin typeface="Arial"/>
              <a:ea typeface="Arial"/>
              <a:cs typeface="Arial"/>
              <a:sym typeface="Arial"/>
            </a:endParaRPr>
          </a:p>
        </p:txBody>
      </p:sp>
      <p:sp>
        <p:nvSpPr>
          <p:cNvPr id="1116" name="Google Shape;1116;p51"/>
          <p:cNvSpPr txBox="1"/>
          <p:nvPr/>
        </p:nvSpPr>
        <p:spPr>
          <a:xfrm>
            <a:off x="7380300" y="1721875"/>
            <a:ext cx="1363800" cy="34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32"/>
              <a:buFont typeface="Arial"/>
              <a:buNone/>
            </a:pPr>
            <a:r>
              <a:rPr b="1" i="0" lang="it" sz="1132" u="none" cap="none" strike="noStrike">
                <a:solidFill>
                  <a:srgbClr val="221C17"/>
                </a:solidFill>
                <a:latin typeface="Cambria"/>
                <a:ea typeface="Cambria"/>
                <a:cs typeface="Cambria"/>
                <a:sym typeface="Cambria"/>
              </a:rPr>
              <a:t>Freeze the order, then fine-tune</a:t>
            </a:r>
            <a:endParaRPr b="0" i="0" sz="889" u="none" cap="none" strike="noStrike">
              <a:solidFill>
                <a:srgbClr val="000000"/>
              </a:solidFill>
              <a:latin typeface="Arial"/>
              <a:ea typeface="Arial"/>
              <a:cs typeface="Arial"/>
              <a:sym typeface="Arial"/>
            </a:endParaRPr>
          </a:p>
        </p:txBody>
      </p:sp>
      <p:sp>
        <p:nvSpPr>
          <p:cNvPr id="1117" name="Google Shape;1117;p51"/>
          <p:cNvSpPr txBox="1"/>
          <p:nvPr/>
        </p:nvSpPr>
        <p:spPr>
          <a:xfrm>
            <a:off x="7380307" y="2137773"/>
            <a:ext cx="1303200" cy="82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89"/>
              <a:buFont typeface="Arial"/>
              <a:buNone/>
            </a:pPr>
            <a:r>
              <a:rPr b="0" i="0" lang="it" sz="889" u="none" cap="none" strike="noStrike">
                <a:solidFill>
                  <a:srgbClr val="000000"/>
                </a:solidFill>
                <a:latin typeface="Calibri"/>
                <a:ea typeface="Calibri"/>
                <a:cs typeface="Calibri"/>
                <a:sym typeface="Calibri"/>
              </a:rPr>
              <a:t>The learned order is frozen and the LoRA keeps training reading only that fixed order, so the final model never sees the order changing.</a:t>
            </a:r>
            <a:endParaRPr b="0" i="0" sz="889"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